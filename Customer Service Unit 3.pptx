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7" r:id="rId4"/>
  </p:sldMasterIdLst>
  <p:sldIdLst>
    <p:sldId id="256" r:id="rId5"/>
    <p:sldId id="257" r:id="rId6"/>
    <p:sldId id="317" r:id="rId7"/>
    <p:sldId id="319" r:id="rId8"/>
    <p:sldId id="343" r:id="rId9"/>
    <p:sldId id="344" r:id="rId10"/>
    <p:sldId id="333" r:id="rId11"/>
    <p:sldId id="351" r:id="rId12"/>
    <p:sldId id="345" r:id="rId13"/>
    <p:sldId id="335" r:id="rId14"/>
    <p:sldId id="322" r:id="rId15"/>
    <p:sldId id="348" r:id="rId16"/>
    <p:sldId id="352" r:id="rId17"/>
    <p:sldId id="349" r:id="rId18"/>
    <p:sldId id="353" r:id="rId19"/>
    <p:sldId id="321" r:id="rId20"/>
    <p:sldId id="354" r:id="rId21"/>
    <p:sldId id="346" r:id="rId22"/>
    <p:sldId id="355" r:id="rId23"/>
    <p:sldId id="347" r:id="rId24"/>
    <p:sldId id="341" r:id="rId25"/>
    <p:sldId id="342" r:id="rId26"/>
    <p:sldId id="320" r:id="rId27"/>
    <p:sldId id="323" r:id="rId28"/>
    <p:sldId id="324" r:id="rId29"/>
    <p:sldId id="325" r:id="rId30"/>
    <p:sldId id="328" r:id="rId31"/>
    <p:sldId id="329" r:id="rId32"/>
    <p:sldId id="330" r:id="rId33"/>
    <p:sldId id="331" r:id="rId34"/>
    <p:sldId id="332" r:id="rId35"/>
    <p:sldId id="350" r:id="rId36"/>
    <p:sldId id="336" r:id="rId37"/>
    <p:sldId id="337" r:id="rId38"/>
    <p:sldId id="338" r:id="rId39"/>
    <p:sldId id="282" r:id="rId40"/>
    <p:sldId id="34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69" d="100"/>
          <a:sy n="69" d="100"/>
        </p:scale>
        <p:origin x="73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presProps" Target="pres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20" Type="http://schemas.openxmlformats.org/officeDocument/2006/relationships/slide" Target="slides/slide16.xml"/><Relationship Id="rId41"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4" name="Group 13"/>
          <p:cNvGrpSpPr/>
          <p:nvPr/>
        </p:nvGrpSpPr>
        <p:grpSpPr>
          <a:xfrm>
            <a:off x="-1588" y="0"/>
            <a:ext cx="12193588" cy="6861555"/>
            <a:chOff x="-1588" y="0"/>
            <a:chExt cx="12193588" cy="6861555"/>
          </a:xfrm>
        </p:grpSpPr>
        <p:sp>
          <p:nvSpPr>
            <p:cNvPr id="9" name="Rectangle 8"/>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Oval 11"/>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a:prstGeom prst="rect">
            <a:avLst/>
          </a:prstGeo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158984" y="1792224"/>
            <a:ext cx="990599" cy="304799"/>
          </a:xfrm>
        </p:spPr>
        <p:txBody>
          <a:bodyPr/>
          <a:lstStyle>
            <a:lvl1pPr algn="l">
              <a:defRPr b="0">
                <a:solidFill>
                  <a:schemeClr val="bg1"/>
                </a:solidFill>
              </a:defRPr>
            </a:lvl1pPr>
          </a:lstStyle>
          <a:p>
            <a:fld id="{48A87A34-81AB-432B-8DAE-1953F412C126}" type="datetimeFigureOut">
              <a:rPr lang="en-US" smtClean="0"/>
              <a:t>4/27/2025</a:t>
            </a:fld>
            <a:endParaRPr lang="en-US" dirty="0"/>
          </a:p>
        </p:txBody>
      </p:sp>
      <p:sp>
        <p:nvSpPr>
          <p:cNvPr id="5" name="Footer Placeholder 4"/>
          <p:cNvSpPr>
            <a:spLocks noGrp="1"/>
          </p:cNvSpPr>
          <p:nvPr>
            <p:ph type="ftr" sz="quarter" idx="11"/>
          </p:nvPr>
        </p:nvSpPr>
        <p:spPr>
          <a:xfrm rot="5400000">
            <a:off x="8951976" y="3227832"/>
            <a:ext cx="3867912" cy="310896"/>
          </a:xfrm>
        </p:spPr>
        <p:txBody>
          <a:bodyPr/>
          <a:lstStyle>
            <a:lvl1pPr>
              <a:defRPr sz="1000" b="0">
                <a:solidFill>
                  <a:schemeClr val="bg1"/>
                </a:solidFill>
              </a:defRPr>
            </a:lvl1pPr>
          </a:lstStyle>
          <a:p>
            <a:endParaRPr lang="en-US" dirty="0"/>
          </a:p>
        </p:txBody>
      </p:sp>
      <p:sp>
        <p:nvSpPr>
          <p:cNvPr id="8" name="Rectangle 7"/>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3330114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9"/>
            <a:ext cx="8825659" cy="706964"/>
          </a:xfrm>
          <a:prstGeom prst="rect">
            <a:avLst/>
          </a:prstGeom>
        </p:spPr>
        <p:txBody>
          <a:bodyPr anchor="ct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4/27/2025</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6140099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Rectangle 8"/>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9192"/>
            <a:ext cx="4343400" cy="2286000"/>
          </a:xfrm>
          <a:prstGeom prst="rect">
            <a:avLst/>
          </a:prstGeom>
        </p:spPr>
        <p:txBody>
          <a:bodyPr anchor="ctr" anchorCtr="0"/>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4576" y="2679192"/>
            <a:ext cx="3758184" cy="2286000"/>
          </a:xfrm>
        </p:spPr>
        <p:txBody>
          <a:bodyPr anchor="ctr" anchorCtr="0"/>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4/27/2025</a:t>
            </a:fld>
            <a:endParaRPr lang="en-US" dirty="0"/>
          </a:p>
        </p:txBody>
      </p:sp>
      <p:sp>
        <p:nvSpPr>
          <p:cNvPr id="5" name="Footer Placeholder 4"/>
          <p:cNvSpPr>
            <a:spLocks noGrp="1"/>
          </p:cNvSpPr>
          <p:nvPr>
            <p:ph type="ftr" sz="quarter" idx="11"/>
          </p:nvPr>
        </p:nvSpPr>
        <p:spPr/>
        <p:txBody>
          <a:bodyPr/>
          <a:lstStyle>
            <a:lvl1pPr>
              <a:defRPr sz="1000" b="1"/>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631870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154953" y="969264"/>
            <a:ext cx="8825659" cy="704088"/>
          </a:xfrm>
          <a:prstGeom prst="rect">
            <a:avLst/>
          </a:prstGeom>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8032"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76" y="2603500"/>
            <a:ext cx="4828032"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382978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54954" y="969264"/>
            <a:ext cx="8825659" cy="704088"/>
          </a:xfrm>
          <a:prstGeom prst="rect">
            <a:avLst/>
          </a:prstGeo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98448"/>
            <a:ext cx="4828032" cy="284378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76" y="2606040"/>
            <a:ext cx="4828032"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1" y="3187921"/>
            <a:ext cx="4825160" cy="285431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10920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152144" y="969264"/>
            <a:ext cx="8825659" cy="704088"/>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16633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4/27/2025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Rectangle 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23588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3" y="1298448"/>
            <a:ext cx="2793159" cy="1597152"/>
          </a:xfrm>
          <a:prstGeom prst="rect">
            <a:avLst/>
          </a:prstGeo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79008" y="1447800"/>
            <a:ext cx="5195997"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3" y="3129280"/>
            <a:ext cx="2793159" cy="2895599"/>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54524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18" name="Group 17"/>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59" cy="1735668"/>
          </a:xfrm>
          <a:prstGeom prst="rect">
            <a:avLst/>
          </a:prstGeo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77362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17" name="Group 16"/>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7" y="4969927"/>
            <a:ext cx="8825657" cy="566738"/>
          </a:xfrm>
          <a:prstGeom prst="rect">
            <a:avLst/>
          </a:prstGeo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7" y="5536665"/>
            <a:ext cx="8825656"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4708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0" name="Rectangle 9"/>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0704"/>
            <a:ext cx="8833104" cy="1371600"/>
          </a:xfrm>
          <a:prstGeom prst="rect">
            <a:avLst/>
          </a:prstGeom>
        </p:spPr>
        <p:txBody>
          <a:bodyPr anchor="ctr" anchorCtr="0"/>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2144" y="3547872"/>
            <a:ext cx="8825659" cy="2478024"/>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395473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1588" y="0"/>
            <a:ext cx="12193588" cy="6861555"/>
            <a:chOff x="-1588" y="0"/>
            <a:chExt cx="12193588" cy="6861555"/>
          </a:xfrm>
        </p:grpSpPr>
        <p:sp>
          <p:nvSpPr>
            <p:cNvPr id="16" name="Rectangle 15"/>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Oval 17"/>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7"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2" name="TextBox 11"/>
          <p:cNvSpPr txBox="1"/>
          <p:nvPr/>
        </p:nvSpPr>
        <p:spPr bwMode="gray">
          <a:xfrm>
            <a:off x="898295" y="596767"/>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15" name="TextBox 14"/>
          <p:cNvSpPr txBox="1"/>
          <p:nvPr/>
        </p:nvSpPr>
        <p:spPr bwMode="gray">
          <a:xfrm>
            <a:off x="9715063" y="2629300"/>
            <a:ext cx="801912" cy="156966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9600" dirty="0">
                <a:solidFill>
                  <a:schemeClr val="tx2">
                    <a:lumMod val="40000"/>
                    <a:lumOff val="60000"/>
                  </a:schemeClr>
                </a:solidFill>
              </a:rPr>
              <a:t>”</a:t>
            </a:r>
          </a:p>
        </p:txBody>
      </p:sp>
      <p:sp>
        <p:nvSpPr>
          <p:cNvPr id="2" name="Title 1"/>
          <p:cNvSpPr>
            <a:spLocks noGrp="1"/>
          </p:cNvSpPr>
          <p:nvPr>
            <p:ph type="title"/>
          </p:nvPr>
        </p:nvSpPr>
        <p:spPr>
          <a:xfrm>
            <a:off x="1574801" y="980517"/>
            <a:ext cx="8460983" cy="2698249"/>
          </a:xfrm>
          <a:prstGeom prst="rect">
            <a:avLst/>
          </a:prstGeom>
        </p:spPr>
        <p:txBody>
          <a:bodyPr anchor="ctr" anchorCtr="0"/>
          <a:lstStyle>
            <a:lvl1pPr>
              <a:defRPr sz="4000"/>
            </a:lvl1pPr>
          </a:lstStyle>
          <a:p>
            <a:r>
              <a:rPr lang="en-US"/>
              <a:t>Click to edit Master title style</a:t>
            </a:r>
            <a:endParaRPr lang="en-US" dirty="0"/>
          </a:p>
        </p:txBody>
      </p:sp>
      <p:sp>
        <p:nvSpPr>
          <p:cNvPr id="11" name="Text Placeholder 3"/>
          <p:cNvSpPr>
            <a:spLocks noGrp="1"/>
          </p:cNvSpPr>
          <p:nvPr>
            <p:ph type="body" sz="half" idx="14"/>
          </p:nvPr>
        </p:nvSpPr>
        <p:spPr bwMode="gray">
          <a:xfrm>
            <a:off x="1945945" y="3679987"/>
            <a:ext cx="7725772" cy="342174"/>
          </a:xfrm>
        </p:spPr>
        <p:txBody>
          <a:bodyPr vert="horz" lIns="91440" tIns="45720" rIns="91440" bIns="45720" rtlCol="0" anchor="t">
            <a:normAutofit/>
          </a:bodyPr>
          <a:lstStyle>
            <a:lvl1pPr>
              <a:buNone/>
              <a:defRPr lang="en-US" sz="1400" cap="small" dirty="0">
                <a:solidFill>
                  <a:schemeClr val="tx2">
                    <a:lumMod val="40000"/>
                    <a:lumOff val="60000"/>
                  </a:schemeClr>
                </a:solidFill>
                <a:latin typeface="+mn-lt"/>
              </a:defRPr>
            </a:lvl1pPr>
          </a:lstStyle>
          <a:p>
            <a:pPr marL="0" lvl="0" indent="0">
              <a:buNone/>
            </a:pPr>
            <a:r>
              <a:rPr lang="en-US"/>
              <a:t>Click to edit Master text styles</a:t>
            </a:r>
          </a:p>
        </p:txBody>
      </p:sp>
      <p:sp>
        <p:nvSpPr>
          <p:cNvPr id="10" name="Text Placeholder 3"/>
          <p:cNvSpPr>
            <a:spLocks noGrp="1"/>
          </p:cNvSpPr>
          <p:nvPr>
            <p:ph type="body" sz="half" idx="2"/>
          </p:nvPr>
        </p:nvSpPr>
        <p:spPr>
          <a:xfrm>
            <a:off x="1154954" y="5029198"/>
            <a:ext cx="8825659" cy="997858"/>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3" name="Rectangle 2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9465003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6" name="Group 15"/>
          <p:cNvGrpSpPr/>
          <p:nvPr/>
        </p:nvGrpSpPr>
        <p:grpSpPr>
          <a:xfrm>
            <a:off x="-1588" y="0"/>
            <a:ext cx="12193588" cy="6861555"/>
            <a:chOff x="-1588" y="0"/>
            <a:chExt cx="12193588" cy="6861555"/>
          </a:xfrm>
        </p:grpSpPr>
        <p:sp>
          <p:nvSpPr>
            <p:cNvPr id="11" name="Rectangle 10"/>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3525"/>
            <a:ext cx="8865623" cy="1819656"/>
          </a:xfrm>
          <a:prstGeom prst="rect">
            <a:avLst/>
          </a:prstGeo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9200"/>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8087884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3129168"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79764"/>
            <a:ext cx="3129168"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5380"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4"/>
            <a:ext cx="3145380"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595032"/>
            <a:ext cx="3161029" cy="58473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79764"/>
            <a:ext cx="3161029" cy="2847290"/>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991" y="2603500"/>
            <a:ext cx="32564"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5824" y="2603500"/>
            <a:ext cx="0" cy="3423554"/>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8A87A34-81AB-432B-8DAE-1953F412C126}" type="datetimeFigureOut">
              <a:rPr lang="en-US" smtClean="0"/>
              <a:t>4/27/2025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2640198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nchor="ctr" anchorCtr="0"/>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5"/>
            <a:ext cx="3050438" cy="57626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10916"/>
            <a:ext cx="2691242" cy="1584094"/>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7"/>
            <a:ext cx="3050438"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09108"/>
            <a:ext cx="3050438" cy="91257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3" y="4532842"/>
            <a:ext cx="30504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3" y="5109107"/>
            <a:ext cx="3050438" cy="91794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4245" y="2603500"/>
            <a:ext cx="1"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7352" y="2603500"/>
            <a:ext cx="0" cy="3461811"/>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8A87A34-81AB-432B-8DAE-1953F412C126}" type="datetimeFigureOut">
              <a:rPr lang="en-US" smtClean="0"/>
              <a:t>4/27/2025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341284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595033"/>
            <a:ext cx="8825659" cy="3424768"/>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698269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8" name="Group 7"/>
          <p:cNvGrpSpPr/>
          <p:nvPr/>
        </p:nvGrpSpPr>
        <p:grpSpPr>
          <a:xfrm>
            <a:off x="-1588" y="0"/>
            <a:ext cx="12193588" cy="6861555"/>
            <a:chOff x="-1588" y="0"/>
            <a:chExt cx="12193588" cy="6861555"/>
          </a:xfrm>
        </p:grpSpPr>
        <p:sp>
          <p:nvSpPr>
            <p:cNvPr id="15" name="Rectangle 14"/>
            <p:cNvSpPr/>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Rectangle 12"/>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6"/>
            <a:ext cx="1441567" cy="4748591"/>
          </a:xfrm>
          <a:prstGeom prst="rect">
            <a:avLst/>
          </a:prstGeo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5"/>
            <a:ext cx="6256025" cy="474859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4/27/2025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20" name="Rectangle 1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51550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1"/>
          <p:cNvGrpSpPr/>
          <p:nvPr/>
        </p:nvGrpSpPr>
        <p:grpSpPr>
          <a:xfrm>
            <a:off x="-1588" y="0"/>
            <a:ext cx="12193588" cy="6861555"/>
            <a:chOff x="-1588" y="0"/>
            <a:chExt cx="12193588" cy="6861555"/>
          </a:xfrm>
        </p:grpSpPr>
        <p:sp>
          <p:nvSpPr>
            <p:cNvPr id="12" name="Rectangle 11"/>
            <p:cNvSpPr/>
            <p:nvPr/>
          </p:nvSpPr>
          <p:spPr>
            <a:xfrm>
              <a:off x="0" y="0"/>
              <a:ext cx="12192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20"/>
            <p:cNvSpPr/>
            <p:nvPr/>
          </p:nvSpPr>
          <p:spPr>
            <a:xfrm>
              <a:off x="8761412" y="18288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761412" y="587095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88"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34"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7"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30"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2760" y="6391656"/>
            <a:ext cx="990599" cy="304799"/>
          </a:xfrm>
          <a:prstGeom prst="rect">
            <a:avLst/>
          </a:prstGeom>
        </p:spPr>
        <p:txBody>
          <a:bodyPr vert="horz" lIns="91440" tIns="45720" rIns="91440" bIns="45720" rtlCol="0" anchor="ctr" anchorCtr="0"/>
          <a:lstStyle>
            <a:lvl1pPr algn="r">
              <a:defRPr sz="1000" b="1" i="0">
                <a:solidFill>
                  <a:schemeClr val="accent1"/>
                </a:solidFill>
              </a:defRPr>
            </a:lvl1pPr>
          </a:lstStyle>
          <a:p>
            <a:fld id="{48A87A34-81AB-432B-8DAE-1953F412C126}" type="datetimeFigureOut">
              <a:rPr lang="en-US" smtClean="0"/>
              <a:pPr/>
              <a:t>4/27/2025</a:t>
            </a:fld>
            <a:endParaRPr lang="en-US" dirty="0"/>
          </a:p>
        </p:txBody>
      </p:sp>
      <p:sp>
        <p:nvSpPr>
          <p:cNvPr id="5" name="Footer Placeholder 4"/>
          <p:cNvSpPr>
            <a:spLocks noGrp="1"/>
          </p:cNvSpPr>
          <p:nvPr>
            <p:ph type="ftr" sz="quarter" idx="3"/>
          </p:nvPr>
        </p:nvSpPr>
        <p:spPr>
          <a:xfrm>
            <a:off x="557784" y="6391656"/>
            <a:ext cx="3867912" cy="310896"/>
          </a:xfrm>
          <a:prstGeom prst="rect">
            <a:avLst/>
          </a:prstGeom>
        </p:spPr>
        <p:txBody>
          <a:bodyPr vert="horz" lIns="91440" tIns="45720" rIns="91440" bIns="45720" rtlCol="0" anchor="ctr" anchorCtr="0"/>
          <a:lstStyle>
            <a:lvl1pPr algn="l">
              <a:defRPr sz="1000" b="1" i="0">
                <a:solidFill>
                  <a:schemeClr val="accent1"/>
                </a:solidFill>
              </a:defRPr>
            </a:lvl1pPr>
          </a:lstStyle>
          <a:p>
            <a:endParaRPr lang="en-US" dirty="0"/>
          </a:p>
        </p:txBody>
      </p:sp>
      <p:sp>
        <p:nvSpPr>
          <p:cNvPr id="29" name="Rectangle 2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78804209"/>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hyperlink" Target="http://www.slideshare.net/RIZWANKHURRAM/heizer-mod-d" TargetMode="External"/><Relationship Id="rId3" Type="http://schemas.openxmlformats.org/officeDocument/2006/relationships/hyperlink" Target="https://www.isixsigma.com/industries/retail/queuing-theory-and-practice-source-competitive-advantage/" TargetMode="External"/><Relationship Id="rId7" Type="http://schemas.openxmlformats.org/officeDocument/2006/relationships/hyperlink" Target="http://www.slideshare.net/avtarsingh/queuing-theory-2129896" TargetMode="External"/><Relationship Id="rId2" Type="http://schemas.openxmlformats.org/officeDocument/2006/relationships/hyperlink" Target="http://furthertheconversation.com/wp-content/uploads/2014/08/waiting-in-line.jpg" TargetMode="External"/><Relationship Id="rId1" Type="http://schemas.openxmlformats.org/officeDocument/2006/relationships/slideLayout" Target="../slideLayouts/slideLayout2.xml"/><Relationship Id="rId6" Type="http://schemas.openxmlformats.org/officeDocument/2006/relationships/hyperlink" Target="http://www.slideshare.net/amitcyrus/queuing-theory" TargetMode="External"/><Relationship Id="rId11" Type="http://schemas.openxmlformats.org/officeDocument/2006/relationships/hyperlink" Target="http://www.queuelines.com/queuing-blog/customer-flow-management-the-importance-of-managing-customer-lines-and-wait-times-at-your-location/" TargetMode="External"/><Relationship Id="rId5" Type="http://schemas.openxmlformats.org/officeDocument/2006/relationships/hyperlink" Target="http://www.slideshare.net/benghuid/queueing-theory-7085316" TargetMode="External"/><Relationship Id="rId10" Type="http://schemas.openxmlformats.org/officeDocument/2006/relationships/hyperlink" Target="http://www.slideshare.net/28Sneha/8managing-demand-and-capacity-and-waiting-line-strategies" TargetMode="External"/><Relationship Id="rId4" Type="http://schemas.openxmlformats.org/officeDocument/2006/relationships/hyperlink" Target="http://images.slideplayer.com/26/8821494/slides/slide_5.jpg" TargetMode="External"/><Relationship Id="rId9" Type="http://schemas.openxmlformats.org/officeDocument/2006/relationships/hyperlink" Target="http://blog.innotas.com/wp-content/uploads/2014/06/Time-Tracking.p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57943" y="1455063"/>
            <a:ext cx="9971964" cy="826584"/>
          </a:xfrm>
        </p:spPr>
        <p:txBody>
          <a:bodyPr>
            <a:normAutofit fontScale="90000"/>
          </a:bodyPr>
          <a:lstStyle/>
          <a:p>
            <a:pPr algn="r"/>
            <a:r>
              <a:rPr lang="en-US" dirty="0"/>
              <a:t>CUSTOMER SERVICE: Unit 3</a:t>
            </a:r>
          </a:p>
        </p:txBody>
      </p:sp>
      <p:pic>
        <p:nvPicPr>
          <p:cNvPr id="3076" name="Picture 4" descr="Image result for hotel servi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6877" y="2379717"/>
            <a:ext cx="5078381" cy="258771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9124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UNIT OBJECTIVES</a:t>
            </a:r>
          </a:p>
        </p:txBody>
      </p:sp>
      <p:sp>
        <p:nvSpPr>
          <p:cNvPr id="3" name="Content Placeholder 2"/>
          <p:cNvSpPr>
            <a:spLocks noGrp="1"/>
          </p:cNvSpPr>
          <p:nvPr>
            <p:ph idx="1"/>
          </p:nvPr>
        </p:nvSpPr>
        <p:spPr>
          <a:xfrm>
            <a:off x="1154954" y="2659964"/>
            <a:ext cx="8915400" cy="4198036"/>
          </a:xfrm>
        </p:spPr>
        <p:txBody>
          <a:bodyPr>
            <a:noAutofit/>
          </a:bodyPr>
          <a:lstStyle/>
          <a:p>
            <a:pPr marL="0" indent="0">
              <a:buNone/>
            </a:pPr>
            <a:r>
              <a:rPr lang="en-US" sz="2400" b="1" dirty="0"/>
              <a:t>Unit 3 – The Psychology of Customer Flow</a:t>
            </a:r>
          </a:p>
          <a:p>
            <a:r>
              <a:rPr lang="en-US" sz="2400" b="1" dirty="0"/>
              <a:t>Customer Flow Management</a:t>
            </a:r>
          </a:p>
          <a:p>
            <a:r>
              <a:rPr lang="en-US" sz="2400" b="1" dirty="0"/>
              <a:t>Waiting Lines</a:t>
            </a:r>
          </a:p>
          <a:p>
            <a:r>
              <a:rPr lang="en-US" sz="2400" b="1" dirty="0"/>
              <a:t>Virtual Waiting</a:t>
            </a:r>
          </a:p>
          <a:p>
            <a:r>
              <a:rPr lang="en-US" sz="2400" b="1" dirty="0"/>
              <a:t>Technology</a:t>
            </a:r>
          </a:p>
        </p:txBody>
      </p:sp>
    </p:spTree>
    <p:extLst>
      <p:ext uri="{BB962C8B-B14F-4D97-AF65-F5344CB8AC3E}">
        <p14:creationId xmlns:p14="http://schemas.microsoft.com/office/powerpoint/2010/main" val="3913034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do we often join lines for service?</a:t>
            </a:r>
            <a:endParaRPr lang="en-JM" dirty="0"/>
          </a:p>
        </p:txBody>
      </p:sp>
      <p:pic>
        <p:nvPicPr>
          <p:cNvPr id="1028" name="Picture 4" descr="http://furthertheconversation.com/wp-content/uploads/2014/08/waiting-in-line.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722019" y="2205246"/>
            <a:ext cx="8214360" cy="370027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2353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Queuing/waiting</a:t>
            </a:r>
            <a:endParaRPr lang="en-JM" dirty="0"/>
          </a:p>
        </p:txBody>
      </p:sp>
      <p:sp>
        <p:nvSpPr>
          <p:cNvPr id="3" name="Content Placeholder 2"/>
          <p:cNvSpPr>
            <a:spLocks noGrp="1"/>
          </p:cNvSpPr>
          <p:nvPr>
            <p:ph idx="1"/>
          </p:nvPr>
        </p:nvSpPr>
        <p:spPr>
          <a:xfrm>
            <a:off x="597725" y="2155372"/>
            <a:ext cx="10241869" cy="4702628"/>
          </a:xfrm>
        </p:spPr>
        <p:txBody>
          <a:bodyPr>
            <a:normAutofit lnSpcReduction="10000"/>
          </a:bodyPr>
          <a:lstStyle/>
          <a:p>
            <a:pPr marL="0" indent="0" algn="just">
              <a:buNone/>
            </a:pPr>
            <a:r>
              <a:rPr lang="en-US" sz="2000" b="1" dirty="0"/>
              <a:t>A queue is a waiting line of "customers" requiring service from one or more servers. Queuing theory deals with problems that involve waiting (or queuing) or it is simply the study of the waiting line systems. </a:t>
            </a:r>
          </a:p>
          <a:p>
            <a:pPr marL="0" indent="0" algn="just">
              <a:buNone/>
            </a:pPr>
            <a:endParaRPr lang="en-US" sz="2000" b="1" dirty="0"/>
          </a:p>
          <a:p>
            <a:pPr marL="0" indent="0" algn="just">
              <a:buNone/>
            </a:pPr>
            <a:r>
              <a:rPr lang="en-US" sz="2000" b="1" dirty="0"/>
              <a:t>It is quite common that instances of queue occurs everyday in our daily life. Examples of queues or long waiting lines might be:</a:t>
            </a:r>
          </a:p>
          <a:p>
            <a:pPr marL="0" indent="0" algn="just">
              <a:buNone/>
            </a:pPr>
            <a:endParaRPr lang="en-US" sz="2000" b="1" dirty="0"/>
          </a:p>
          <a:p>
            <a:pPr algn="just"/>
            <a:r>
              <a:rPr lang="en-US" sz="2000" b="1" dirty="0"/>
              <a:t>Waiting for service in bank and at reservation counter</a:t>
            </a:r>
          </a:p>
          <a:p>
            <a:pPr algn="just"/>
            <a:r>
              <a:rPr lang="en-US" sz="2000" b="1" dirty="0"/>
              <a:t>Waiting for a train or bus</a:t>
            </a:r>
          </a:p>
          <a:p>
            <a:pPr algn="just"/>
            <a:r>
              <a:rPr lang="en-US" sz="2000" b="1" dirty="0"/>
              <a:t>Waiting at barber salon</a:t>
            </a:r>
          </a:p>
          <a:p>
            <a:pPr algn="just"/>
            <a:r>
              <a:rPr lang="en-US" sz="2000" b="1" dirty="0"/>
              <a:t>Waiting at doctors’ clinic</a:t>
            </a:r>
          </a:p>
          <a:p>
            <a:pPr algn="just"/>
            <a:r>
              <a:rPr lang="en-US" sz="2000" b="1" dirty="0"/>
              <a:t>Highway toll booth</a:t>
            </a:r>
          </a:p>
          <a:p>
            <a:pPr algn="just"/>
            <a:endParaRPr lang="en-US" sz="2000" b="1" dirty="0"/>
          </a:p>
        </p:txBody>
      </p:sp>
      <p:pic>
        <p:nvPicPr>
          <p:cNvPr id="7170" name="Picture 2" descr="https://s-media-cache-ak0.pinimg.com/originals/7d/a2/cc/7da2cc6ae9b8225cbc5261c370474ac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rot="19476622">
            <a:off x="8650684" y="4020663"/>
            <a:ext cx="2964769" cy="2072315"/>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38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CUSTOMER FLOW/management?</a:t>
            </a:r>
            <a:endParaRPr lang="en-JM" dirty="0"/>
          </a:p>
        </p:txBody>
      </p:sp>
      <p:sp>
        <p:nvSpPr>
          <p:cNvPr id="3" name="Content Placeholder 2"/>
          <p:cNvSpPr>
            <a:spLocks noGrp="1"/>
          </p:cNvSpPr>
          <p:nvPr>
            <p:ph idx="1"/>
          </p:nvPr>
        </p:nvSpPr>
        <p:spPr/>
        <p:txBody>
          <a:bodyPr>
            <a:normAutofit fontScale="85000" lnSpcReduction="20000"/>
          </a:bodyPr>
          <a:lstStyle/>
          <a:p>
            <a:pPr marL="0" indent="0" algn="just">
              <a:buNone/>
            </a:pPr>
            <a:r>
              <a:rPr lang="en-US" sz="3000" b="1" dirty="0"/>
              <a:t>Customer flow is the number and pattern of customers coming into or passing through a service organization.</a:t>
            </a:r>
          </a:p>
          <a:p>
            <a:pPr marL="0" indent="0" algn="just">
              <a:buNone/>
            </a:pPr>
            <a:endParaRPr lang="en-US" sz="3000" b="1" dirty="0"/>
          </a:p>
          <a:p>
            <a:pPr marL="0" indent="0" algn="just">
              <a:buNone/>
            </a:pPr>
            <a:r>
              <a:rPr lang="en-US" sz="3000" b="1" dirty="0"/>
              <a:t>Customer Flow Management (CFM) is a process which takes into account the entire customer experience, from the time they arrive at your site to the completion of their “transaction” to post-service analysis. </a:t>
            </a:r>
            <a:endParaRPr lang="en-JM" sz="3000" b="1" dirty="0"/>
          </a:p>
        </p:txBody>
      </p:sp>
    </p:spTree>
    <p:extLst>
      <p:ext uri="{BB962C8B-B14F-4D97-AF65-F5344CB8AC3E}">
        <p14:creationId xmlns:p14="http://schemas.microsoft.com/office/powerpoint/2010/main" val="36026983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customer flow</a:t>
            </a:r>
            <a:endParaRPr lang="en-JM" dirty="0"/>
          </a:p>
        </p:txBody>
      </p:sp>
      <p:sp>
        <p:nvSpPr>
          <p:cNvPr id="3" name="Content Placeholder 2"/>
          <p:cNvSpPr>
            <a:spLocks noGrp="1"/>
          </p:cNvSpPr>
          <p:nvPr>
            <p:ph idx="1"/>
          </p:nvPr>
        </p:nvSpPr>
        <p:spPr/>
        <p:txBody>
          <a:bodyPr/>
          <a:lstStyle/>
          <a:p>
            <a:r>
              <a:rPr lang="en-US" b="1" dirty="0"/>
              <a:t>It can increase sales, both in terms of immediate impulse buys and future customer loyalty, by producing happier customers.  </a:t>
            </a:r>
          </a:p>
          <a:p>
            <a:r>
              <a:rPr lang="en-US" b="1" dirty="0"/>
              <a:t>It will increase staff productivity (thus decreasing your costs) by efficiently matching staff members to customers.  </a:t>
            </a:r>
          </a:p>
          <a:p>
            <a:r>
              <a:rPr lang="en-US" b="1" dirty="0"/>
              <a:t>It provides management data about customers and business processes, which can lead to ongoing competitive advantages.</a:t>
            </a:r>
            <a:endParaRPr lang="en-JM" b="1" dirty="0"/>
          </a:p>
        </p:txBody>
      </p:sp>
    </p:spTree>
    <p:extLst>
      <p:ext uri="{BB962C8B-B14F-4D97-AF65-F5344CB8AC3E}">
        <p14:creationId xmlns:p14="http://schemas.microsoft.com/office/powerpoint/2010/main" val="3683042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should we MANAGE CUSTOMER FLOW?</a:t>
            </a:r>
            <a:endParaRPr lang="en-JM" dirty="0"/>
          </a:p>
        </p:txBody>
      </p:sp>
      <p:sp>
        <p:nvSpPr>
          <p:cNvPr id="3" name="Content Placeholder 2"/>
          <p:cNvSpPr>
            <a:spLocks noGrp="1"/>
          </p:cNvSpPr>
          <p:nvPr>
            <p:ph idx="1"/>
          </p:nvPr>
        </p:nvSpPr>
        <p:spPr>
          <a:xfrm>
            <a:off x="554183" y="2833255"/>
            <a:ext cx="10437812" cy="4713514"/>
          </a:xfrm>
        </p:spPr>
        <p:txBody>
          <a:bodyPr>
            <a:noAutofit/>
          </a:bodyPr>
          <a:lstStyle/>
          <a:p>
            <a:pPr algn="just"/>
            <a:r>
              <a:rPr lang="en-US" b="1" dirty="0"/>
              <a:t>Whenever a customer arrives at a service facility, some of them usually have to wait before they receive the desired service. </a:t>
            </a:r>
          </a:p>
          <a:p>
            <a:pPr algn="just"/>
            <a:r>
              <a:rPr lang="en-US" b="1" dirty="0"/>
              <a:t>This forms a queue or waiting line, make customer feel discomfort either mentally or physically because of long waiting queue. We infer that queues form because the service facilities are inadequate. </a:t>
            </a:r>
          </a:p>
        </p:txBody>
      </p:sp>
    </p:spTree>
    <p:extLst>
      <p:ext uri="{BB962C8B-B14F-4D97-AF65-F5344CB8AC3E}">
        <p14:creationId xmlns:p14="http://schemas.microsoft.com/office/powerpoint/2010/main" val="30631645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EF5BB9-8D0B-227C-959B-5292E7F66C1E}"/>
              </a:ext>
            </a:extLst>
          </p:cNvPr>
          <p:cNvSpPr>
            <a:spLocks noGrp="1"/>
          </p:cNvSpPr>
          <p:nvPr>
            <p:ph idx="1"/>
          </p:nvPr>
        </p:nvSpPr>
        <p:spPr/>
        <p:txBody>
          <a:bodyPr/>
          <a:lstStyle/>
          <a:p>
            <a:pPr algn="just"/>
            <a:r>
              <a:rPr lang="en-US" b="1" dirty="0"/>
              <a:t>If service facilities are increased, then the question arise how much to increase? </a:t>
            </a:r>
          </a:p>
          <a:p>
            <a:pPr algn="just"/>
            <a:r>
              <a:rPr lang="en-US" b="1" dirty="0"/>
              <a:t>For example, how many buses would be needed to avoid queues? How many reservation counters would be needed to reduce the queue?</a:t>
            </a:r>
          </a:p>
          <a:p>
            <a:pPr algn="just"/>
            <a:r>
              <a:rPr lang="en-US" b="1" dirty="0"/>
              <a:t>Increase in number of buses and reservation counters requires additional resources. At the same time, cost due to customer dissatisfaction must also be considered.</a:t>
            </a:r>
            <a:endParaRPr lang="en-JM" b="1" dirty="0"/>
          </a:p>
          <a:p>
            <a:endParaRPr lang="en-US" b="1" dirty="0"/>
          </a:p>
        </p:txBody>
      </p:sp>
    </p:spTree>
    <p:extLst>
      <p:ext uri="{BB962C8B-B14F-4D97-AF65-F5344CB8AC3E}">
        <p14:creationId xmlns:p14="http://schemas.microsoft.com/office/powerpoint/2010/main" val="1370718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ASSESSING CUSTOMER FLOW</a:t>
            </a:r>
            <a:endParaRPr lang="en-JM" dirty="0"/>
          </a:p>
        </p:txBody>
      </p:sp>
      <p:sp>
        <p:nvSpPr>
          <p:cNvPr id="3" name="Content Placeholder 2"/>
          <p:cNvSpPr>
            <a:spLocks noGrp="1"/>
          </p:cNvSpPr>
          <p:nvPr>
            <p:ph idx="1"/>
          </p:nvPr>
        </p:nvSpPr>
        <p:spPr/>
        <p:txBody>
          <a:bodyPr/>
          <a:lstStyle/>
          <a:p>
            <a:pPr marL="0" indent="0">
              <a:buNone/>
            </a:pPr>
            <a:r>
              <a:rPr lang="en-US" b="1" dirty="0"/>
              <a:t>The first step to implementing Customer Flow Management is to assess your current situation.  Gather data on:</a:t>
            </a:r>
          </a:p>
          <a:p>
            <a:r>
              <a:rPr lang="en-US" b="1" dirty="0"/>
              <a:t>the number of customers at your site per hour or per day</a:t>
            </a:r>
          </a:p>
          <a:p>
            <a:r>
              <a:rPr lang="en-US" b="1" dirty="0"/>
              <a:t>your peak customer times</a:t>
            </a:r>
          </a:p>
          <a:p>
            <a:r>
              <a:rPr lang="en-US" b="1" dirty="0"/>
              <a:t>the average customer wait time</a:t>
            </a:r>
          </a:p>
          <a:p>
            <a:r>
              <a:rPr lang="en-US" b="1" dirty="0"/>
              <a:t>the average amount of time it takes to service a customer</a:t>
            </a:r>
          </a:p>
          <a:p>
            <a:r>
              <a:rPr lang="en-US" b="1" dirty="0"/>
              <a:t>all feedback (both positive and negative) from customers</a:t>
            </a:r>
          </a:p>
          <a:p>
            <a:r>
              <a:rPr lang="en-US" b="1" dirty="0"/>
              <a:t>any identifiable patterns regarding your staff’s productivity.</a:t>
            </a:r>
          </a:p>
          <a:p>
            <a:endParaRPr lang="en-JM" b="1" dirty="0"/>
          </a:p>
        </p:txBody>
      </p:sp>
    </p:spTree>
    <p:extLst>
      <p:ext uri="{BB962C8B-B14F-4D97-AF65-F5344CB8AC3E}">
        <p14:creationId xmlns:p14="http://schemas.microsoft.com/office/powerpoint/2010/main" val="2161718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customer flow</a:t>
            </a:r>
            <a:endParaRPr lang="en-JM" dirty="0"/>
          </a:p>
        </p:txBody>
      </p:sp>
      <p:sp>
        <p:nvSpPr>
          <p:cNvPr id="3" name="Content Placeholder 2"/>
          <p:cNvSpPr>
            <a:spLocks noGrp="1"/>
          </p:cNvSpPr>
          <p:nvPr>
            <p:ph idx="1"/>
          </p:nvPr>
        </p:nvSpPr>
        <p:spPr/>
        <p:txBody>
          <a:bodyPr>
            <a:normAutofit/>
          </a:bodyPr>
          <a:lstStyle/>
          <a:p>
            <a:r>
              <a:rPr lang="en-US" b="1" dirty="0"/>
              <a:t>Determine an acceptable waiting time for your customers</a:t>
            </a:r>
          </a:p>
          <a:p>
            <a:r>
              <a:rPr lang="en-US" b="1" dirty="0"/>
              <a:t>Try to divert your customer’s attention when waiting</a:t>
            </a:r>
          </a:p>
          <a:p>
            <a:r>
              <a:rPr lang="en-US" b="1" dirty="0"/>
              <a:t>Inform your customers of what to expect</a:t>
            </a:r>
          </a:p>
          <a:p>
            <a:r>
              <a:rPr lang="en-US" b="1" dirty="0"/>
              <a:t>Keep employees not serving the customers out of sight</a:t>
            </a:r>
          </a:p>
          <a:p>
            <a:r>
              <a:rPr lang="en-US" b="1" dirty="0"/>
              <a:t>Segment customers</a:t>
            </a:r>
          </a:p>
          <a:p>
            <a:r>
              <a:rPr lang="en-US" b="1" dirty="0"/>
              <a:t>Train your servers to be friendly</a:t>
            </a:r>
          </a:p>
          <a:p>
            <a:r>
              <a:rPr lang="en-US" b="1" dirty="0"/>
              <a:t>Encourage customers to come during the slack periods</a:t>
            </a:r>
          </a:p>
          <a:p>
            <a:r>
              <a:rPr lang="en-US" b="1" dirty="0"/>
              <a:t>Take a long-term perspective toward getting rid of the queues</a:t>
            </a:r>
          </a:p>
          <a:p>
            <a:endParaRPr lang="en-JM" b="1" dirty="0"/>
          </a:p>
        </p:txBody>
      </p:sp>
      <p:pic>
        <p:nvPicPr>
          <p:cNvPr id="11268" name="Picture 4" descr="https://cdn0.iconfinder.com/data/icons/thin-building-signs/24/thin-0582_take_ticket_waiting_room-512.png"/>
          <p:cNvPicPr>
            <a:picLocks noChangeAspect="1" noChangeArrowheads="1"/>
          </p:cNvPicPr>
          <p:nvPr/>
        </p:nvPicPr>
        <p:blipFill>
          <a:blip r:embed="rId2">
            <a:lum bright="70000" contrast="-70000"/>
            <a:extLst>
              <a:ext uri="{28A0092B-C50C-407E-A947-70E740481C1C}">
                <a14:useLocalDpi xmlns:a14="http://schemas.microsoft.com/office/drawing/2010/main" val="0"/>
              </a:ext>
            </a:extLst>
          </a:blip>
          <a:srcRect/>
          <a:stretch>
            <a:fillRect/>
          </a:stretch>
        </p:blipFill>
        <p:spPr bwMode="auto">
          <a:xfrm>
            <a:off x="9187542" y="2521087"/>
            <a:ext cx="2743200" cy="27432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38925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of customer flow management</a:t>
            </a:r>
            <a:endParaRPr lang="en-JM" dirty="0"/>
          </a:p>
        </p:txBody>
      </p:sp>
      <p:sp>
        <p:nvSpPr>
          <p:cNvPr id="3" name="Content Placeholder 2"/>
          <p:cNvSpPr>
            <a:spLocks noGrp="1"/>
          </p:cNvSpPr>
          <p:nvPr>
            <p:ph idx="1"/>
          </p:nvPr>
        </p:nvSpPr>
        <p:spPr>
          <a:xfrm>
            <a:off x="290945" y="2057400"/>
            <a:ext cx="11061266" cy="4561113"/>
          </a:xfrm>
        </p:spPr>
        <p:txBody>
          <a:bodyPr>
            <a:noAutofit/>
          </a:bodyPr>
          <a:lstStyle/>
          <a:p>
            <a:pPr marL="0" indent="0" algn="just">
              <a:buNone/>
            </a:pPr>
            <a:r>
              <a:rPr lang="en-US" sz="2000" b="1" dirty="0"/>
              <a:t>Customer flow management has been applied to a great variety of business situations.</a:t>
            </a:r>
          </a:p>
          <a:p>
            <a:pPr algn="just"/>
            <a:r>
              <a:rPr lang="en-US" sz="2000" b="1" dirty="0"/>
              <a:t>Customer flow management can be applied to determine the number of check out counters needed to secure smooth and economic operations at various time during the day at a supermarket or a departmental store .</a:t>
            </a:r>
          </a:p>
          <a:p>
            <a:pPr algn="just"/>
            <a:r>
              <a:rPr lang="en-US" sz="2000" b="1" dirty="0"/>
              <a:t>Customer flow management can be used to analyze the delays at the toll booths of bridges and tunnels.</a:t>
            </a:r>
          </a:p>
          <a:p>
            <a:pPr algn="just"/>
            <a:r>
              <a:rPr lang="en-US" sz="2000" b="1" dirty="0"/>
              <a:t>Customer flow management can be used to improve the customers service at restaurants, cafeteria, gasoline service station, airline counters, hospitals etc.</a:t>
            </a:r>
          </a:p>
          <a:p>
            <a:pPr algn="just"/>
            <a:r>
              <a:rPr lang="en-US" sz="2000" b="1" dirty="0"/>
              <a:t>Customer flow management can be used to determine the number of personnel to be employed so that the cost of the production loss from down time and the cost of repair is minimized.</a:t>
            </a:r>
          </a:p>
        </p:txBody>
      </p:sp>
    </p:spTree>
    <p:extLst>
      <p:ext uri="{BB962C8B-B14F-4D97-AF65-F5344CB8AC3E}">
        <p14:creationId xmlns:p14="http://schemas.microsoft.com/office/powerpoint/2010/main" val="1395405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customer flow management process</a:t>
            </a:r>
            <a:endParaRPr lang="en-JM" dirty="0"/>
          </a:p>
        </p:txBody>
      </p:sp>
      <p:sp>
        <p:nvSpPr>
          <p:cNvPr id="3" name="Content Placeholder 2"/>
          <p:cNvSpPr>
            <a:spLocks noGrp="1"/>
          </p:cNvSpPr>
          <p:nvPr>
            <p:ph idx="1"/>
          </p:nvPr>
        </p:nvSpPr>
        <p:spPr>
          <a:xfrm>
            <a:off x="685800" y="2610196"/>
            <a:ext cx="10820400" cy="4663441"/>
          </a:xfrm>
        </p:spPr>
        <p:txBody>
          <a:bodyPr>
            <a:normAutofit/>
          </a:bodyPr>
          <a:lstStyle/>
          <a:p>
            <a:pPr marL="0" indent="0" algn="just">
              <a:buNone/>
            </a:pPr>
            <a:r>
              <a:rPr lang="en-US" b="1" dirty="0"/>
              <a:t>The Customer Flow Management process encompasses the entire customer experience, not just the time they spend waiting in line. These are the phases in the process:</a:t>
            </a:r>
          </a:p>
          <a:p>
            <a:pPr marL="0" indent="0" algn="just">
              <a:buNone/>
            </a:pPr>
            <a:r>
              <a:rPr lang="en-US" b="1" dirty="0"/>
              <a:t>Pre-arrival</a:t>
            </a:r>
          </a:p>
          <a:p>
            <a:pPr algn="just"/>
            <a:r>
              <a:rPr lang="en-US" b="1" dirty="0"/>
              <a:t>In some applications, a CFM process can lead you to set up appointments prior to the customer’s arrival on site, which will decrease the customer’s waiting time.  Advance customer knowledge will also enable you to provide more appropriate, personalized service, resulting in a more satisfied customer.</a:t>
            </a:r>
          </a:p>
        </p:txBody>
      </p:sp>
    </p:spTree>
    <p:extLst>
      <p:ext uri="{BB962C8B-B14F-4D97-AF65-F5344CB8AC3E}">
        <p14:creationId xmlns:p14="http://schemas.microsoft.com/office/powerpoint/2010/main" val="2083174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428FB-6B09-3739-68A3-76DB48E9D376}"/>
              </a:ext>
            </a:extLst>
          </p:cNvPr>
          <p:cNvSpPr>
            <a:spLocks noGrp="1"/>
          </p:cNvSpPr>
          <p:nvPr>
            <p:ph type="title"/>
          </p:nvPr>
        </p:nvSpPr>
        <p:spPr/>
        <p:txBody>
          <a:bodyPr/>
          <a:lstStyle/>
          <a:p>
            <a:r>
              <a:rPr lang="en-US" dirty="0"/>
              <a:t>The customer flow management process</a:t>
            </a:r>
          </a:p>
        </p:txBody>
      </p:sp>
      <p:sp>
        <p:nvSpPr>
          <p:cNvPr id="3" name="Content Placeholder 2">
            <a:extLst>
              <a:ext uri="{FF2B5EF4-FFF2-40B4-BE49-F238E27FC236}">
                <a16:creationId xmlns:a16="http://schemas.microsoft.com/office/drawing/2014/main" id="{3712FF0A-EE5F-1A71-B693-AE5D3B6325CD}"/>
              </a:ext>
            </a:extLst>
          </p:cNvPr>
          <p:cNvSpPr>
            <a:spLocks noGrp="1"/>
          </p:cNvSpPr>
          <p:nvPr>
            <p:ph idx="1"/>
          </p:nvPr>
        </p:nvSpPr>
        <p:spPr/>
        <p:txBody>
          <a:bodyPr/>
          <a:lstStyle/>
          <a:p>
            <a:pPr marL="0" indent="0" algn="just">
              <a:buNone/>
            </a:pPr>
            <a:r>
              <a:rPr lang="en-US" b="1" dirty="0"/>
              <a:t>Customer Arrival On Site</a:t>
            </a:r>
          </a:p>
          <a:p>
            <a:pPr algn="just"/>
            <a:r>
              <a:rPr lang="en-US" b="1" dirty="0"/>
              <a:t>There are a number of options which can lead you to achieve either faster, or more customer-focused flow management at this point.  When possible, different lines can be designated for different customers.  You might be able to match up the most appropriate staff member with a customer based on what you learn about that customer.  You could have a special line or waiting area for VIP customers.  This phase also becomes your first tracking point – here is where your measurement of the customer’s experience begins.</a:t>
            </a:r>
          </a:p>
          <a:p>
            <a:endParaRPr lang="en-US" b="1" dirty="0"/>
          </a:p>
        </p:txBody>
      </p:sp>
    </p:spTree>
    <p:extLst>
      <p:ext uri="{BB962C8B-B14F-4D97-AF65-F5344CB8AC3E}">
        <p14:creationId xmlns:p14="http://schemas.microsoft.com/office/powerpoint/2010/main" val="1601560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customer flow management process</a:t>
            </a:r>
            <a:endParaRPr lang="en-JM" dirty="0"/>
          </a:p>
        </p:txBody>
      </p:sp>
      <p:sp>
        <p:nvSpPr>
          <p:cNvPr id="3" name="Content Placeholder 2"/>
          <p:cNvSpPr>
            <a:spLocks noGrp="1"/>
          </p:cNvSpPr>
          <p:nvPr>
            <p:ph idx="1"/>
          </p:nvPr>
        </p:nvSpPr>
        <p:spPr>
          <a:xfrm>
            <a:off x="685800" y="2804159"/>
            <a:ext cx="10820400" cy="4467497"/>
          </a:xfrm>
        </p:spPr>
        <p:txBody>
          <a:bodyPr>
            <a:normAutofit/>
          </a:bodyPr>
          <a:lstStyle/>
          <a:p>
            <a:pPr marL="0" indent="0" algn="just">
              <a:buNone/>
            </a:pPr>
            <a:r>
              <a:rPr lang="en-US" b="1" dirty="0"/>
              <a:t>Service Point</a:t>
            </a:r>
          </a:p>
          <a:p>
            <a:pPr algn="just"/>
            <a:r>
              <a:rPr lang="en-US" b="1" dirty="0"/>
              <a:t>After the customer’s wait in line is over, and they proceed to the next available staff member, this is another point at which critical data should be gathered.  How long did their transaction take? Did they take advantage of point-of-purchase opportunities? CFM can also give management the opportunity for a macro view of all service points to determine open counters, agent efficiency, and other important data.</a:t>
            </a:r>
          </a:p>
        </p:txBody>
      </p:sp>
    </p:spTree>
    <p:extLst>
      <p:ext uri="{BB962C8B-B14F-4D97-AF65-F5344CB8AC3E}">
        <p14:creationId xmlns:p14="http://schemas.microsoft.com/office/powerpoint/2010/main" val="3420358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B2D60-8130-39A0-4638-370D3B5A790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B07EF40-0F09-6FA4-19C4-9909C5E2F176}"/>
              </a:ext>
            </a:extLst>
          </p:cNvPr>
          <p:cNvSpPr>
            <a:spLocks noGrp="1"/>
          </p:cNvSpPr>
          <p:nvPr>
            <p:ph idx="1"/>
          </p:nvPr>
        </p:nvSpPr>
        <p:spPr/>
        <p:txBody>
          <a:bodyPr/>
          <a:lstStyle/>
          <a:p>
            <a:pPr marL="0" indent="0" algn="just">
              <a:buNone/>
            </a:pPr>
            <a:r>
              <a:rPr lang="en-US" b="1" dirty="0"/>
              <a:t>Post-Service</a:t>
            </a:r>
          </a:p>
          <a:p>
            <a:pPr algn="just"/>
            <a:r>
              <a:rPr lang="en-US" dirty="0"/>
              <a:t>At this point, customers can provide feedback via surveys.  Many customers appreciate the fact that their opinions are being heard, and this information can give you great insight into customers’ perception of your business.  This is also the time for data crunching to make future improvements in areas where they are needed.</a:t>
            </a:r>
          </a:p>
          <a:p>
            <a:endParaRPr lang="en-US" dirty="0"/>
          </a:p>
        </p:txBody>
      </p:sp>
    </p:spTree>
    <p:extLst>
      <p:ext uri="{BB962C8B-B14F-4D97-AF65-F5344CB8AC3E}">
        <p14:creationId xmlns:p14="http://schemas.microsoft.com/office/powerpoint/2010/main" val="1329230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Queues work</a:t>
            </a:r>
            <a:endParaRPr lang="en-JM" dirty="0"/>
          </a:p>
        </p:txBody>
      </p:sp>
      <p:sp>
        <p:nvSpPr>
          <p:cNvPr id="3" name="Content Placeholder 2"/>
          <p:cNvSpPr>
            <a:spLocks noGrp="1"/>
          </p:cNvSpPr>
          <p:nvPr>
            <p:ph idx="1"/>
          </p:nvPr>
        </p:nvSpPr>
        <p:spPr>
          <a:xfrm>
            <a:off x="844437" y="3117273"/>
            <a:ext cx="10503126" cy="4332514"/>
          </a:xfrm>
        </p:spPr>
        <p:txBody>
          <a:bodyPr>
            <a:normAutofit/>
          </a:bodyPr>
          <a:lstStyle/>
          <a:p>
            <a:pPr algn="just"/>
            <a:r>
              <a:rPr lang="en-US" b="1" dirty="0"/>
              <a:t>The customers arrive at service counter (single or in a group) and attended by one or more servers. A customer served leaves the system after getting the service. </a:t>
            </a:r>
          </a:p>
          <a:p>
            <a:pPr algn="just"/>
            <a:r>
              <a:rPr lang="en-US" b="1" dirty="0"/>
              <a:t>In general, a queuing system comprise with two components, the queue and the service facility. </a:t>
            </a:r>
          </a:p>
        </p:txBody>
      </p:sp>
    </p:spTree>
    <p:extLst>
      <p:ext uri="{BB962C8B-B14F-4D97-AF65-F5344CB8AC3E}">
        <p14:creationId xmlns:p14="http://schemas.microsoft.com/office/powerpoint/2010/main" val="562043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DBEE4-6C55-6C17-1BB5-7D54D01D149B}"/>
              </a:ext>
            </a:extLst>
          </p:cNvPr>
          <p:cNvSpPr>
            <a:spLocks noGrp="1"/>
          </p:cNvSpPr>
          <p:nvPr>
            <p:ph type="title"/>
          </p:nvPr>
        </p:nvSpPr>
        <p:spPr/>
        <p:txBody>
          <a:bodyPr/>
          <a:lstStyle/>
          <a:p>
            <a:r>
              <a:rPr lang="en-US" dirty="0"/>
              <a:t>How Queues work</a:t>
            </a:r>
          </a:p>
        </p:txBody>
      </p:sp>
      <p:sp>
        <p:nvSpPr>
          <p:cNvPr id="3" name="Content Placeholder 2">
            <a:extLst>
              <a:ext uri="{FF2B5EF4-FFF2-40B4-BE49-F238E27FC236}">
                <a16:creationId xmlns:a16="http://schemas.microsoft.com/office/drawing/2014/main" id="{B6FCCC57-E023-4AD1-143D-8DFD28C8ADBA}"/>
              </a:ext>
            </a:extLst>
          </p:cNvPr>
          <p:cNvSpPr>
            <a:spLocks noGrp="1"/>
          </p:cNvSpPr>
          <p:nvPr>
            <p:ph idx="1"/>
          </p:nvPr>
        </p:nvSpPr>
        <p:spPr/>
        <p:txBody>
          <a:bodyPr/>
          <a:lstStyle/>
          <a:p>
            <a:pPr algn="just"/>
            <a:r>
              <a:rPr lang="en-US" b="1" dirty="0"/>
              <a:t>The queue is where the customers are waiting to be served. The service facility is customers being served and the individual service stations.</a:t>
            </a:r>
          </a:p>
          <a:p>
            <a:pPr algn="just"/>
            <a:r>
              <a:rPr lang="en-US" b="1" dirty="0"/>
              <a:t>A queue forms whenever existing demand exceeds the existing capacity of the service facility; that is whenever arriving customers cannot receive immediate service due to busy servers.</a:t>
            </a:r>
            <a:endParaRPr lang="en-JM" b="1" dirty="0"/>
          </a:p>
          <a:p>
            <a:endParaRPr lang="en-US" b="1" dirty="0"/>
          </a:p>
        </p:txBody>
      </p:sp>
    </p:spTree>
    <p:extLst>
      <p:ext uri="{BB962C8B-B14F-4D97-AF65-F5344CB8AC3E}">
        <p14:creationId xmlns:p14="http://schemas.microsoft.com/office/powerpoint/2010/main" val="20493982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WAITING</a:t>
            </a:r>
            <a:endParaRPr lang="en-JM" dirty="0"/>
          </a:p>
        </p:txBody>
      </p:sp>
      <p:sp>
        <p:nvSpPr>
          <p:cNvPr id="3" name="Content Placeholder 2"/>
          <p:cNvSpPr>
            <a:spLocks noGrp="1"/>
          </p:cNvSpPr>
          <p:nvPr>
            <p:ph idx="1"/>
          </p:nvPr>
        </p:nvSpPr>
        <p:spPr>
          <a:xfrm>
            <a:off x="685800" y="3429000"/>
            <a:ext cx="10820400" cy="4565469"/>
          </a:xfrm>
        </p:spPr>
        <p:txBody>
          <a:bodyPr>
            <a:normAutofit/>
          </a:bodyPr>
          <a:lstStyle/>
          <a:p>
            <a:pPr algn="just"/>
            <a:r>
              <a:rPr lang="en-US" b="1" dirty="0"/>
              <a:t>Linear Waiting is most frequently used in retail applications.  The most common type of linear waiting line is one in which there is a single line and a single cashier or service counter.  This is usually the situation in small stores or fast food restaurants.  Usually, only minimal line management products are needed in these settings – perhaps a few stanchions (with accompanying retractable belts or ropes) to visually denote the line space.</a:t>
            </a:r>
          </a:p>
        </p:txBody>
      </p:sp>
    </p:spTree>
    <p:extLst>
      <p:ext uri="{BB962C8B-B14F-4D97-AF65-F5344CB8AC3E}">
        <p14:creationId xmlns:p14="http://schemas.microsoft.com/office/powerpoint/2010/main" val="1401924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4C00C-DE2C-3E1F-9DEE-453CDFB7423B}"/>
              </a:ext>
            </a:extLst>
          </p:cNvPr>
          <p:cNvSpPr>
            <a:spLocks noGrp="1"/>
          </p:cNvSpPr>
          <p:nvPr>
            <p:ph type="title"/>
          </p:nvPr>
        </p:nvSpPr>
        <p:spPr/>
        <p:txBody>
          <a:bodyPr/>
          <a:lstStyle/>
          <a:p>
            <a:r>
              <a:rPr lang="en-US" dirty="0"/>
              <a:t>LINEAR WAITING</a:t>
            </a:r>
          </a:p>
        </p:txBody>
      </p:sp>
      <p:sp>
        <p:nvSpPr>
          <p:cNvPr id="3" name="Content Placeholder 2">
            <a:extLst>
              <a:ext uri="{FF2B5EF4-FFF2-40B4-BE49-F238E27FC236}">
                <a16:creationId xmlns:a16="http://schemas.microsoft.com/office/drawing/2014/main" id="{A4FD79FE-181F-F20D-E5B4-2919D220D069}"/>
              </a:ext>
            </a:extLst>
          </p:cNvPr>
          <p:cNvSpPr>
            <a:spLocks noGrp="1"/>
          </p:cNvSpPr>
          <p:nvPr>
            <p:ph idx="1"/>
          </p:nvPr>
        </p:nvSpPr>
        <p:spPr/>
        <p:txBody>
          <a:bodyPr/>
          <a:lstStyle/>
          <a:p>
            <a:r>
              <a:rPr lang="en-US" b="1" dirty="0"/>
              <a:t>For busier locations, a more elaborate queuing system is the “Multiple Queue – Multiple Service Points” arrangement.  This “first come, first serve” set up is frequently seen at airports and banks.  Customers line up in the order in which they arrive, and they are called to the service desk by the next available agent.</a:t>
            </a:r>
          </a:p>
          <a:p>
            <a:endParaRPr lang="en-US" b="1" dirty="0"/>
          </a:p>
        </p:txBody>
      </p:sp>
    </p:spTree>
    <p:extLst>
      <p:ext uri="{BB962C8B-B14F-4D97-AF65-F5344CB8AC3E}">
        <p14:creationId xmlns:p14="http://schemas.microsoft.com/office/powerpoint/2010/main" val="22407522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WAITING</a:t>
            </a:r>
            <a:endParaRPr lang="en-JM" dirty="0"/>
          </a:p>
        </p:txBody>
      </p:sp>
      <p:sp>
        <p:nvSpPr>
          <p:cNvPr id="3" name="Content Placeholder 2"/>
          <p:cNvSpPr>
            <a:spLocks noGrp="1"/>
          </p:cNvSpPr>
          <p:nvPr>
            <p:ph idx="1"/>
          </p:nvPr>
        </p:nvSpPr>
        <p:spPr>
          <a:xfrm>
            <a:off x="824346" y="2776451"/>
            <a:ext cx="10820400" cy="4565469"/>
          </a:xfrm>
        </p:spPr>
        <p:txBody>
          <a:bodyPr>
            <a:normAutofit/>
          </a:bodyPr>
          <a:lstStyle/>
          <a:p>
            <a:pPr algn="just"/>
            <a:r>
              <a:rPr lang="en-US" b="1" dirty="0"/>
              <a:t>Linear queuing is perceived as fair, and wait time is minimized, as one patron is ready to be served as soon as another is finished.</a:t>
            </a:r>
            <a:endParaRPr lang="en-JM" b="1" dirty="0"/>
          </a:p>
          <a:p>
            <a:pPr algn="just"/>
            <a:r>
              <a:rPr lang="en-US" b="1" dirty="0"/>
              <a:t>Note that the linear queuing option which has the most potential negative ramifications is the Multiple Queue – Multiple Service Points” option, which, with the exception of supermarkets and some fast food restaurants, is not favored by most locations.  </a:t>
            </a:r>
          </a:p>
          <a:p>
            <a:pPr algn="just"/>
            <a:r>
              <a:rPr lang="en-US" b="1" dirty="0"/>
              <a:t>The danger in this case is that customers are forced to choose a line and through no fault of their own, may be stuck in a slow moving line, which they will perceive as a very frustrating experience.</a:t>
            </a:r>
            <a:endParaRPr lang="en-JM" b="1" dirty="0"/>
          </a:p>
        </p:txBody>
      </p:sp>
    </p:spTree>
    <p:extLst>
      <p:ext uri="{BB962C8B-B14F-4D97-AF65-F5344CB8AC3E}">
        <p14:creationId xmlns:p14="http://schemas.microsoft.com/office/powerpoint/2010/main" val="3903848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WAITING</a:t>
            </a:r>
            <a:endParaRPr lang="en-JM" dirty="0"/>
          </a:p>
        </p:txBody>
      </p:sp>
      <p:sp>
        <p:nvSpPr>
          <p:cNvPr id="3" name="Content Placeholder 2"/>
          <p:cNvSpPr>
            <a:spLocks noGrp="1"/>
          </p:cNvSpPr>
          <p:nvPr>
            <p:ph idx="1"/>
          </p:nvPr>
        </p:nvSpPr>
        <p:spPr>
          <a:xfrm>
            <a:off x="685800" y="2762595"/>
            <a:ext cx="10820400" cy="4391297"/>
          </a:xfrm>
        </p:spPr>
        <p:txBody>
          <a:bodyPr>
            <a:normAutofit/>
          </a:bodyPr>
          <a:lstStyle/>
          <a:p>
            <a:pPr algn="just"/>
            <a:r>
              <a:rPr lang="en-US" b="1" dirty="0"/>
              <a:t>Virtual queuing means that the customer is identified upon arrival and placed in a ‘virtual queue'. </a:t>
            </a:r>
          </a:p>
          <a:p>
            <a:pPr algn="just"/>
            <a:r>
              <a:rPr lang="en-US" b="1" dirty="0"/>
              <a:t>The virtual queue is invisible in the sense that the customers are not confined to any particular waiting spot and hence don't know what position they have in the queue relative to other individual customers.</a:t>
            </a:r>
          </a:p>
          <a:p>
            <a:pPr algn="just"/>
            <a:r>
              <a:rPr lang="en-US" b="1" dirty="0"/>
              <a:t>This scenario requires customers to be either greeted and queued by a member of staff or entered into the queue through some type of technology, like a ticket-printer, a self-serve kiosk, etc.</a:t>
            </a:r>
          </a:p>
          <a:p>
            <a:pPr algn="just"/>
            <a:r>
              <a:rPr lang="en-US" b="1" dirty="0"/>
              <a:t> Identification can be made via some customer unique attribute (name, social security number, etc.) or an assigned attribute chosen by the staff or the customer (typically a number or a letter combination). </a:t>
            </a:r>
          </a:p>
        </p:txBody>
      </p:sp>
    </p:spTree>
    <p:extLst>
      <p:ext uri="{BB962C8B-B14F-4D97-AF65-F5344CB8AC3E}">
        <p14:creationId xmlns:p14="http://schemas.microsoft.com/office/powerpoint/2010/main" val="33100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VIRTUAL WAITING</a:t>
            </a:r>
            <a:endParaRPr lang="en-JM" dirty="0"/>
          </a:p>
        </p:txBody>
      </p:sp>
      <p:sp>
        <p:nvSpPr>
          <p:cNvPr id="3" name="Content Placeholder 2"/>
          <p:cNvSpPr>
            <a:spLocks noGrp="1"/>
          </p:cNvSpPr>
          <p:nvPr>
            <p:ph idx="1"/>
          </p:nvPr>
        </p:nvSpPr>
        <p:spPr>
          <a:xfrm>
            <a:off x="685800" y="2444931"/>
            <a:ext cx="10820400" cy="4413069"/>
          </a:xfrm>
        </p:spPr>
        <p:txBody>
          <a:bodyPr>
            <a:normAutofit/>
          </a:bodyPr>
          <a:lstStyle/>
          <a:p>
            <a:pPr algn="just"/>
            <a:r>
              <a:rPr lang="en-US" b="1" dirty="0"/>
              <a:t>Once the customers have been placed in a queue they can be engaged in active waiting with the guarantee that they will be served at the appropriate time. As in the case with linear queuing, virtual queuing has developed to become more sophisticated over time. </a:t>
            </a:r>
            <a:endParaRPr lang="en-JM" b="1" dirty="0"/>
          </a:p>
          <a:p>
            <a:r>
              <a:rPr lang="en-US" b="1" dirty="0"/>
              <a:t>In the most common type of virtual queues, staff call the next customer when service to the current customer is finished. </a:t>
            </a:r>
            <a:endParaRPr lang="en-JM" b="1" dirty="0"/>
          </a:p>
          <a:p>
            <a:r>
              <a:rPr lang="en-US" b="1" dirty="0"/>
              <a:t>In order to speed up the process, staff can pre-call the next customer before service to the current customer has actually finished. This could be done automatically, for example by connecting the cash register with the queuing system and have the next customer called immediately when the currently served customer starts paying. </a:t>
            </a:r>
          </a:p>
          <a:p>
            <a:r>
              <a:rPr lang="en-US" b="1" dirty="0"/>
              <a:t>It could also be done manually by providing the staff with a button to press when appropriate. In either case the effect is that a buffer zone with a waiting customer is created behind the currently served customer. </a:t>
            </a:r>
          </a:p>
          <a:p>
            <a:endParaRPr lang="en-US" b="1" dirty="0"/>
          </a:p>
          <a:p>
            <a:pPr algn="just"/>
            <a:endParaRPr lang="en-JM" b="1" dirty="0"/>
          </a:p>
        </p:txBody>
      </p:sp>
    </p:spTree>
    <p:extLst>
      <p:ext uri="{BB962C8B-B14F-4D97-AF65-F5344CB8AC3E}">
        <p14:creationId xmlns:p14="http://schemas.microsoft.com/office/powerpoint/2010/main" val="29302608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Queuing Systems</a:t>
            </a:r>
            <a:endParaRPr lang="en-JM" dirty="0"/>
          </a:p>
        </p:txBody>
      </p:sp>
      <p:sp>
        <p:nvSpPr>
          <p:cNvPr id="3" name="Content Placeholder 2"/>
          <p:cNvSpPr>
            <a:spLocks noGrp="1"/>
          </p:cNvSpPr>
          <p:nvPr>
            <p:ph idx="1"/>
          </p:nvPr>
        </p:nvSpPr>
        <p:spPr>
          <a:xfrm>
            <a:off x="1154954" y="3050969"/>
            <a:ext cx="10245582" cy="4702628"/>
          </a:xfrm>
        </p:spPr>
        <p:txBody>
          <a:bodyPr>
            <a:normAutofit/>
          </a:bodyPr>
          <a:lstStyle/>
          <a:p>
            <a:pPr marL="0" indent="0" algn="just">
              <a:buNone/>
            </a:pPr>
            <a:r>
              <a:rPr lang="en-US" b="1" dirty="0"/>
              <a:t>Key elements of queuing systems:</a:t>
            </a:r>
          </a:p>
          <a:p>
            <a:pPr marL="0" indent="0" algn="just">
              <a:buNone/>
            </a:pPr>
            <a:r>
              <a:rPr lang="en-US" b="1" dirty="0"/>
              <a:t>Customer: refers to anything that arrives at a facility and requires service, e.g., people, machines, trucks, emails</a:t>
            </a:r>
          </a:p>
          <a:p>
            <a:pPr marL="0" indent="0" algn="just">
              <a:buNone/>
            </a:pPr>
            <a:r>
              <a:rPr lang="en-US" b="1" dirty="0"/>
              <a:t>Server: refers to any resource that provides the requested service, e.g. repair persons or ATM machines</a:t>
            </a:r>
          </a:p>
          <a:p>
            <a:pPr algn="just"/>
            <a:endParaRPr lang="en-US" b="1" dirty="0"/>
          </a:p>
        </p:txBody>
      </p:sp>
      <p:pic>
        <p:nvPicPr>
          <p:cNvPr id="8194" name="Picture 2" descr="Image result for customer and serv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5901" y="3341913"/>
            <a:ext cx="6035670" cy="3090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84176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4513" y="913670"/>
            <a:ext cx="8911687" cy="1280890"/>
          </a:xfrm>
        </p:spPr>
        <p:txBody>
          <a:bodyPr/>
          <a:lstStyle/>
          <a:p>
            <a:r>
              <a:rPr lang="en-US" dirty="0"/>
              <a:t>Characteristics of a customer flow system</a:t>
            </a:r>
            <a:endParaRPr lang="en-JM" dirty="0"/>
          </a:p>
        </p:txBody>
      </p:sp>
      <p:sp>
        <p:nvSpPr>
          <p:cNvPr id="3" name="Content Placeholder 2"/>
          <p:cNvSpPr>
            <a:spLocks noGrp="1"/>
          </p:cNvSpPr>
          <p:nvPr>
            <p:ph idx="1"/>
          </p:nvPr>
        </p:nvSpPr>
        <p:spPr/>
        <p:txBody>
          <a:bodyPr>
            <a:normAutofit/>
          </a:bodyPr>
          <a:lstStyle/>
          <a:p>
            <a:pPr marL="0" indent="0" algn="just">
              <a:buNone/>
            </a:pPr>
            <a:r>
              <a:rPr lang="en-US" b="1" dirty="0"/>
              <a:t>In designing a good Customer flow management system, it is necessary to have provide customers with the following information about the model: </a:t>
            </a:r>
          </a:p>
          <a:p>
            <a:pPr marL="0" indent="0" algn="just">
              <a:buNone/>
            </a:pPr>
            <a:endParaRPr lang="en-US" b="1" dirty="0"/>
          </a:p>
          <a:p>
            <a:pPr algn="just"/>
            <a:r>
              <a:rPr lang="en-US" b="1" dirty="0"/>
              <a:t>The arrival pattern</a:t>
            </a:r>
          </a:p>
          <a:p>
            <a:pPr algn="just"/>
            <a:r>
              <a:rPr lang="en-US" b="1" dirty="0"/>
              <a:t>The service mechanism</a:t>
            </a:r>
          </a:p>
          <a:p>
            <a:pPr algn="just"/>
            <a:r>
              <a:rPr lang="en-US" b="1" dirty="0"/>
              <a:t>The queue discipline</a:t>
            </a:r>
          </a:p>
          <a:p>
            <a:pPr algn="just"/>
            <a:r>
              <a:rPr lang="en-US" b="1" dirty="0"/>
              <a:t>The number of service channels</a:t>
            </a:r>
          </a:p>
          <a:p>
            <a:pPr algn="just"/>
            <a:r>
              <a:rPr lang="en-US" b="1" dirty="0"/>
              <a:t>Number of service stages</a:t>
            </a:r>
          </a:p>
          <a:p>
            <a:pPr algn="just"/>
            <a:endParaRPr lang="en-JM" b="1" dirty="0"/>
          </a:p>
        </p:txBody>
      </p:sp>
      <p:pic>
        <p:nvPicPr>
          <p:cNvPr id="13314" name="Picture 2" descr="Image result for angry custom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07489" y="2796547"/>
            <a:ext cx="2581275" cy="3343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927162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Parts of a Queue</a:t>
            </a:r>
            <a:endParaRPr lang="en-JM" dirty="0"/>
          </a:p>
        </p:txBody>
      </p:sp>
      <p:pic>
        <p:nvPicPr>
          <p:cNvPr id="4" name="Content Placeholder 3"/>
          <p:cNvPicPr>
            <a:picLocks noGrp="1" noChangeAspect="1"/>
          </p:cNvPicPr>
          <p:nvPr>
            <p:ph idx="1"/>
          </p:nvPr>
        </p:nvPicPr>
        <p:blipFill>
          <a:blip r:embed="rId2"/>
          <a:stretch>
            <a:fillRect/>
          </a:stretch>
        </p:blipFill>
        <p:spPr>
          <a:xfrm>
            <a:off x="1382484" y="2287813"/>
            <a:ext cx="9481231" cy="3702603"/>
          </a:xfrm>
          <a:prstGeom prst="rect">
            <a:avLst/>
          </a:prstGeom>
        </p:spPr>
      </p:pic>
    </p:spTree>
    <p:extLst>
      <p:ext uri="{BB962C8B-B14F-4D97-AF65-F5344CB8AC3E}">
        <p14:creationId xmlns:p14="http://schemas.microsoft.com/office/powerpoint/2010/main" val="8137981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Parts of a Queue</a:t>
            </a:r>
            <a:endParaRPr lang="en-JM" dirty="0"/>
          </a:p>
        </p:txBody>
      </p:sp>
      <p:sp>
        <p:nvSpPr>
          <p:cNvPr id="3" name="Content Placeholder 2"/>
          <p:cNvSpPr>
            <a:spLocks noGrp="1"/>
          </p:cNvSpPr>
          <p:nvPr>
            <p:ph idx="1"/>
          </p:nvPr>
        </p:nvSpPr>
        <p:spPr>
          <a:xfrm>
            <a:off x="374074" y="2603500"/>
            <a:ext cx="10349344" cy="3416300"/>
          </a:xfrm>
        </p:spPr>
        <p:txBody>
          <a:bodyPr>
            <a:normAutofit/>
          </a:bodyPr>
          <a:lstStyle/>
          <a:p>
            <a:pPr algn="just"/>
            <a:r>
              <a:rPr lang="en-US" b="1" dirty="0">
                <a:solidFill>
                  <a:srgbClr val="000000"/>
                </a:solidFill>
              </a:rPr>
              <a:t>Population of Customers: can be considered either limited (closed systems) or unlimited (open systems). Unlimited population represents a theoretical model of systems with a large number of possible customers (a bank on a busy street, a motorway petrol station). Example of a limited population may be a number of processes to be run (served) by a computer or a certain number of machines to be repaired by a service man. </a:t>
            </a:r>
          </a:p>
          <a:p>
            <a:pPr algn="just"/>
            <a:r>
              <a:rPr lang="en-US" b="1" dirty="0">
                <a:solidFill>
                  <a:srgbClr val="000000"/>
                </a:solidFill>
              </a:rPr>
              <a:t>Arrival: defines the way customers enter the system. Mostly the arrivals are </a:t>
            </a:r>
            <a:r>
              <a:rPr lang="en-US" b="1" dirty="0">
                <a:solidFill>
                  <a:schemeClr val="tx1"/>
                </a:solidFill>
              </a:rPr>
              <a:t>random with random intervals between two adjacent arrivals. Typically the arrival is described by a random distribution of intervals also called </a:t>
            </a:r>
            <a:r>
              <a:rPr lang="en-US" b="1" i="1" dirty="0">
                <a:solidFill>
                  <a:schemeClr val="tx1"/>
                </a:solidFill>
              </a:rPr>
              <a:t>Arrival Pattern</a:t>
            </a:r>
            <a:r>
              <a:rPr lang="en-US" b="1" dirty="0">
                <a:solidFill>
                  <a:schemeClr val="tx1"/>
                </a:solidFill>
              </a:rPr>
              <a:t>.</a:t>
            </a:r>
          </a:p>
          <a:p>
            <a:pPr algn="just"/>
            <a:r>
              <a:rPr lang="en-US" b="1" dirty="0">
                <a:solidFill>
                  <a:schemeClr val="tx1"/>
                </a:solidFill>
              </a:rPr>
              <a:t>Output: represents the way customers leave the system. Output is mostly ignored by theoretical models, but sometimes the customers leaving the server enter the queue again </a:t>
            </a:r>
          </a:p>
          <a:p>
            <a:endParaRPr lang="en-JM" b="1" dirty="0">
              <a:solidFill>
                <a:schemeClr val="tx1"/>
              </a:solidFill>
            </a:endParaRPr>
          </a:p>
        </p:txBody>
      </p:sp>
    </p:spTree>
    <p:extLst>
      <p:ext uri="{BB962C8B-B14F-4D97-AF65-F5344CB8AC3E}">
        <p14:creationId xmlns:p14="http://schemas.microsoft.com/office/powerpoint/2010/main" val="6421037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3886" y="726692"/>
            <a:ext cx="8825659" cy="706964"/>
          </a:xfrm>
        </p:spPr>
        <p:txBody>
          <a:bodyPr/>
          <a:lstStyle/>
          <a:p>
            <a:r>
              <a:rPr lang="en-US" dirty="0"/>
              <a:t>Queuing Models</a:t>
            </a:r>
            <a:endParaRPr lang="en-JM" dirty="0"/>
          </a:p>
        </p:txBody>
      </p:sp>
      <p:sp>
        <p:nvSpPr>
          <p:cNvPr id="3" name="Content Placeholder 2"/>
          <p:cNvSpPr>
            <a:spLocks noGrp="1"/>
          </p:cNvSpPr>
          <p:nvPr>
            <p:ph idx="1"/>
          </p:nvPr>
        </p:nvSpPr>
        <p:spPr>
          <a:xfrm>
            <a:off x="1153886" y="2350356"/>
            <a:ext cx="5584371" cy="4746172"/>
          </a:xfrm>
        </p:spPr>
        <p:txBody>
          <a:bodyPr>
            <a:noAutofit/>
          </a:bodyPr>
          <a:lstStyle/>
          <a:p>
            <a:pPr algn="just"/>
            <a:r>
              <a:rPr lang="en-US" b="1" dirty="0"/>
              <a:t>The customers’ entry into the service system depends upon the queue conditions. </a:t>
            </a:r>
          </a:p>
          <a:p>
            <a:pPr algn="just"/>
            <a:r>
              <a:rPr lang="en-US" b="1" dirty="0"/>
              <a:t>If at the time of customers’ arrival, the server is idle, then the customer is served immediately. Otherwise the customer is asked to join the queue, which can have several configurations.</a:t>
            </a:r>
          </a:p>
          <a:p>
            <a:pPr algn="just"/>
            <a:r>
              <a:rPr lang="en-US" b="1" dirty="0"/>
              <a:t>By configuration of the service system we mean how the service facilities exist. </a:t>
            </a:r>
          </a:p>
          <a:p>
            <a:pPr algn="just"/>
            <a:r>
              <a:rPr lang="en-US" b="1" dirty="0"/>
              <a:t>Service systems are usually classified in terms of their number of channels, or numbers of servers. </a:t>
            </a:r>
            <a:endParaRPr lang="en-JM" b="1" dirty="0"/>
          </a:p>
        </p:txBody>
      </p:sp>
      <p:pic>
        <p:nvPicPr>
          <p:cNvPr id="12292" name="Picture 4" descr="Image result for bank customer service clipa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57627" y="2350356"/>
            <a:ext cx="4509829" cy="34274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788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Queuing Models</a:t>
            </a:r>
            <a:endParaRPr lang="en-JM" dirty="0"/>
          </a:p>
        </p:txBody>
      </p:sp>
      <p:sp>
        <p:nvSpPr>
          <p:cNvPr id="3" name="Content Placeholder 2"/>
          <p:cNvSpPr>
            <a:spLocks noGrp="1"/>
          </p:cNvSpPr>
          <p:nvPr>
            <p:ph idx="1"/>
          </p:nvPr>
        </p:nvSpPr>
        <p:spPr>
          <a:xfrm>
            <a:off x="1306286" y="1709057"/>
            <a:ext cx="10198326" cy="4202165"/>
          </a:xfrm>
        </p:spPr>
        <p:txBody>
          <a:bodyPr numCol="2"/>
          <a:lstStyle/>
          <a:p>
            <a:r>
              <a:rPr lang="en-US" dirty="0"/>
              <a:t>Single Channel – Single Phase</a:t>
            </a:r>
          </a:p>
          <a:p>
            <a:r>
              <a:rPr lang="en-US" dirty="0"/>
              <a:t>Single Channel – Multi Phase </a:t>
            </a:r>
          </a:p>
          <a:p>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dirty="0"/>
              <a:t>Multi Channel – Single Phase</a:t>
            </a:r>
          </a:p>
          <a:p>
            <a:r>
              <a:rPr lang="en-US" dirty="0"/>
              <a:t>Multi Channel – Multi Phase</a:t>
            </a:r>
            <a:endParaRPr lang="en-JM" dirty="0"/>
          </a:p>
        </p:txBody>
      </p:sp>
      <p:pic>
        <p:nvPicPr>
          <p:cNvPr id="6" name="Picture 2" descr="http://images.slideplayer.com/26/8821494/slides/slide_5.jpg"/>
          <p:cNvPicPr>
            <a:picLocks noChangeAspect="1" noChangeArrowheads="1"/>
          </p:cNvPicPr>
          <p:nvPr/>
        </p:nvPicPr>
        <p:blipFill rotWithShape="1">
          <a:blip r:embed="rId2">
            <a:extLst>
              <a:ext uri="{28A0092B-C50C-407E-A947-70E740481C1C}">
                <a14:useLocalDpi xmlns:a14="http://schemas.microsoft.com/office/drawing/2010/main" val="0"/>
              </a:ext>
            </a:extLst>
          </a:blip>
          <a:srcRect l="8249" t="26929" r="7726" b="18274"/>
          <a:stretch/>
        </p:blipFill>
        <p:spPr bwMode="auto">
          <a:xfrm>
            <a:off x="3355345" y="2852058"/>
            <a:ext cx="6810323" cy="33310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51860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Queuing Models</a:t>
            </a:r>
            <a:endParaRPr lang="en-JM" dirty="0"/>
          </a:p>
        </p:txBody>
      </p:sp>
      <p:pic>
        <p:nvPicPr>
          <p:cNvPr id="4" name="Content Placeholder 3"/>
          <p:cNvPicPr>
            <a:picLocks noGrp="1" noChangeAspect="1"/>
          </p:cNvPicPr>
          <p:nvPr>
            <p:ph idx="1"/>
          </p:nvPr>
        </p:nvPicPr>
        <p:blipFill>
          <a:blip r:embed="rId2"/>
          <a:stretch>
            <a:fillRect/>
          </a:stretch>
        </p:blipFill>
        <p:spPr>
          <a:xfrm>
            <a:off x="2159365" y="2603500"/>
            <a:ext cx="6817583" cy="3416300"/>
          </a:xfrm>
          <a:prstGeom prst="rect">
            <a:avLst/>
          </a:prstGeom>
        </p:spPr>
      </p:pic>
    </p:spTree>
    <p:extLst>
      <p:ext uri="{BB962C8B-B14F-4D97-AF65-F5344CB8AC3E}">
        <p14:creationId xmlns:p14="http://schemas.microsoft.com/office/powerpoint/2010/main" val="9728898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Queuing Models</a:t>
            </a:r>
            <a:endParaRPr lang="en-JM" dirty="0"/>
          </a:p>
        </p:txBody>
      </p:sp>
      <p:pic>
        <p:nvPicPr>
          <p:cNvPr id="4" name="Content Placeholder 3"/>
          <p:cNvPicPr>
            <a:picLocks noGrp="1" noChangeAspect="1"/>
          </p:cNvPicPr>
          <p:nvPr>
            <p:ph idx="1"/>
          </p:nvPr>
        </p:nvPicPr>
        <p:blipFill>
          <a:blip r:embed="rId2"/>
          <a:stretch>
            <a:fillRect/>
          </a:stretch>
        </p:blipFill>
        <p:spPr>
          <a:xfrm>
            <a:off x="3188004" y="2133600"/>
            <a:ext cx="7717818" cy="3778250"/>
          </a:xfrm>
          <a:prstGeom prst="rect">
            <a:avLst/>
          </a:prstGeom>
        </p:spPr>
      </p:pic>
    </p:spTree>
    <p:extLst>
      <p:ext uri="{BB962C8B-B14F-4D97-AF65-F5344CB8AC3E}">
        <p14:creationId xmlns:p14="http://schemas.microsoft.com/office/powerpoint/2010/main" val="25804620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Queuing Models</a:t>
            </a:r>
            <a:endParaRPr lang="en-JM" dirty="0"/>
          </a:p>
        </p:txBody>
      </p:sp>
      <p:pic>
        <p:nvPicPr>
          <p:cNvPr id="4" name="Content Placeholder 3"/>
          <p:cNvPicPr>
            <a:picLocks noGrp="1" noChangeAspect="1"/>
          </p:cNvPicPr>
          <p:nvPr>
            <p:ph idx="1"/>
          </p:nvPr>
        </p:nvPicPr>
        <p:blipFill>
          <a:blip r:embed="rId2"/>
          <a:stretch>
            <a:fillRect/>
          </a:stretch>
        </p:blipFill>
        <p:spPr>
          <a:xfrm>
            <a:off x="3147897" y="2133600"/>
            <a:ext cx="7798031" cy="3778250"/>
          </a:xfrm>
          <a:prstGeom prst="rect">
            <a:avLst/>
          </a:prstGeom>
        </p:spPr>
      </p:pic>
    </p:spTree>
    <p:extLst>
      <p:ext uri="{BB962C8B-B14F-4D97-AF65-F5344CB8AC3E}">
        <p14:creationId xmlns:p14="http://schemas.microsoft.com/office/powerpoint/2010/main" val="6772422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Technology and customer flow</a:t>
            </a:r>
            <a:endParaRPr lang="en-JM" dirty="0"/>
          </a:p>
        </p:txBody>
      </p:sp>
      <p:sp>
        <p:nvSpPr>
          <p:cNvPr id="3" name="Content Placeholder 2"/>
          <p:cNvSpPr>
            <a:spLocks noGrp="1"/>
          </p:cNvSpPr>
          <p:nvPr>
            <p:ph idx="1"/>
          </p:nvPr>
        </p:nvSpPr>
        <p:spPr/>
        <p:txBody>
          <a:bodyPr/>
          <a:lstStyle/>
          <a:p>
            <a:pPr marL="0" indent="0">
              <a:buNone/>
            </a:pPr>
            <a:r>
              <a:rPr lang="en-US" dirty="0"/>
              <a:t>Technology improves:</a:t>
            </a:r>
          </a:p>
          <a:p>
            <a:r>
              <a:rPr lang="en-US" dirty="0"/>
              <a:t>Efficiency</a:t>
            </a:r>
          </a:p>
          <a:p>
            <a:r>
              <a:rPr lang="en-US" dirty="0"/>
              <a:t>Speed</a:t>
            </a:r>
          </a:p>
          <a:p>
            <a:r>
              <a:rPr lang="en-US" dirty="0"/>
              <a:t>Convenience</a:t>
            </a:r>
          </a:p>
          <a:p>
            <a:r>
              <a:rPr lang="en-US" dirty="0"/>
              <a:t>Diversification of service</a:t>
            </a:r>
          </a:p>
          <a:p>
            <a:r>
              <a:rPr lang="en-US" dirty="0"/>
              <a:t>Customer satisfaction</a:t>
            </a:r>
          </a:p>
          <a:p>
            <a:r>
              <a:rPr lang="en-US" dirty="0"/>
              <a:t>Staff productivity</a:t>
            </a:r>
          </a:p>
          <a:p>
            <a:r>
              <a:rPr lang="en-US" dirty="0" err="1"/>
              <a:t>Optimisation</a:t>
            </a:r>
            <a:r>
              <a:rPr lang="en-US" dirty="0"/>
              <a:t> of resources</a:t>
            </a:r>
          </a:p>
          <a:p>
            <a:pPr marL="0" indent="0">
              <a:buNone/>
            </a:pPr>
            <a:endParaRPr lang="en-JM" dirty="0"/>
          </a:p>
        </p:txBody>
      </p:sp>
      <p:pic>
        <p:nvPicPr>
          <p:cNvPr id="4098" name="Picture 2" descr="http://www.tonsincs.com/upload/big/product060685400127528701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1118" y="1855560"/>
            <a:ext cx="6000750" cy="4095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19663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Psychology &amp; Perceptions of Queue</a:t>
            </a:r>
            <a:endParaRPr lang="en-JM" dirty="0"/>
          </a:p>
        </p:txBody>
      </p:sp>
      <p:sp>
        <p:nvSpPr>
          <p:cNvPr id="3" name="Content Placeholder 2"/>
          <p:cNvSpPr>
            <a:spLocks noGrp="1"/>
          </p:cNvSpPr>
          <p:nvPr>
            <p:ph idx="1"/>
          </p:nvPr>
        </p:nvSpPr>
        <p:spPr>
          <a:xfrm>
            <a:off x="1295400" y="2133600"/>
            <a:ext cx="10209212" cy="4408714"/>
          </a:xfrm>
        </p:spPr>
        <p:txBody>
          <a:bodyPr>
            <a:normAutofit lnSpcReduction="10000"/>
          </a:bodyPr>
          <a:lstStyle/>
          <a:p>
            <a:r>
              <a:rPr lang="en-US" sz="2000" b="1" dirty="0"/>
              <a:t>Occupied Time Feels Shorter Than Unoccupied Time</a:t>
            </a:r>
          </a:p>
          <a:p>
            <a:pPr marL="0" indent="0">
              <a:buNone/>
            </a:pPr>
            <a:r>
              <a:rPr lang="en-US" sz="2000" b="1" dirty="0"/>
              <a:t>E.g. reading a magazine diverts the attention from the wait</a:t>
            </a:r>
          </a:p>
          <a:p>
            <a:r>
              <a:rPr lang="en-US" sz="2000" b="1" dirty="0"/>
              <a:t>Pre-process waits feel longer than in-process waits</a:t>
            </a:r>
          </a:p>
          <a:p>
            <a:pPr marL="0" indent="0">
              <a:buNone/>
            </a:pPr>
            <a:r>
              <a:rPr lang="en-US" sz="2000" b="1" dirty="0"/>
              <a:t>E.g. you have your meal ticket in hand waiting for your order</a:t>
            </a:r>
          </a:p>
          <a:p>
            <a:r>
              <a:rPr lang="en-US" sz="2000" b="1" dirty="0"/>
              <a:t>Anxiety Makes Waits Seem Longer </a:t>
            </a:r>
          </a:p>
          <a:p>
            <a:pPr marL="0" indent="0">
              <a:buNone/>
            </a:pPr>
            <a:r>
              <a:rPr lang="en-US" sz="2000" b="1" dirty="0"/>
              <a:t>E.g. Waiting for a critical medical diagnosis i.e. benign/malignant tumor</a:t>
            </a:r>
          </a:p>
          <a:p>
            <a:r>
              <a:rPr lang="en-US" sz="2000" b="1" dirty="0"/>
              <a:t>Uncertain Waits Are Longer than Known, Finite Waits</a:t>
            </a:r>
          </a:p>
          <a:p>
            <a:pPr marL="0" indent="0">
              <a:buNone/>
            </a:pPr>
            <a:r>
              <a:rPr lang="en-US" sz="2000" b="1" dirty="0"/>
              <a:t>E.g. Sending a package via regular mail overseas versus a set time for express service of 3-5 days</a:t>
            </a:r>
          </a:p>
          <a:p>
            <a:r>
              <a:rPr lang="en-US" sz="2000" b="1" dirty="0"/>
              <a:t>Physically uncomfortable waits feel longer</a:t>
            </a:r>
          </a:p>
          <a:p>
            <a:pPr marL="0" indent="0">
              <a:buNone/>
            </a:pPr>
            <a:r>
              <a:rPr lang="en-US" sz="2000" b="1" dirty="0"/>
              <a:t>E.g. Standing in line under sunlight vs. sitting in an air conditioned lounge</a:t>
            </a:r>
          </a:p>
          <a:p>
            <a:endParaRPr lang="en-US" sz="2000" b="1" dirty="0"/>
          </a:p>
          <a:p>
            <a:endParaRPr lang="en-JM" sz="2000" b="1" dirty="0"/>
          </a:p>
        </p:txBody>
      </p:sp>
    </p:spTree>
    <p:extLst>
      <p:ext uri="{BB962C8B-B14F-4D97-AF65-F5344CB8AC3E}">
        <p14:creationId xmlns:p14="http://schemas.microsoft.com/office/powerpoint/2010/main" val="37804227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Psychology &amp; Perceptions of Queue</a:t>
            </a:r>
            <a:endParaRPr lang="en-JM" dirty="0"/>
          </a:p>
        </p:txBody>
      </p:sp>
      <p:sp>
        <p:nvSpPr>
          <p:cNvPr id="3" name="Content Placeholder 2"/>
          <p:cNvSpPr>
            <a:spLocks noGrp="1"/>
          </p:cNvSpPr>
          <p:nvPr>
            <p:ph idx="1"/>
          </p:nvPr>
        </p:nvSpPr>
        <p:spPr>
          <a:xfrm>
            <a:off x="1360714" y="2133599"/>
            <a:ext cx="10143898" cy="4474029"/>
          </a:xfrm>
        </p:spPr>
        <p:txBody>
          <a:bodyPr>
            <a:normAutofit lnSpcReduction="10000"/>
          </a:bodyPr>
          <a:lstStyle/>
          <a:p>
            <a:pPr algn="just"/>
            <a:r>
              <a:rPr lang="en-US" sz="2000" b="1" dirty="0"/>
              <a:t>Unexplained Waits Are Longer than Explained Waits</a:t>
            </a:r>
          </a:p>
          <a:p>
            <a:pPr marL="0" indent="0" algn="just">
              <a:buNone/>
            </a:pPr>
            <a:r>
              <a:rPr lang="en-US" sz="2000" b="1" dirty="0"/>
              <a:t>E.g. A service is taking longer than usual without an excuse i.e. repairing a piece of equipment</a:t>
            </a:r>
          </a:p>
          <a:p>
            <a:pPr algn="just"/>
            <a:r>
              <a:rPr lang="en-US" sz="2000" b="1" dirty="0"/>
              <a:t>Unfair Waits Are Longer than Equitable Waits</a:t>
            </a:r>
          </a:p>
          <a:p>
            <a:pPr marL="0" indent="0" algn="just">
              <a:buNone/>
            </a:pPr>
            <a:r>
              <a:rPr lang="en-US" sz="2000" b="1" dirty="0"/>
              <a:t>E.g. If another customer cuts the line it is aggravating</a:t>
            </a:r>
          </a:p>
          <a:p>
            <a:pPr algn="just"/>
            <a:r>
              <a:rPr lang="en-US" sz="2000" b="1" dirty="0"/>
              <a:t>The More Valuable the Service, the Longer the Customer Will Wait</a:t>
            </a:r>
          </a:p>
          <a:p>
            <a:pPr marL="0" indent="0" algn="just">
              <a:buNone/>
            </a:pPr>
            <a:r>
              <a:rPr lang="en-US" sz="2000" b="1" dirty="0"/>
              <a:t>E.g. Waiting to get into a star-studded concert is an experience in itself</a:t>
            </a:r>
          </a:p>
          <a:p>
            <a:pPr algn="just"/>
            <a:r>
              <a:rPr lang="en-US" sz="2000" b="1" dirty="0"/>
              <a:t>Solo Waits Feel Longer than Group Waits</a:t>
            </a:r>
          </a:p>
          <a:p>
            <a:pPr marL="0" indent="0" algn="just">
              <a:buNone/>
            </a:pPr>
            <a:r>
              <a:rPr lang="en-US" sz="2000" b="1" dirty="0"/>
              <a:t>E.g. People feel more comfortable when they share their frustration</a:t>
            </a:r>
          </a:p>
          <a:p>
            <a:pPr algn="just"/>
            <a:r>
              <a:rPr lang="en-US" sz="2000" b="1" dirty="0"/>
              <a:t>Waits seem longer to new or occasional users</a:t>
            </a:r>
          </a:p>
          <a:p>
            <a:pPr marL="0" indent="0" algn="just">
              <a:buNone/>
            </a:pPr>
            <a:r>
              <a:rPr lang="en-US" sz="2000" b="1" dirty="0"/>
              <a:t>E.g. The service process cannot be </a:t>
            </a:r>
            <a:r>
              <a:rPr lang="en-US" sz="2000" b="1" dirty="0" err="1"/>
              <a:t>rationalised</a:t>
            </a:r>
            <a:r>
              <a:rPr lang="en-US" sz="2000" b="1" dirty="0"/>
              <a:t> due to unfamiliarity</a:t>
            </a:r>
          </a:p>
        </p:txBody>
      </p:sp>
    </p:spTree>
    <p:extLst>
      <p:ext uri="{BB962C8B-B14F-4D97-AF65-F5344CB8AC3E}">
        <p14:creationId xmlns:p14="http://schemas.microsoft.com/office/powerpoint/2010/main" val="15433633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PRACTICE QUESTION</a:t>
            </a:r>
            <a:endParaRPr lang="en-JM" dirty="0"/>
          </a:p>
        </p:txBody>
      </p:sp>
      <p:sp>
        <p:nvSpPr>
          <p:cNvPr id="3" name="Content Placeholder 2"/>
          <p:cNvSpPr>
            <a:spLocks noGrp="1"/>
          </p:cNvSpPr>
          <p:nvPr>
            <p:ph idx="1"/>
          </p:nvPr>
        </p:nvSpPr>
        <p:spPr>
          <a:xfrm>
            <a:off x="740229" y="2773878"/>
            <a:ext cx="10463296" cy="3777622"/>
          </a:xfrm>
        </p:spPr>
        <p:txBody>
          <a:bodyPr>
            <a:noAutofit/>
          </a:bodyPr>
          <a:lstStyle/>
          <a:p>
            <a:pPr marL="457200" indent="-457200" algn="just">
              <a:buAutoNum type="alphaLcPeriod"/>
            </a:pPr>
            <a:r>
              <a:rPr lang="en-US" sz="2000" dirty="0"/>
              <a:t>Define Customer Flow. (2 mark)</a:t>
            </a:r>
          </a:p>
          <a:p>
            <a:pPr marL="457200" indent="-457200" algn="just">
              <a:buAutoNum type="alphaLcPeriod"/>
            </a:pPr>
            <a:r>
              <a:rPr lang="en-US" sz="2000" dirty="0"/>
              <a:t>Discuss the advantages and disadvantages of linear waiting and virtual waiting. (5 marks)</a:t>
            </a:r>
          </a:p>
          <a:p>
            <a:pPr marL="457200" indent="-457200" algn="just">
              <a:buAutoNum type="alphaLcPeriod"/>
            </a:pPr>
            <a:r>
              <a:rPr lang="en-US" sz="2000" dirty="0"/>
              <a:t>List the four (4) queuing models and discuss the configuration of two (2) models. (8 marks)</a:t>
            </a:r>
          </a:p>
          <a:p>
            <a:pPr marL="457200" indent="-457200" algn="just">
              <a:buAutoNum type="alphaLcPeriod"/>
            </a:pPr>
            <a:r>
              <a:rPr lang="en-US" sz="2000" dirty="0"/>
              <a:t>Explain how you would make waiting easier and more pleasant at your service organisation by explaining five (5) perceptions and psychology of people in waiting. (15 marks)</a:t>
            </a:r>
            <a:endParaRPr lang="en-JM" sz="2000" dirty="0"/>
          </a:p>
          <a:p>
            <a:pPr marL="0" indent="0" algn="r">
              <a:buNone/>
            </a:pPr>
            <a:r>
              <a:rPr lang="en-JM" sz="2000" b="1" dirty="0"/>
              <a:t>(Total 30 Marks)</a:t>
            </a:r>
            <a:r>
              <a:rPr lang="en-JM" sz="2000" dirty="0"/>
              <a:t> </a:t>
            </a:r>
          </a:p>
          <a:p>
            <a:endParaRPr lang="en-JM" sz="2000" dirty="0"/>
          </a:p>
        </p:txBody>
      </p:sp>
    </p:spTree>
    <p:extLst>
      <p:ext uri="{BB962C8B-B14F-4D97-AF65-F5344CB8AC3E}">
        <p14:creationId xmlns:p14="http://schemas.microsoft.com/office/powerpoint/2010/main" val="30829220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Advanced Reading: </a:t>
            </a:r>
            <a:br>
              <a:rPr lang="en-US" dirty="0"/>
            </a:br>
            <a:r>
              <a:rPr lang="en-US" dirty="0"/>
              <a:t>Unit 4</a:t>
            </a:r>
          </a:p>
        </p:txBody>
      </p:sp>
      <p:sp>
        <p:nvSpPr>
          <p:cNvPr id="3" name="Content Placeholder 2"/>
          <p:cNvSpPr>
            <a:spLocks noGrp="1"/>
          </p:cNvSpPr>
          <p:nvPr>
            <p:ph idx="1"/>
          </p:nvPr>
        </p:nvSpPr>
        <p:spPr/>
        <p:txBody>
          <a:bodyPr>
            <a:normAutofit/>
          </a:bodyPr>
          <a:lstStyle/>
          <a:p>
            <a:pPr marL="0" indent="0">
              <a:buNone/>
            </a:pPr>
            <a:r>
              <a:rPr lang="en-US" sz="2400" dirty="0"/>
              <a:t>Unit 4 – Communication and Customer Service</a:t>
            </a:r>
          </a:p>
        </p:txBody>
      </p:sp>
    </p:spTree>
    <p:extLst>
      <p:ext uri="{BB962C8B-B14F-4D97-AF65-F5344CB8AC3E}">
        <p14:creationId xmlns:p14="http://schemas.microsoft.com/office/powerpoint/2010/main" val="38343606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a:xfrm>
            <a:off x="870857" y="1719944"/>
            <a:ext cx="10633755" cy="4550228"/>
          </a:xfrm>
        </p:spPr>
        <p:txBody>
          <a:bodyPr>
            <a:normAutofit fontScale="92500"/>
          </a:bodyPr>
          <a:lstStyle/>
          <a:p>
            <a:r>
              <a:rPr lang="en-US" dirty="0"/>
              <a:t>People in line from </a:t>
            </a:r>
            <a:r>
              <a:rPr lang="en-US" dirty="0">
                <a:hlinkClick r:id="rId2"/>
              </a:rPr>
              <a:t>http://furthertheconversation.com/wp-content/uploads/2014/08/waiting-in-line.jpg</a:t>
            </a:r>
            <a:endParaRPr lang="en-US" dirty="0"/>
          </a:p>
          <a:p>
            <a:r>
              <a:rPr lang="en-US" dirty="0"/>
              <a:t>Queueing models chart from </a:t>
            </a:r>
            <a:r>
              <a:rPr lang="en-US" dirty="0">
                <a:hlinkClick r:id="rId3"/>
              </a:rPr>
              <a:t>https://www.isixsigma.com/industries/retail/queuing-theory-and-practice-source-competitive-advantage/</a:t>
            </a:r>
            <a:r>
              <a:rPr lang="en-US" dirty="0"/>
              <a:t> and </a:t>
            </a:r>
            <a:r>
              <a:rPr lang="en-US" dirty="0">
                <a:hlinkClick r:id="rId4"/>
              </a:rPr>
              <a:t>http://images.slideplayer.com/26/8821494/slides/slide_5.jpg</a:t>
            </a:r>
            <a:endParaRPr lang="en-US" dirty="0"/>
          </a:p>
          <a:p>
            <a:r>
              <a:rPr lang="en-US" dirty="0"/>
              <a:t>Queueing Theory from </a:t>
            </a:r>
            <a:r>
              <a:rPr lang="en-US" dirty="0">
                <a:hlinkClick r:id="rId5"/>
              </a:rPr>
              <a:t>http://www.slideshare.net/benghuid/queueing-theory-7085316</a:t>
            </a:r>
            <a:r>
              <a:rPr lang="en-US" dirty="0"/>
              <a:t> and </a:t>
            </a:r>
            <a:r>
              <a:rPr lang="en-US" dirty="0">
                <a:hlinkClick r:id="rId6"/>
              </a:rPr>
              <a:t>http://www.slideshare.net/amitcyrus/queuing-theory</a:t>
            </a:r>
            <a:r>
              <a:rPr lang="en-US" dirty="0"/>
              <a:t> and </a:t>
            </a:r>
            <a:r>
              <a:rPr lang="en-US" dirty="0">
                <a:hlinkClick r:id="rId7"/>
              </a:rPr>
              <a:t>http://www.slideshare.net/avtarsingh/queuing-theory-2129896</a:t>
            </a:r>
            <a:endParaRPr lang="en-US" dirty="0"/>
          </a:p>
          <a:p>
            <a:r>
              <a:rPr lang="en-US" dirty="0"/>
              <a:t>Parts of a Queue from </a:t>
            </a:r>
            <a:r>
              <a:rPr lang="en-US" dirty="0">
                <a:hlinkClick r:id="rId8"/>
              </a:rPr>
              <a:t>http://www.slideshare.net/RIZWANKHURRAM/heizer-mod-d</a:t>
            </a:r>
            <a:endParaRPr lang="en-US" dirty="0"/>
          </a:p>
          <a:p>
            <a:r>
              <a:rPr lang="en-US" dirty="0"/>
              <a:t>Clocks from </a:t>
            </a:r>
            <a:r>
              <a:rPr lang="en-US" dirty="0">
                <a:hlinkClick r:id="rId9"/>
              </a:rPr>
              <a:t>http://blog.innotas.com/wp-content/uploads/2014/06/Time-Tracking.png</a:t>
            </a:r>
            <a:endParaRPr lang="en-US" dirty="0"/>
          </a:p>
          <a:p>
            <a:r>
              <a:rPr lang="en-US" dirty="0"/>
              <a:t>Psychology of waits from </a:t>
            </a:r>
            <a:r>
              <a:rPr lang="en-US" dirty="0">
                <a:hlinkClick r:id="rId10"/>
              </a:rPr>
              <a:t>http://www.slideshare.net/28Sneha/8managing-demand-and-capacity-and-waiting-line-strategies</a:t>
            </a:r>
            <a:endParaRPr lang="en-US" dirty="0"/>
          </a:p>
          <a:p>
            <a:r>
              <a:rPr lang="en-US" dirty="0"/>
              <a:t>Customer flow notes from </a:t>
            </a:r>
            <a:r>
              <a:rPr lang="en-US" dirty="0">
                <a:hlinkClick r:id="rId11"/>
              </a:rPr>
              <a:t>http://www.queuelines.com/queuing-blog/customer-flow-management-the-importance-of-managing-customer-lines-and-wait-times-at-your-location/</a:t>
            </a:r>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0348761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FF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61CB06E496EC6F409B817EB2DFAF0878" ma:contentTypeVersion="0" ma:contentTypeDescription="Create a new document." ma:contentTypeScope="" ma:versionID="e0de4f0d1220f2881615154cb786c350">
  <xsd:schema xmlns:xsd="http://www.w3.org/2001/XMLSchema" xmlns:xs="http://www.w3.org/2001/XMLSchema" xmlns:p="http://schemas.microsoft.com/office/2006/metadata/properties" targetNamespace="http://schemas.microsoft.com/office/2006/metadata/properties" ma:root="true" ma:fieldsID="b764bea3eb9b1a5be8fd57fac5fb459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F880FB8-B498-440C-956A-61DFCB376E2B}">
  <ds:schemaRefs>
    <ds:schemaRef ds:uri="http://schemas.microsoft.com/sharepoint/v3/contenttype/forms"/>
  </ds:schemaRefs>
</ds:datastoreItem>
</file>

<file path=customXml/itemProps2.xml><?xml version="1.0" encoding="utf-8"?>
<ds:datastoreItem xmlns:ds="http://schemas.openxmlformats.org/officeDocument/2006/customXml" ds:itemID="{C634B20A-8193-4266-84D2-15AD2A184D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9B141193-7ACF-402A-82E1-920591980C63}">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Ion Boardroom</Template>
  <TotalTime>4463</TotalTime>
  <Words>2551</Words>
  <Application>Microsoft Office PowerPoint</Application>
  <PresentationFormat>Widescreen</PresentationFormat>
  <Paragraphs>186</Paragraphs>
  <Slides>37</Slides>
  <Notes>0</Notes>
  <HiddenSlides>0</HiddenSlides>
  <MMClips>0</MMClips>
  <ScaleCrop>false</ScaleCrop>
  <HeadingPairs>
    <vt:vector size="4" baseType="variant">
      <vt:variant>
        <vt:lpstr>Theme</vt:lpstr>
      </vt:variant>
      <vt:variant>
        <vt:i4>1</vt:i4>
      </vt:variant>
      <vt:variant>
        <vt:lpstr>Slide Titles</vt:lpstr>
      </vt:variant>
      <vt:variant>
        <vt:i4>37</vt:i4>
      </vt:variant>
    </vt:vector>
  </HeadingPairs>
  <TitlesOfParts>
    <vt:vector size="38" baseType="lpstr">
      <vt:lpstr>Ion Boardroom</vt:lpstr>
      <vt:lpstr>CUSTOMER SERVICE: Unit 3</vt:lpstr>
      <vt:lpstr>UNIT OBJECTIVES</vt:lpstr>
      <vt:lpstr>Where do we often join lines for service?</vt:lpstr>
      <vt:lpstr>Queuing/waiting</vt:lpstr>
      <vt:lpstr>WHAT IS CUSTOMER FLOW/management?</vt:lpstr>
      <vt:lpstr>Importance of customer flow</vt:lpstr>
      <vt:lpstr>Why should we MANAGE CUSTOMER FLOW?</vt:lpstr>
      <vt:lpstr>PowerPoint Presentation</vt:lpstr>
      <vt:lpstr>ASSESSING CUSTOMER FLOW</vt:lpstr>
      <vt:lpstr>Managing customer flow</vt:lpstr>
      <vt:lpstr>Application of customer flow management</vt:lpstr>
      <vt:lpstr>The customer flow management process</vt:lpstr>
      <vt:lpstr>The customer flow management process</vt:lpstr>
      <vt:lpstr>The customer flow management process</vt:lpstr>
      <vt:lpstr>PowerPoint Presentation</vt:lpstr>
      <vt:lpstr>How Queues work</vt:lpstr>
      <vt:lpstr>How Queues work</vt:lpstr>
      <vt:lpstr>LINEAR WAITING</vt:lpstr>
      <vt:lpstr>LINEAR WAITING</vt:lpstr>
      <vt:lpstr>LINEAR WAITING</vt:lpstr>
      <vt:lpstr>VIRTUAL WAITING</vt:lpstr>
      <vt:lpstr>VIRTUAL WAITING</vt:lpstr>
      <vt:lpstr>Queuing Systems</vt:lpstr>
      <vt:lpstr>Characteristics of a customer flow system</vt:lpstr>
      <vt:lpstr>Parts of a Queue</vt:lpstr>
      <vt:lpstr>Parts of a Queue</vt:lpstr>
      <vt:lpstr>Queuing Models</vt:lpstr>
      <vt:lpstr>Queuing Models</vt:lpstr>
      <vt:lpstr>Queuing Models</vt:lpstr>
      <vt:lpstr>Queuing Models</vt:lpstr>
      <vt:lpstr>Queuing Models</vt:lpstr>
      <vt:lpstr>Technology and customer flow</vt:lpstr>
      <vt:lpstr>Psychology &amp; Perceptions of Queue</vt:lpstr>
      <vt:lpstr>Psychology &amp; Perceptions of Queue</vt:lpstr>
      <vt:lpstr>PRACTICE QUESTION</vt:lpstr>
      <vt:lpstr>Advanced Reading:  Unit 4</vt:lpstr>
      <vt:lpstr>References</vt:lpstr>
    </vt:vector>
  </TitlesOfParts>
  <Company>HOME/OFFICE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SERVICE: Unit1</dc:title>
  <dc:creator>VAIO123</dc:creator>
  <cp:lastModifiedBy>Donna Morgan</cp:lastModifiedBy>
  <cp:revision>111</cp:revision>
  <dcterms:created xsi:type="dcterms:W3CDTF">2017-01-16T20:24:43Z</dcterms:created>
  <dcterms:modified xsi:type="dcterms:W3CDTF">2025-04-28T02:19:01Z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0x01010061CB06E496EC6F409B817EB2DFAF0878</vt:lpwstr>
  </property>
</Properties>
</file>