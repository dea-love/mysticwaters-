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sldIdLst>
    <p:sldId id="387" r:id="rId5"/>
    <p:sldId id="257" r:id="rId6"/>
    <p:sldId id="342" r:id="rId7"/>
    <p:sldId id="364" r:id="rId8"/>
    <p:sldId id="365" r:id="rId9"/>
    <p:sldId id="366" r:id="rId10"/>
    <p:sldId id="369" r:id="rId11"/>
    <p:sldId id="346" r:id="rId12"/>
    <p:sldId id="359" r:id="rId13"/>
    <p:sldId id="379" r:id="rId14"/>
    <p:sldId id="380" r:id="rId15"/>
    <p:sldId id="377" r:id="rId16"/>
    <p:sldId id="347" r:id="rId17"/>
    <p:sldId id="348" r:id="rId18"/>
    <p:sldId id="360" r:id="rId19"/>
    <p:sldId id="361" r:id="rId20"/>
    <p:sldId id="362" r:id="rId21"/>
    <p:sldId id="363" r:id="rId22"/>
    <p:sldId id="370" r:id="rId23"/>
    <p:sldId id="371" r:id="rId24"/>
    <p:sldId id="372" r:id="rId25"/>
    <p:sldId id="349" r:id="rId26"/>
    <p:sldId id="356" r:id="rId27"/>
    <p:sldId id="373" r:id="rId28"/>
    <p:sldId id="351" r:id="rId29"/>
    <p:sldId id="352" r:id="rId30"/>
    <p:sldId id="368" r:id="rId31"/>
    <p:sldId id="358" r:id="rId32"/>
    <p:sldId id="353" r:id="rId33"/>
    <p:sldId id="354" r:id="rId34"/>
    <p:sldId id="355" r:id="rId35"/>
    <p:sldId id="384" r:id="rId36"/>
    <p:sldId id="385" r:id="rId37"/>
    <p:sldId id="386" r:id="rId38"/>
    <p:sldId id="357" r:id="rId39"/>
    <p:sldId id="382" r:id="rId40"/>
    <p:sldId id="381" r:id="rId41"/>
    <p:sldId id="367" r:id="rId42"/>
    <p:sldId id="338" r:id="rId43"/>
    <p:sldId id="383" r:id="rId44"/>
    <p:sldId id="282" r:id="rId45"/>
    <p:sldId id="340" r:id="rId4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41F61E-EFF9-4266-8372-E7359D8DF2DF}" v="6" dt="2025-04-23T02:08:50.7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58" d="100"/>
          <a:sy n="58" d="100"/>
        </p:scale>
        <p:origin x="95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48A87A34-81AB-432B-8DAE-1953F412C126}" type="datetimeFigureOut">
              <a:rPr lang="en-US" dirty="0"/>
              <a:t>4/27/2025</a:t>
            </a:fld>
            <a:endParaRPr lang="en-US" dirty="0"/>
          </a:p>
        </p:txBody>
      </p:sp>
      <p:sp>
        <p:nvSpPr>
          <p:cNvPr id="5" name="Footer Placeholder 4"/>
          <p:cNvSpPr>
            <a:spLocks noGrp="1"/>
          </p:cNvSpPr>
          <p:nvPr>
            <p:ph type="ftr" sz="quarter" idx="11"/>
          </p:nvPr>
        </p:nvSpPr>
        <p:spPr>
          <a:xfrm>
            <a:off x="1371600" y="4323845"/>
            <a:ext cx="6400800" cy="365125"/>
          </a:xfrm>
        </p:spPr>
        <p:txBody>
          <a:bodyPr/>
          <a:lstStyle/>
          <a:p>
            <a:endParaRPr lang="en-US" dirty="0"/>
          </a:p>
        </p:txBody>
      </p:sp>
      <p:sp>
        <p:nvSpPr>
          <p:cNvPr id="6" name="Slide Number Placeholder 5"/>
          <p:cNvSpPr>
            <a:spLocks noGrp="1"/>
          </p:cNvSpPr>
          <p:nvPr>
            <p:ph type="sldNum" sz="quarter" idx="12"/>
          </p:nvPr>
        </p:nvSpPr>
        <p:spPr>
          <a:xfrm>
            <a:off x="8077200" y="1430866"/>
            <a:ext cx="2743200"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4/27/2025</a:t>
            </a:fld>
            <a:endParaRPr lang="en-US" dirty="0"/>
          </a:p>
        </p:txBody>
      </p:sp>
      <p:sp>
        <p:nvSpPr>
          <p:cNvPr id="5" name="Footer Placeholder 4"/>
          <p:cNvSpPr>
            <a:spLocks noGrp="1"/>
          </p:cNvSpPr>
          <p:nvPr>
            <p:ph type="ftr" sz="quarter" idx="11"/>
          </p:nvPr>
        </p:nvSpPr>
        <p:spPr>
          <a:xfrm>
            <a:off x="685800" y="381001"/>
            <a:ext cx="6991492" cy="36406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4/27/2025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4/27/2025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4/27/2025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4/27/2025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4/27/2025</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4/27/2025</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48A87A34-81AB-432B-8DAE-1953F412C126}" type="datetimeFigureOut">
              <a:rPr lang="en-US" dirty="0"/>
              <a:pPr/>
              <a:t>4/27/2025</a:t>
            </a:fld>
            <a:endParaRPr lang="en-US" dirty="0"/>
          </a:p>
        </p:txBody>
      </p:sp>
      <p:sp>
        <p:nvSpPr>
          <p:cNvPr id="6" name="Footer Placeholder 5"/>
          <p:cNvSpPr>
            <a:spLocks noGrp="1"/>
          </p:cNvSpPr>
          <p:nvPr>
            <p:ph type="ftr" sz="quarter" idx="11"/>
          </p:nvPr>
        </p:nvSpPr>
        <p:spPr>
          <a:xfrm>
            <a:off x="685800" y="378883"/>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4/27/2025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4/27/2025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48A87A34-81AB-432B-8DAE-1953F412C126}" type="datetimeFigureOut">
              <a:rPr lang="en-US" dirty="0"/>
              <a:pPr/>
              <a:t>4/27/2025</a:t>
            </a:fld>
            <a:endParaRPr lang="en-US" dirty="0"/>
          </a:p>
        </p:txBody>
      </p:sp>
      <p:sp>
        <p:nvSpPr>
          <p:cNvPr id="5" name="Footer Placeholder 4"/>
          <p:cNvSpPr>
            <a:spLocks noGrp="1"/>
          </p:cNvSpPr>
          <p:nvPr>
            <p:ph type="ftr" sz="quarter" idx="11"/>
          </p:nvPr>
        </p:nvSpPr>
        <p:spPr>
          <a:xfrm>
            <a:off x="685800" y="381000"/>
            <a:ext cx="6991492" cy="36512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2-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4/27/2025</a:t>
            </a:fld>
            <a:endParaRPr lang="en-US" dirty="0"/>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www.slideshare.net/namuj/barriers-to-communication-34297156?qid=598928b2-bd73-4918-96fa-e148ee50162f&amp;v=&amp;b=&amp;from_search=2" TargetMode="External"/><Relationship Id="rId7" Type="http://schemas.openxmlformats.org/officeDocument/2006/relationships/hyperlink" Target="https://www.surveymonkey.com/mp/6-keys-improving-teams-customer-service-skills/" TargetMode="External"/><Relationship Id="rId2" Type="http://schemas.openxmlformats.org/officeDocument/2006/relationships/hyperlink" Target="https://thebusinesscommunication.com/types-of-communication-barriers/" TargetMode="External"/><Relationship Id="rId1" Type="http://schemas.openxmlformats.org/officeDocument/2006/relationships/slideLayout" Target="../slideLayouts/slideLayout2.xml"/><Relationship Id="rId6" Type="http://schemas.openxmlformats.org/officeDocument/2006/relationships/hyperlink" Target="http://msue.anr.msu.edu/news/eye_contact_an_introduction_to_its_role_in_communication" TargetMode="External"/><Relationship Id="rId5" Type="http://schemas.openxmlformats.org/officeDocument/2006/relationships/hyperlink" Target="https://nosweatpublicspeaking.com/verbal-communication-2-inflection/" TargetMode="External"/><Relationship Id="rId4" Type="http://schemas.openxmlformats.org/officeDocument/2006/relationships/hyperlink" Target="http://www.slideshare.net/tirthamal2010/communication-ppt-26816723?qid=efa5a719-e36e-45f3-99b8-308792e1bc3d&amp;v=&amp;b=&amp;from_search=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57943" y="1455063"/>
            <a:ext cx="9971964" cy="826584"/>
          </a:xfrm>
        </p:spPr>
        <p:txBody>
          <a:bodyPr>
            <a:normAutofit fontScale="90000"/>
          </a:bodyPr>
          <a:lstStyle/>
          <a:p>
            <a:pPr algn="r"/>
            <a:r>
              <a:rPr lang="en-US" dirty="0"/>
              <a:t>CUSTOMER SERVICE: Unit 4</a:t>
            </a:r>
          </a:p>
        </p:txBody>
      </p:sp>
      <p:pic>
        <p:nvPicPr>
          <p:cNvPr id="3076" name="Picture 4" descr="Image result for hotel servic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6877" y="2379717"/>
            <a:ext cx="5078381" cy="2587712"/>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51122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UNIT OBJECTIVES</a:t>
            </a:r>
          </a:p>
        </p:txBody>
      </p:sp>
      <p:sp>
        <p:nvSpPr>
          <p:cNvPr id="3" name="Content Placeholder 2"/>
          <p:cNvSpPr>
            <a:spLocks noGrp="1"/>
          </p:cNvSpPr>
          <p:nvPr>
            <p:ph idx="1"/>
          </p:nvPr>
        </p:nvSpPr>
        <p:spPr>
          <a:xfrm>
            <a:off x="1248092" y="1748020"/>
            <a:ext cx="8915400" cy="4198036"/>
          </a:xfrm>
        </p:spPr>
        <p:txBody>
          <a:bodyPr>
            <a:noAutofit/>
          </a:bodyPr>
          <a:lstStyle/>
          <a:p>
            <a:pPr marL="0" indent="0">
              <a:buNone/>
            </a:pPr>
            <a:r>
              <a:rPr lang="en-US" sz="2400" b="1" dirty="0"/>
              <a:t>Unit 4 – Communication and Customer Service</a:t>
            </a:r>
          </a:p>
          <a:p>
            <a:r>
              <a:rPr lang="en-US" dirty="0"/>
              <a:t>Communication process</a:t>
            </a:r>
          </a:p>
          <a:p>
            <a:r>
              <a:rPr lang="en-US" dirty="0"/>
              <a:t>Reasons for communication</a:t>
            </a:r>
          </a:p>
          <a:p>
            <a:r>
              <a:rPr lang="en-US" dirty="0"/>
              <a:t>Formal vs. informal communication</a:t>
            </a:r>
          </a:p>
          <a:p>
            <a:r>
              <a:rPr lang="en-US" dirty="0"/>
              <a:t>Listening skills/</a:t>
            </a:r>
          </a:p>
          <a:p>
            <a:r>
              <a:rPr lang="en-US" dirty="0"/>
              <a:t>Barriers to communication/Phrases to avoid</a:t>
            </a:r>
          </a:p>
          <a:p>
            <a:r>
              <a:rPr lang="en-US" dirty="0"/>
              <a:t>Voice inflection</a:t>
            </a:r>
          </a:p>
          <a:p>
            <a:r>
              <a:rPr lang="en-US" dirty="0"/>
              <a:t>Eye contact</a:t>
            </a:r>
          </a:p>
          <a:p>
            <a:r>
              <a:rPr lang="en-US" dirty="0"/>
              <a:t>Telephone skills</a:t>
            </a:r>
          </a:p>
          <a:p>
            <a:r>
              <a:rPr lang="en-US" dirty="0"/>
              <a:t>Dealing with difficult customers</a:t>
            </a:r>
          </a:p>
          <a:p>
            <a:r>
              <a:rPr lang="en-US" dirty="0"/>
              <a:t>Improving communication</a:t>
            </a:r>
          </a:p>
          <a:p>
            <a:r>
              <a:rPr lang="en-US" dirty="0"/>
              <a:t>Social media</a:t>
            </a:r>
          </a:p>
        </p:txBody>
      </p:sp>
    </p:spTree>
    <p:extLst>
      <p:ext uri="{BB962C8B-B14F-4D97-AF65-F5344CB8AC3E}">
        <p14:creationId xmlns:p14="http://schemas.microsoft.com/office/powerpoint/2010/main" val="39130348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a:buFont typeface="Wingdings" panose="05000000000000000000" pitchFamily="2" charset="2"/>
              <a:buNone/>
            </a:pPr>
            <a:r>
              <a:rPr lang="en-US" altLang="en-US" dirty="0"/>
              <a:t>Communication</a:t>
            </a:r>
          </a:p>
        </p:txBody>
      </p:sp>
      <p:sp>
        <p:nvSpPr>
          <p:cNvPr id="7171" name="Rectangle 3"/>
          <p:cNvSpPr>
            <a:spLocks noGrp="1" noChangeArrowheads="1"/>
          </p:cNvSpPr>
          <p:nvPr>
            <p:ph idx="1"/>
          </p:nvPr>
        </p:nvSpPr>
        <p:spPr>
          <a:xfrm>
            <a:off x="685800" y="2194560"/>
            <a:ext cx="10820400" cy="4587240"/>
          </a:xfrm>
        </p:spPr>
        <p:txBody>
          <a:bodyPr>
            <a:normAutofit/>
          </a:bodyPr>
          <a:lstStyle/>
          <a:p>
            <a:r>
              <a:rPr lang="en-US" altLang="en-US" dirty="0"/>
              <a:t>The process in which information, ideas, and understanding are shared between two (or more) people.</a:t>
            </a:r>
          </a:p>
          <a:p>
            <a:r>
              <a:rPr lang="en-US" altLang="en-US" dirty="0"/>
              <a:t>Communication is the art of transmitting knowledge, ideas, information and thoughts from one person to another.</a:t>
            </a:r>
          </a:p>
          <a:p>
            <a:r>
              <a:rPr lang="en-US" altLang="en-US" dirty="0"/>
              <a:t>The transfer should be such that the receiver understands the meaning and the intent of the message and gives proper feedback</a:t>
            </a:r>
          </a:p>
          <a:p>
            <a:r>
              <a:rPr lang="en-IN" dirty="0"/>
              <a:t>It is a process of exchanging:</a:t>
            </a:r>
          </a:p>
          <a:p>
            <a:pPr lvl="1">
              <a:buFont typeface="Wingdings" pitchFamily="2" charset="2"/>
              <a:buChar char="q"/>
            </a:pPr>
            <a:r>
              <a:rPr lang="en-US" sz="2200" dirty="0"/>
              <a:t>Information</a:t>
            </a:r>
          </a:p>
          <a:p>
            <a:pPr lvl="1">
              <a:buFont typeface="Wingdings" pitchFamily="2" charset="2"/>
              <a:buChar char="q"/>
            </a:pPr>
            <a:r>
              <a:rPr lang="en-US" sz="2200" dirty="0"/>
              <a:t>Ideas</a:t>
            </a:r>
          </a:p>
          <a:p>
            <a:pPr lvl="1">
              <a:buFont typeface="Wingdings" pitchFamily="2" charset="2"/>
              <a:buChar char="q"/>
            </a:pPr>
            <a:r>
              <a:rPr lang="en-US" sz="2200" dirty="0"/>
              <a:t>Thoughts</a:t>
            </a:r>
          </a:p>
          <a:p>
            <a:pPr lvl="1">
              <a:buFont typeface="Wingdings" pitchFamily="2" charset="2"/>
              <a:buChar char="q"/>
            </a:pPr>
            <a:r>
              <a:rPr lang="en-US" sz="2200" dirty="0"/>
              <a:t>Feelings</a:t>
            </a:r>
          </a:p>
          <a:p>
            <a:pPr lvl="1">
              <a:buFont typeface="Wingdings" pitchFamily="2" charset="2"/>
              <a:buChar char="q"/>
            </a:pPr>
            <a:r>
              <a:rPr lang="en-US" sz="2200" dirty="0"/>
              <a:t>Emotions</a:t>
            </a:r>
          </a:p>
          <a:p>
            <a:endParaRPr lang="en-US" altLang="en-US" dirty="0"/>
          </a:p>
          <a:p>
            <a:endParaRPr lang="en-US" altLang="en-US" dirty="0"/>
          </a:p>
        </p:txBody>
      </p:sp>
      <p:sp>
        <p:nvSpPr>
          <p:cNvPr id="2" name="TextBox 1"/>
          <p:cNvSpPr txBox="1"/>
          <p:nvPr/>
        </p:nvSpPr>
        <p:spPr>
          <a:xfrm>
            <a:off x="5987142" y="4374836"/>
            <a:ext cx="1627369" cy="2508379"/>
          </a:xfrm>
          <a:prstGeom prst="rect">
            <a:avLst/>
          </a:prstGeom>
          <a:noFill/>
        </p:spPr>
        <p:txBody>
          <a:bodyPr wrap="none" rtlCol="0">
            <a:spAutoFit/>
          </a:bodyPr>
          <a:lstStyle/>
          <a:p>
            <a:pPr>
              <a:spcBef>
                <a:spcPts val="600"/>
              </a:spcBef>
            </a:pPr>
            <a:r>
              <a:rPr lang="en-US" sz="2200" dirty="0"/>
              <a:t>Through:</a:t>
            </a:r>
          </a:p>
          <a:p>
            <a:pPr>
              <a:spcBef>
                <a:spcPts val="600"/>
              </a:spcBef>
              <a:buFont typeface="Wingdings" pitchFamily="2" charset="2"/>
              <a:buChar char="q"/>
            </a:pPr>
            <a:r>
              <a:rPr lang="en-US" sz="2200" dirty="0"/>
              <a:t>Speech</a:t>
            </a:r>
          </a:p>
          <a:p>
            <a:pPr>
              <a:spcBef>
                <a:spcPts val="600"/>
              </a:spcBef>
              <a:buFont typeface="Wingdings" pitchFamily="2" charset="2"/>
              <a:buChar char="q"/>
            </a:pPr>
            <a:r>
              <a:rPr lang="en-US" sz="2200" dirty="0"/>
              <a:t>Signals</a:t>
            </a:r>
          </a:p>
          <a:p>
            <a:pPr>
              <a:spcBef>
                <a:spcPts val="600"/>
              </a:spcBef>
              <a:buFont typeface="Wingdings" pitchFamily="2" charset="2"/>
              <a:buChar char="q"/>
            </a:pPr>
            <a:r>
              <a:rPr lang="en-US" sz="2200" dirty="0"/>
              <a:t>Writing</a:t>
            </a:r>
          </a:p>
          <a:p>
            <a:pPr>
              <a:spcBef>
                <a:spcPts val="600"/>
              </a:spcBef>
              <a:buFont typeface="Wingdings" pitchFamily="2" charset="2"/>
              <a:buChar char="q"/>
            </a:pPr>
            <a:r>
              <a:rPr lang="en-US" sz="2200" dirty="0"/>
              <a:t>Behavior</a:t>
            </a:r>
            <a:endParaRPr lang="en-IN" sz="2200" dirty="0"/>
          </a:p>
          <a:p>
            <a:pPr>
              <a:spcBef>
                <a:spcPts val="600"/>
              </a:spcBef>
            </a:pPr>
            <a:endParaRPr lang="en-JM" sz="2200" dirty="0"/>
          </a:p>
        </p:txBody>
      </p:sp>
    </p:spTree>
    <p:extLst>
      <p:ext uri="{BB962C8B-B14F-4D97-AF65-F5344CB8AC3E}">
        <p14:creationId xmlns:p14="http://schemas.microsoft.com/office/powerpoint/2010/main" val="35875684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11" name="Oval 19"/>
          <p:cNvSpPr>
            <a:spLocks noChangeArrowheads="1"/>
          </p:cNvSpPr>
          <p:nvPr/>
        </p:nvSpPr>
        <p:spPr bwMode="auto">
          <a:xfrm>
            <a:off x="3505042" y="2133601"/>
            <a:ext cx="4724689" cy="3581400"/>
          </a:xfrm>
          <a:prstGeom prst="ellipse">
            <a:avLst/>
          </a:prstGeom>
          <a:solidFill>
            <a:srgbClr val="00B0F0">
              <a:alpha val="28000"/>
            </a:srgbClr>
          </a:solidFill>
          <a:ln w="34925">
            <a:solidFill>
              <a:schemeClr val="tx1"/>
            </a:solidFill>
            <a:round/>
            <a:headEnd/>
            <a:tailEnd/>
          </a:ln>
          <a:effectLst/>
        </p:spPr>
        <p:txBody>
          <a:bodyPr wrap="none" lIns="91440" tIns="45720" rIns="91440" bIns="45720" anchor="ctr"/>
          <a:lstStyle/>
          <a:p>
            <a:endParaRPr lang="en-IN" sz="1905"/>
          </a:p>
        </p:txBody>
      </p:sp>
      <p:sp>
        <p:nvSpPr>
          <p:cNvPr id="8196" name="Text Box 4"/>
          <p:cNvSpPr txBox="1">
            <a:spLocks noChangeArrowheads="1"/>
          </p:cNvSpPr>
          <p:nvPr/>
        </p:nvSpPr>
        <p:spPr bwMode="auto">
          <a:xfrm>
            <a:off x="4952931" y="1981201"/>
            <a:ext cx="1828913" cy="466923"/>
          </a:xfrm>
          <a:prstGeom prst="rect">
            <a:avLst/>
          </a:prstGeom>
          <a:solidFill>
            <a:schemeClr val="bg1"/>
          </a:solidFill>
          <a:ln w="9525">
            <a:noFill/>
            <a:miter lim="800000"/>
            <a:headEnd/>
            <a:tailEnd/>
          </a:ln>
          <a:effectLst/>
        </p:spPr>
        <p:txBody>
          <a:bodyPr lIns="91440" tIns="45720" rIns="91440" bIns="45720">
            <a:spAutoFit/>
          </a:bodyPr>
          <a:lstStyle/>
          <a:p>
            <a:pPr algn="ctr">
              <a:spcBef>
                <a:spcPct val="50000"/>
              </a:spcBef>
            </a:pPr>
            <a:r>
              <a:rPr lang="en-US" sz="2434" dirty="0"/>
              <a:t>Sender</a:t>
            </a:r>
          </a:p>
        </p:txBody>
      </p:sp>
      <p:sp>
        <p:nvSpPr>
          <p:cNvPr id="8198" name="Text Box 6"/>
          <p:cNvSpPr txBox="1">
            <a:spLocks noChangeArrowheads="1"/>
          </p:cNvSpPr>
          <p:nvPr/>
        </p:nvSpPr>
        <p:spPr bwMode="auto">
          <a:xfrm>
            <a:off x="6858048" y="4572001"/>
            <a:ext cx="2286140" cy="466923"/>
          </a:xfrm>
          <a:prstGeom prst="rect">
            <a:avLst/>
          </a:prstGeom>
          <a:solidFill>
            <a:schemeClr val="bg1"/>
          </a:solidFill>
          <a:ln w="9525">
            <a:noFill/>
            <a:miter lim="800000"/>
            <a:headEnd/>
            <a:tailEnd/>
          </a:ln>
          <a:effectLst/>
        </p:spPr>
        <p:txBody>
          <a:bodyPr lIns="91440" tIns="45720" rIns="91440" bIns="45720">
            <a:spAutoFit/>
          </a:bodyPr>
          <a:lstStyle/>
          <a:p>
            <a:pPr algn="ctr">
              <a:spcBef>
                <a:spcPct val="50000"/>
              </a:spcBef>
            </a:pPr>
            <a:r>
              <a:rPr lang="en-US" sz="2434" dirty="0"/>
              <a:t>Channel</a:t>
            </a:r>
          </a:p>
        </p:txBody>
      </p:sp>
      <p:sp>
        <p:nvSpPr>
          <p:cNvPr id="8199" name="Text Box 7"/>
          <p:cNvSpPr txBox="1">
            <a:spLocks noChangeArrowheads="1"/>
          </p:cNvSpPr>
          <p:nvPr/>
        </p:nvSpPr>
        <p:spPr bwMode="auto">
          <a:xfrm>
            <a:off x="5029135" y="5410201"/>
            <a:ext cx="1828913" cy="466923"/>
          </a:xfrm>
          <a:prstGeom prst="rect">
            <a:avLst/>
          </a:prstGeom>
          <a:solidFill>
            <a:schemeClr val="bg1"/>
          </a:solidFill>
          <a:ln w="9525">
            <a:noFill/>
            <a:miter lim="800000"/>
            <a:headEnd/>
            <a:tailEnd/>
          </a:ln>
          <a:effectLst/>
        </p:spPr>
        <p:txBody>
          <a:bodyPr lIns="91440" tIns="45720" rIns="91440" bIns="45720">
            <a:spAutoFit/>
          </a:bodyPr>
          <a:lstStyle/>
          <a:p>
            <a:pPr algn="ctr">
              <a:spcBef>
                <a:spcPct val="50000"/>
              </a:spcBef>
            </a:pPr>
            <a:r>
              <a:rPr lang="en-US" sz="2434" dirty="0"/>
              <a:t>Receiver</a:t>
            </a:r>
          </a:p>
        </p:txBody>
      </p:sp>
      <p:sp>
        <p:nvSpPr>
          <p:cNvPr id="8200" name="Text Box 8"/>
          <p:cNvSpPr txBox="1">
            <a:spLocks noChangeArrowheads="1"/>
          </p:cNvSpPr>
          <p:nvPr/>
        </p:nvSpPr>
        <p:spPr bwMode="auto">
          <a:xfrm>
            <a:off x="2514382" y="4419601"/>
            <a:ext cx="2286140" cy="466923"/>
          </a:xfrm>
          <a:prstGeom prst="rect">
            <a:avLst/>
          </a:prstGeom>
          <a:solidFill>
            <a:schemeClr val="bg1"/>
          </a:solidFill>
          <a:ln w="9525">
            <a:noFill/>
            <a:miter lim="800000"/>
            <a:headEnd/>
            <a:tailEnd/>
          </a:ln>
          <a:effectLst/>
        </p:spPr>
        <p:txBody>
          <a:bodyPr lIns="91440" tIns="45720" rIns="91440" bIns="45720">
            <a:spAutoFit/>
          </a:bodyPr>
          <a:lstStyle/>
          <a:p>
            <a:pPr algn="ctr">
              <a:spcBef>
                <a:spcPct val="50000"/>
              </a:spcBef>
            </a:pPr>
            <a:r>
              <a:rPr lang="en-US" sz="2434" dirty="0"/>
              <a:t>Feedback</a:t>
            </a:r>
          </a:p>
        </p:txBody>
      </p:sp>
      <p:sp>
        <p:nvSpPr>
          <p:cNvPr id="8201" name="Text Box 9"/>
          <p:cNvSpPr txBox="1">
            <a:spLocks noChangeArrowheads="1"/>
          </p:cNvSpPr>
          <p:nvPr/>
        </p:nvSpPr>
        <p:spPr bwMode="auto">
          <a:xfrm>
            <a:off x="2438177" y="2971801"/>
            <a:ext cx="2286140" cy="466923"/>
          </a:xfrm>
          <a:prstGeom prst="rect">
            <a:avLst/>
          </a:prstGeom>
          <a:solidFill>
            <a:schemeClr val="bg1"/>
          </a:solidFill>
          <a:ln w="9525">
            <a:noFill/>
            <a:miter lim="800000"/>
            <a:headEnd/>
            <a:tailEnd/>
          </a:ln>
          <a:effectLst/>
        </p:spPr>
        <p:txBody>
          <a:bodyPr lIns="91440" tIns="45720" rIns="91440" bIns="45720">
            <a:spAutoFit/>
          </a:bodyPr>
          <a:lstStyle/>
          <a:p>
            <a:pPr algn="ctr">
              <a:spcBef>
                <a:spcPct val="50000"/>
              </a:spcBef>
            </a:pPr>
            <a:r>
              <a:rPr lang="en-US" sz="2434" dirty="0"/>
              <a:t>Channel</a:t>
            </a:r>
          </a:p>
        </p:txBody>
      </p:sp>
      <p:sp>
        <p:nvSpPr>
          <p:cNvPr id="8202" name="Text Box 10"/>
          <p:cNvSpPr txBox="1">
            <a:spLocks noChangeArrowheads="1"/>
          </p:cNvSpPr>
          <p:nvPr/>
        </p:nvSpPr>
        <p:spPr bwMode="auto">
          <a:xfrm>
            <a:off x="7003239" y="2133602"/>
            <a:ext cx="2140949" cy="401777"/>
          </a:xfrm>
          <a:prstGeom prst="rect">
            <a:avLst/>
          </a:prstGeom>
          <a:noFill/>
          <a:ln w="9525">
            <a:noFill/>
            <a:miter lim="800000"/>
            <a:headEnd/>
            <a:tailEnd/>
          </a:ln>
          <a:effectLst/>
        </p:spPr>
        <p:txBody>
          <a:bodyPr wrap="square" lIns="91440" tIns="45720" rIns="91440" bIns="45720">
            <a:spAutoFit/>
          </a:bodyPr>
          <a:lstStyle/>
          <a:p>
            <a:pPr algn="ctr">
              <a:spcBef>
                <a:spcPct val="50000"/>
              </a:spcBef>
            </a:pPr>
            <a:r>
              <a:rPr lang="en-US" sz="2011" dirty="0"/>
              <a:t>Encoding</a:t>
            </a:r>
          </a:p>
        </p:txBody>
      </p:sp>
      <p:sp>
        <p:nvSpPr>
          <p:cNvPr id="8203" name="Text Box 11"/>
          <p:cNvSpPr txBox="1">
            <a:spLocks noChangeArrowheads="1"/>
          </p:cNvSpPr>
          <p:nvPr/>
        </p:nvSpPr>
        <p:spPr bwMode="auto">
          <a:xfrm>
            <a:off x="2693858" y="5319080"/>
            <a:ext cx="2041286" cy="401777"/>
          </a:xfrm>
          <a:prstGeom prst="rect">
            <a:avLst/>
          </a:prstGeom>
          <a:noFill/>
          <a:ln w="9525">
            <a:noFill/>
            <a:miter lim="800000"/>
            <a:headEnd/>
            <a:tailEnd/>
          </a:ln>
          <a:effectLst/>
        </p:spPr>
        <p:txBody>
          <a:bodyPr wrap="square" lIns="91440" tIns="45720" rIns="91440" bIns="45720">
            <a:spAutoFit/>
          </a:bodyPr>
          <a:lstStyle/>
          <a:p>
            <a:pPr algn="ctr">
              <a:spcBef>
                <a:spcPct val="50000"/>
              </a:spcBef>
            </a:pPr>
            <a:r>
              <a:rPr lang="en-US" sz="2011" dirty="0"/>
              <a:t>Decoding</a:t>
            </a:r>
          </a:p>
        </p:txBody>
      </p:sp>
      <p:sp>
        <p:nvSpPr>
          <p:cNvPr id="8197" name="Text Box 5"/>
          <p:cNvSpPr txBox="1">
            <a:spLocks noChangeArrowheads="1"/>
          </p:cNvSpPr>
          <p:nvPr/>
        </p:nvSpPr>
        <p:spPr bwMode="auto">
          <a:xfrm>
            <a:off x="6858048" y="3048001"/>
            <a:ext cx="2286140" cy="466923"/>
          </a:xfrm>
          <a:prstGeom prst="rect">
            <a:avLst/>
          </a:prstGeom>
          <a:solidFill>
            <a:schemeClr val="bg1"/>
          </a:solidFill>
          <a:ln w="9525">
            <a:noFill/>
            <a:miter lim="800000"/>
            <a:headEnd/>
            <a:tailEnd/>
          </a:ln>
          <a:effectLst/>
        </p:spPr>
        <p:txBody>
          <a:bodyPr lIns="91440" tIns="45720" rIns="91440" bIns="45720">
            <a:spAutoFit/>
          </a:bodyPr>
          <a:lstStyle/>
          <a:p>
            <a:pPr algn="ctr">
              <a:spcBef>
                <a:spcPct val="50000"/>
              </a:spcBef>
            </a:pPr>
            <a:r>
              <a:rPr lang="en-US" sz="2434" dirty="0"/>
              <a:t>Message</a:t>
            </a:r>
          </a:p>
        </p:txBody>
      </p:sp>
      <p:sp>
        <p:nvSpPr>
          <p:cNvPr id="8212" name="AutoShape 20"/>
          <p:cNvSpPr>
            <a:spLocks noChangeArrowheads="1"/>
          </p:cNvSpPr>
          <p:nvPr/>
        </p:nvSpPr>
        <p:spPr bwMode="auto">
          <a:xfrm rot="8374436">
            <a:off x="7696298" y="2895601"/>
            <a:ext cx="381024" cy="228600"/>
          </a:xfrm>
          <a:prstGeom prst="triangle">
            <a:avLst>
              <a:gd name="adj" fmla="val 50000"/>
            </a:avLst>
          </a:prstGeom>
          <a:solidFill>
            <a:schemeClr val="tx1"/>
          </a:solidFill>
          <a:ln w="9525">
            <a:solidFill>
              <a:schemeClr val="tx1"/>
            </a:solidFill>
            <a:miter lim="800000"/>
            <a:headEnd/>
            <a:tailEnd/>
          </a:ln>
          <a:effectLst/>
        </p:spPr>
        <p:txBody>
          <a:bodyPr wrap="none" lIns="91440" tIns="45720" rIns="91440" bIns="45720" anchor="ctr"/>
          <a:lstStyle/>
          <a:p>
            <a:endParaRPr lang="en-IN" sz="1905"/>
          </a:p>
        </p:txBody>
      </p:sp>
      <p:sp>
        <p:nvSpPr>
          <p:cNvPr id="8213" name="AutoShape 21"/>
          <p:cNvSpPr>
            <a:spLocks noChangeArrowheads="1"/>
          </p:cNvSpPr>
          <p:nvPr/>
        </p:nvSpPr>
        <p:spPr bwMode="auto">
          <a:xfrm rot="12125970">
            <a:off x="7924912" y="4419601"/>
            <a:ext cx="381024" cy="228600"/>
          </a:xfrm>
          <a:prstGeom prst="triangle">
            <a:avLst>
              <a:gd name="adj" fmla="val 50000"/>
            </a:avLst>
          </a:prstGeom>
          <a:solidFill>
            <a:schemeClr val="tx1"/>
          </a:solidFill>
          <a:ln w="9525">
            <a:solidFill>
              <a:schemeClr val="tx1"/>
            </a:solidFill>
            <a:miter lim="800000"/>
            <a:headEnd/>
            <a:tailEnd/>
          </a:ln>
          <a:effectLst/>
        </p:spPr>
        <p:txBody>
          <a:bodyPr wrap="none" lIns="91440" tIns="45720" rIns="91440" bIns="45720" anchor="ctr"/>
          <a:lstStyle/>
          <a:p>
            <a:endParaRPr lang="en-IN" sz="1905"/>
          </a:p>
        </p:txBody>
      </p:sp>
      <p:sp>
        <p:nvSpPr>
          <p:cNvPr id="8214" name="AutoShape 22"/>
          <p:cNvSpPr>
            <a:spLocks noChangeArrowheads="1"/>
          </p:cNvSpPr>
          <p:nvPr/>
        </p:nvSpPr>
        <p:spPr bwMode="auto">
          <a:xfrm rot="13719873">
            <a:off x="6629445" y="5486394"/>
            <a:ext cx="381000" cy="228614"/>
          </a:xfrm>
          <a:prstGeom prst="triangle">
            <a:avLst>
              <a:gd name="adj" fmla="val 50000"/>
            </a:avLst>
          </a:prstGeom>
          <a:solidFill>
            <a:schemeClr val="tx1"/>
          </a:solidFill>
          <a:ln w="9525">
            <a:solidFill>
              <a:schemeClr val="tx1"/>
            </a:solidFill>
            <a:miter lim="800000"/>
            <a:headEnd/>
            <a:tailEnd/>
          </a:ln>
          <a:effectLst/>
        </p:spPr>
        <p:txBody>
          <a:bodyPr wrap="none" lIns="91440" tIns="45720" rIns="91440" bIns="45720" anchor="ctr"/>
          <a:lstStyle/>
          <a:p>
            <a:endParaRPr lang="en-IN" sz="1905"/>
          </a:p>
        </p:txBody>
      </p:sp>
      <p:sp>
        <p:nvSpPr>
          <p:cNvPr id="8215" name="AutoShape 23"/>
          <p:cNvSpPr>
            <a:spLocks noChangeArrowheads="1"/>
          </p:cNvSpPr>
          <p:nvPr/>
        </p:nvSpPr>
        <p:spPr bwMode="auto">
          <a:xfrm rot="-2765945">
            <a:off x="3733667" y="4800594"/>
            <a:ext cx="381000" cy="228614"/>
          </a:xfrm>
          <a:prstGeom prst="triangle">
            <a:avLst>
              <a:gd name="adj" fmla="val 50000"/>
            </a:avLst>
          </a:prstGeom>
          <a:solidFill>
            <a:schemeClr val="tx1"/>
          </a:solidFill>
          <a:ln w="9525">
            <a:solidFill>
              <a:schemeClr val="tx1"/>
            </a:solidFill>
            <a:miter lim="800000"/>
            <a:headEnd/>
            <a:tailEnd/>
          </a:ln>
          <a:effectLst/>
        </p:spPr>
        <p:txBody>
          <a:bodyPr wrap="none" lIns="91440" tIns="45720" rIns="91440" bIns="45720" anchor="ctr"/>
          <a:lstStyle/>
          <a:p>
            <a:endParaRPr lang="en-IN" sz="1905"/>
          </a:p>
        </p:txBody>
      </p:sp>
      <p:sp>
        <p:nvSpPr>
          <p:cNvPr id="8216" name="AutoShape 24"/>
          <p:cNvSpPr>
            <a:spLocks noChangeArrowheads="1"/>
          </p:cNvSpPr>
          <p:nvPr/>
        </p:nvSpPr>
        <p:spPr bwMode="auto">
          <a:xfrm rot="-21159093">
            <a:off x="3352632" y="3352800"/>
            <a:ext cx="381024" cy="228600"/>
          </a:xfrm>
          <a:prstGeom prst="triangle">
            <a:avLst>
              <a:gd name="adj" fmla="val 50000"/>
            </a:avLst>
          </a:prstGeom>
          <a:solidFill>
            <a:schemeClr val="tx1"/>
          </a:solidFill>
          <a:ln w="9525">
            <a:solidFill>
              <a:schemeClr val="tx1"/>
            </a:solidFill>
            <a:miter lim="800000"/>
            <a:headEnd/>
            <a:tailEnd/>
          </a:ln>
          <a:effectLst/>
        </p:spPr>
        <p:txBody>
          <a:bodyPr wrap="none" lIns="91440" tIns="45720" rIns="91440" bIns="45720" anchor="ctr"/>
          <a:lstStyle/>
          <a:p>
            <a:endParaRPr lang="en-IN" sz="1905"/>
          </a:p>
        </p:txBody>
      </p:sp>
      <p:sp>
        <p:nvSpPr>
          <p:cNvPr id="8217" name="AutoShape 25"/>
          <p:cNvSpPr>
            <a:spLocks noChangeArrowheads="1"/>
          </p:cNvSpPr>
          <p:nvPr/>
        </p:nvSpPr>
        <p:spPr bwMode="auto">
          <a:xfrm rot="-17674347">
            <a:off x="4800532" y="2133594"/>
            <a:ext cx="381000" cy="228614"/>
          </a:xfrm>
          <a:prstGeom prst="triangle">
            <a:avLst>
              <a:gd name="adj" fmla="val 50000"/>
            </a:avLst>
          </a:prstGeom>
          <a:solidFill>
            <a:schemeClr val="tx1"/>
          </a:solidFill>
          <a:ln w="9525">
            <a:solidFill>
              <a:schemeClr val="tx1"/>
            </a:solidFill>
            <a:miter lim="800000"/>
            <a:headEnd/>
            <a:tailEnd/>
          </a:ln>
          <a:effectLst/>
        </p:spPr>
        <p:txBody>
          <a:bodyPr wrap="none" lIns="91440" tIns="45720" rIns="91440" bIns="45720" anchor="ctr"/>
          <a:lstStyle/>
          <a:p>
            <a:endParaRPr lang="en-IN" sz="1905"/>
          </a:p>
        </p:txBody>
      </p:sp>
      <p:sp>
        <p:nvSpPr>
          <p:cNvPr id="8218" name="Text Box 26"/>
          <p:cNvSpPr txBox="1">
            <a:spLocks noChangeArrowheads="1"/>
          </p:cNvSpPr>
          <p:nvPr/>
        </p:nvSpPr>
        <p:spPr bwMode="auto">
          <a:xfrm>
            <a:off x="4886349" y="3050985"/>
            <a:ext cx="1219275" cy="466923"/>
          </a:xfrm>
          <a:prstGeom prst="rect">
            <a:avLst/>
          </a:prstGeom>
          <a:solidFill>
            <a:schemeClr val="tx1"/>
          </a:solidFill>
          <a:ln w="9525">
            <a:noFill/>
            <a:miter lim="800000"/>
            <a:headEnd/>
            <a:tailEnd/>
          </a:ln>
          <a:effectLst/>
        </p:spPr>
        <p:txBody>
          <a:bodyPr lIns="91440" tIns="45720" rIns="91440" bIns="45720">
            <a:spAutoFit/>
          </a:bodyPr>
          <a:lstStyle/>
          <a:p>
            <a:pPr algn="ctr">
              <a:spcBef>
                <a:spcPct val="50000"/>
              </a:spcBef>
            </a:pPr>
            <a:r>
              <a:rPr lang="en-US" sz="2434" dirty="0">
                <a:solidFill>
                  <a:schemeClr val="bg1"/>
                </a:solidFill>
              </a:rPr>
              <a:t>Noise</a:t>
            </a:r>
          </a:p>
        </p:txBody>
      </p:sp>
      <p:sp>
        <p:nvSpPr>
          <p:cNvPr id="8219" name="Text Box 27"/>
          <p:cNvSpPr txBox="1">
            <a:spLocks noChangeArrowheads="1"/>
          </p:cNvSpPr>
          <p:nvPr/>
        </p:nvSpPr>
        <p:spPr bwMode="auto">
          <a:xfrm>
            <a:off x="5566778" y="4336239"/>
            <a:ext cx="1219275" cy="466923"/>
          </a:xfrm>
          <a:prstGeom prst="rect">
            <a:avLst/>
          </a:prstGeom>
          <a:solidFill>
            <a:schemeClr val="tx1"/>
          </a:solidFill>
          <a:ln w="9525">
            <a:noFill/>
            <a:miter lim="800000"/>
            <a:headEnd/>
            <a:tailEnd/>
          </a:ln>
          <a:effectLst/>
        </p:spPr>
        <p:txBody>
          <a:bodyPr lIns="91440" tIns="45720" rIns="91440" bIns="45720">
            <a:spAutoFit/>
          </a:bodyPr>
          <a:lstStyle/>
          <a:p>
            <a:pPr algn="ctr">
              <a:spcBef>
                <a:spcPct val="50000"/>
              </a:spcBef>
            </a:pPr>
            <a:r>
              <a:rPr lang="en-US" sz="2434" dirty="0">
                <a:solidFill>
                  <a:schemeClr val="bg1"/>
                </a:solidFill>
              </a:rPr>
              <a:t>Barrier</a:t>
            </a:r>
          </a:p>
        </p:txBody>
      </p:sp>
      <p:sp>
        <p:nvSpPr>
          <p:cNvPr id="22" name="Date Placeholder 21"/>
          <p:cNvSpPr>
            <a:spLocks noGrp="1"/>
          </p:cNvSpPr>
          <p:nvPr>
            <p:ph type="dt" sz="half" idx="10"/>
          </p:nvPr>
        </p:nvSpPr>
        <p:spPr/>
        <p:txBody>
          <a:bodyPr/>
          <a:lstStyle/>
          <a:p>
            <a:fld id="{3DD465CE-9D00-4166-BD2E-45A14F4E9251}" type="datetime9">
              <a:rPr lang="en-IN" smtClean="0"/>
              <a:pPr/>
              <a:t>27-04-2025 21:52:58</a:t>
            </a:fld>
            <a:endParaRPr lang="en-IN"/>
          </a:p>
        </p:txBody>
      </p:sp>
      <p:sp>
        <p:nvSpPr>
          <p:cNvPr id="23" name="Slide Number Placeholder 22"/>
          <p:cNvSpPr>
            <a:spLocks noGrp="1"/>
          </p:cNvSpPr>
          <p:nvPr>
            <p:ph type="sldNum" sz="quarter" idx="12"/>
          </p:nvPr>
        </p:nvSpPr>
        <p:spPr/>
        <p:txBody>
          <a:bodyPr/>
          <a:lstStyle/>
          <a:p>
            <a:fld id="{B5EC8D24-C9ED-44D0-9AF1-79F8EEA67025}" type="slidenum">
              <a:rPr lang="en-IN" smtClean="0"/>
              <a:pPr/>
              <a:t>4</a:t>
            </a:fld>
            <a:endParaRPr lang="en-IN"/>
          </a:p>
        </p:txBody>
      </p:sp>
      <p:sp>
        <p:nvSpPr>
          <p:cNvPr id="25" name="Rectangle 2"/>
          <p:cNvSpPr>
            <a:spLocks noGrp="1" noChangeArrowheads="1"/>
          </p:cNvSpPr>
          <p:nvPr>
            <p:ph type="title"/>
          </p:nvPr>
        </p:nvSpPr>
        <p:spPr>
          <a:xfrm>
            <a:off x="2895600" y="764373"/>
            <a:ext cx="8610600" cy="1293028"/>
          </a:xfrm>
        </p:spPr>
        <p:txBody>
          <a:bodyPr/>
          <a:lstStyle/>
          <a:p>
            <a:pPr>
              <a:buFont typeface="Wingdings" panose="05000000000000000000" pitchFamily="2" charset="2"/>
              <a:buNone/>
            </a:pPr>
            <a:r>
              <a:rPr lang="en-US" altLang="en-US" dirty="0"/>
              <a:t>Process of Communication</a:t>
            </a:r>
          </a:p>
        </p:txBody>
      </p:sp>
    </p:spTree>
    <p:extLst>
      <p:ext uri="{BB962C8B-B14F-4D97-AF65-F5344CB8AC3E}">
        <p14:creationId xmlns:p14="http://schemas.microsoft.com/office/powerpoint/2010/main" val="565057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9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20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19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19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19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203">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20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20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21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2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6" grpId="0" animBg="1"/>
      <p:bldP spid="8198" grpId="0" animBg="1"/>
      <p:bldP spid="8199" grpId="0" animBg="1"/>
      <p:bldP spid="8200" grpId="0" animBg="1"/>
      <p:bldP spid="8201" grpId="0" animBg="1"/>
      <p:bldP spid="8202" grpId="0"/>
      <p:bldP spid="8197" grpId="0" animBg="1"/>
      <p:bldP spid="8218" grpId="0" animBg="1"/>
      <p:bldP spid="821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OF COMMUNICATION</a:t>
            </a:r>
            <a:endParaRPr lang="en-JM" dirty="0"/>
          </a:p>
        </p:txBody>
      </p:sp>
      <p:sp>
        <p:nvSpPr>
          <p:cNvPr id="3" name="Content Placeholder 2"/>
          <p:cNvSpPr>
            <a:spLocks noGrp="1"/>
          </p:cNvSpPr>
          <p:nvPr>
            <p:ph idx="1"/>
          </p:nvPr>
        </p:nvSpPr>
        <p:spPr>
          <a:xfrm>
            <a:off x="685800" y="2194560"/>
            <a:ext cx="10820400" cy="4423954"/>
          </a:xfrm>
        </p:spPr>
        <p:txBody>
          <a:bodyPr>
            <a:normAutofit lnSpcReduction="10000"/>
          </a:bodyPr>
          <a:lstStyle/>
          <a:p>
            <a:pPr marL="0" indent="0" algn="just">
              <a:buNone/>
            </a:pPr>
            <a:r>
              <a:rPr lang="en-US" dirty="0"/>
              <a:t>The main components of the communication process are as follows: </a:t>
            </a:r>
          </a:p>
          <a:p>
            <a:pPr algn="just"/>
            <a:r>
              <a:rPr lang="en-US" b="1" dirty="0"/>
              <a:t>Context</a:t>
            </a:r>
            <a:r>
              <a:rPr lang="en-US" dirty="0"/>
              <a:t> - Communication is affected by the context in which it takes place. This context may be physical, social, chronological or cultural. Every communication proceeds with context. </a:t>
            </a:r>
          </a:p>
          <a:p>
            <a:pPr algn="just"/>
            <a:r>
              <a:rPr lang="en-US" b="1" dirty="0"/>
              <a:t>Sender / Encoder </a:t>
            </a:r>
            <a:r>
              <a:rPr lang="en-US" dirty="0"/>
              <a:t>- Sender / Encoder is a person who sends the message. A sender makes use of symbols (words or graphic or visual aids) to convey the message and produce the required response.</a:t>
            </a:r>
          </a:p>
          <a:p>
            <a:pPr algn="just"/>
            <a:r>
              <a:rPr lang="en-US" b="1" dirty="0"/>
              <a:t>Message</a:t>
            </a:r>
            <a:r>
              <a:rPr lang="en-US" dirty="0"/>
              <a:t> - Message is a key idea that the sender wants to communicate. </a:t>
            </a:r>
            <a:r>
              <a:rPr lang="en-US"/>
              <a:t>One must ensure </a:t>
            </a:r>
            <a:r>
              <a:rPr lang="en-US" dirty="0"/>
              <a:t>that the main objective of the message is clear.</a:t>
            </a:r>
          </a:p>
          <a:p>
            <a:pPr algn="just"/>
            <a:r>
              <a:rPr lang="en-US" b="1" dirty="0"/>
              <a:t>Encoding</a:t>
            </a:r>
            <a:r>
              <a:rPr lang="en-US" dirty="0"/>
              <a:t> – The process of conversion of subject matter into symbols is called encoding. The message or subject matter of any communication is always abstract and intangible. Transmission of message requires use of certain symbols. </a:t>
            </a:r>
            <a:endParaRPr lang="en-JM" dirty="0"/>
          </a:p>
        </p:txBody>
      </p:sp>
    </p:spTree>
    <p:extLst>
      <p:ext uri="{BB962C8B-B14F-4D97-AF65-F5344CB8AC3E}">
        <p14:creationId xmlns:p14="http://schemas.microsoft.com/office/powerpoint/2010/main" val="24595010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OF COMMUNICATION</a:t>
            </a:r>
            <a:endParaRPr lang="en-JM" dirty="0"/>
          </a:p>
        </p:txBody>
      </p:sp>
      <p:sp>
        <p:nvSpPr>
          <p:cNvPr id="3" name="Content Placeholder 2"/>
          <p:cNvSpPr>
            <a:spLocks noGrp="1"/>
          </p:cNvSpPr>
          <p:nvPr>
            <p:ph idx="1"/>
          </p:nvPr>
        </p:nvSpPr>
        <p:spPr>
          <a:xfrm>
            <a:off x="685800" y="2194560"/>
            <a:ext cx="10820400" cy="4554583"/>
          </a:xfrm>
        </p:spPr>
        <p:txBody>
          <a:bodyPr>
            <a:normAutofit/>
          </a:bodyPr>
          <a:lstStyle/>
          <a:p>
            <a:pPr algn="just"/>
            <a:r>
              <a:rPr lang="en-US" b="1" dirty="0"/>
              <a:t>Medium</a:t>
            </a:r>
            <a:r>
              <a:rPr lang="en-US" dirty="0"/>
              <a:t> - Medium is a means used to exchange / transmit the message. For instance - Written medium is chosen when a message has to be conveyed to a small group of people, while an oral medium is chosen when spontaneous feedback is required from the recipient as misunderstandings are cleared then and there.</a:t>
            </a:r>
          </a:p>
          <a:p>
            <a:pPr algn="just"/>
            <a:r>
              <a:rPr lang="en-US" b="1" dirty="0"/>
              <a:t>Recipient / Decoder </a:t>
            </a:r>
            <a:r>
              <a:rPr lang="en-US" dirty="0"/>
              <a:t>- Recipient / Decoder is a person for whom the message is intended / aimed / targeted. The degree to which the decoder understands the message is dependent upon various factors such as knowledge of recipient, their responsiveness to the message, and the reliance of encoder on decoder.</a:t>
            </a:r>
          </a:p>
          <a:p>
            <a:pPr algn="just"/>
            <a:r>
              <a:rPr lang="en-US" b="1" dirty="0"/>
              <a:t>Decoding</a:t>
            </a:r>
            <a:r>
              <a:rPr lang="en-US" dirty="0"/>
              <a:t> - It is the process of translation of an encoded message into ordinary understandable language. Receiver converts the symbols, words or signs received from the sender to get the meaning of the message. </a:t>
            </a:r>
          </a:p>
          <a:p>
            <a:pPr marL="0" indent="0" algn="just">
              <a:buNone/>
            </a:pPr>
            <a:endParaRPr lang="en-JM" dirty="0"/>
          </a:p>
        </p:txBody>
      </p:sp>
    </p:spTree>
    <p:extLst>
      <p:ext uri="{BB962C8B-B14F-4D97-AF65-F5344CB8AC3E}">
        <p14:creationId xmlns:p14="http://schemas.microsoft.com/office/powerpoint/2010/main" val="18884884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OF COMMUNICATION</a:t>
            </a:r>
            <a:endParaRPr lang="en-JM" dirty="0"/>
          </a:p>
        </p:txBody>
      </p:sp>
      <p:sp>
        <p:nvSpPr>
          <p:cNvPr id="3" name="Content Placeholder 2"/>
          <p:cNvSpPr>
            <a:spLocks noGrp="1"/>
          </p:cNvSpPr>
          <p:nvPr>
            <p:ph idx="1"/>
          </p:nvPr>
        </p:nvSpPr>
        <p:spPr>
          <a:xfrm>
            <a:off x="685800" y="2194560"/>
            <a:ext cx="10820400" cy="4554583"/>
          </a:xfrm>
        </p:spPr>
        <p:txBody>
          <a:bodyPr>
            <a:normAutofit/>
          </a:bodyPr>
          <a:lstStyle/>
          <a:p>
            <a:pPr algn="just"/>
            <a:r>
              <a:rPr lang="en-US" b="1" dirty="0"/>
              <a:t>Feedback</a:t>
            </a:r>
            <a:r>
              <a:rPr lang="en-US" dirty="0"/>
              <a:t> - Feedback is the main component of communication process as it permits the sender to analyze the efficacy of the message. It helps the sender in confirming the correct interpretation of message by the decoder. Feedback may be verbal (through words) or non-verbal (in form of smiles, sighs, etc.). It may take written form also in form of memos, reports, etc.</a:t>
            </a:r>
          </a:p>
        </p:txBody>
      </p:sp>
    </p:spTree>
    <p:extLst>
      <p:ext uri="{BB962C8B-B14F-4D97-AF65-F5344CB8AC3E}">
        <p14:creationId xmlns:p14="http://schemas.microsoft.com/office/powerpoint/2010/main" val="6310511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a:buFont typeface="Wingdings" panose="05000000000000000000" pitchFamily="2" charset="2"/>
              <a:buNone/>
            </a:pPr>
            <a:r>
              <a:rPr lang="en-US" altLang="en-US"/>
              <a:t>Methods of Communication</a:t>
            </a:r>
          </a:p>
        </p:txBody>
      </p:sp>
      <p:sp>
        <p:nvSpPr>
          <p:cNvPr id="11267" name="Rectangle 3"/>
          <p:cNvSpPr>
            <a:spLocks noGrp="1" noChangeArrowheads="1"/>
          </p:cNvSpPr>
          <p:nvPr>
            <p:ph idx="1"/>
          </p:nvPr>
        </p:nvSpPr>
        <p:spPr>
          <a:xfrm>
            <a:off x="696685" y="2057401"/>
            <a:ext cx="10472057" cy="4114800"/>
          </a:xfrm>
        </p:spPr>
        <p:txBody>
          <a:bodyPr/>
          <a:lstStyle/>
          <a:p>
            <a:pPr marL="609600" indent="-609600" algn="just">
              <a:lnSpc>
                <a:spcPct val="80000"/>
              </a:lnSpc>
              <a:spcAft>
                <a:spcPts val="600"/>
              </a:spcAft>
            </a:pPr>
            <a:r>
              <a:rPr lang="en-US" altLang="en-US" dirty="0"/>
              <a:t>Listening: the ability to hear and understand what the speaker is saying.</a:t>
            </a:r>
          </a:p>
          <a:p>
            <a:pPr marL="609600" indent="-609600" algn="just">
              <a:lnSpc>
                <a:spcPct val="80000"/>
              </a:lnSpc>
              <a:spcAft>
                <a:spcPts val="600"/>
              </a:spcAft>
            </a:pPr>
            <a:r>
              <a:rPr lang="en-US" altLang="en-US" dirty="0"/>
              <a:t>Writing: Communicating by using the written word so that others can understand the intended message.</a:t>
            </a:r>
          </a:p>
          <a:p>
            <a:pPr marL="609600" indent="-609600" algn="just">
              <a:lnSpc>
                <a:spcPct val="80000"/>
              </a:lnSpc>
              <a:spcAft>
                <a:spcPts val="600"/>
              </a:spcAft>
            </a:pPr>
            <a:r>
              <a:rPr lang="en-US" altLang="en-US" dirty="0"/>
              <a:t>Talking: Speaking, using words and terminology that others can comprehend.</a:t>
            </a:r>
          </a:p>
          <a:p>
            <a:pPr marL="609600" indent="-609600" algn="just">
              <a:lnSpc>
                <a:spcPct val="80000"/>
              </a:lnSpc>
              <a:spcAft>
                <a:spcPts val="600"/>
              </a:spcAft>
            </a:pPr>
            <a:r>
              <a:rPr lang="en-US" altLang="en-US" dirty="0"/>
              <a:t>Reading: the ability to look at and comprehend the written word.</a:t>
            </a:r>
          </a:p>
          <a:p>
            <a:pPr marL="609600" indent="-609600" algn="just">
              <a:lnSpc>
                <a:spcPct val="80000"/>
              </a:lnSpc>
              <a:spcAft>
                <a:spcPts val="600"/>
              </a:spcAft>
            </a:pPr>
            <a:r>
              <a:rPr lang="en-US" altLang="en-US" dirty="0"/>
              <a:t>Nonverbal communication: Tone and inflection of voice, facial expressions, posture, and eye contact.  Nonverbal communication can contradict the message conveyed through another method of communication.</a:t>
            </a:r>
          </a:p>
        </p:txBody>
      </p:sp>
    </p:spTree>
    <p:extLst>
      <p:ext uri="{BB962C8B-B14F-4D97-AF65-F5344CB8AC3E}">
        <p14:creationId xmlns:p14="http://schemas.microsoft.com/office/powerpoint/2010/main" val="31219695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REASONS FOR COMMUNICATION</a:t>
            </a:r>
            <a:endParaRPr lang="en-JM" dirty="0"/>
          </a:p>
        </p:txBody>
      </p:sp>
      <p:sp>
        <p:nvSpPr>
          <p:cNvPr id="4" name="Content Placeholder 3"/>
          <p:cNvSpPr>
            <a:spLocks noGrp="1"/>
          </p:cNvSpPr>
          <p:nvPr>
            <p:ph idx="1"/>
          </p:nvPr>
        </p:nvSpPr>
        <p:spPr/>
        <p:txBody>
          <a:bodyPr>
            <a:normAutofit lnSpcReduction="10000"/>
          </a:bodyPr>
          <a:lstStyle/>
          <a:p>
            <a:r>
              <a:rPr lang="en-US" dirty="0"/>
              <a:t>Necessary for planning</a:t>
            </a:r>
          </a:p>
          <a:p>
            <a:r>
              <a:rPr lang="en-US" dirty="0"/>
              <a:t>Understanding each other</a:t>
            </a:r>
          </a:p>
          <a:p>
            <a:r>
              <a:rPr lang="en-US" dirty="0"/>
              <a:t>Establishment of effective leadership</a:t>
            </a:r>
          </a:p>
          <a:p>
            <a:r>
              <a:rPr lang="en-US" dirty="0"/>
              <a:t>Increases Efficiency and productivity</a:t>
            </a:r>
          </a:p>
          <a:p>
            <a:r>
              <a:rPr lang="en-US" dirty="0"/>
              <a:t>Basis of Decision-making</a:t>
            </a:r>
          </a:p>
          <a:p>
            <a:r>
              <a:rPr lang="en-US" dirty="0"/>
              <a:t>Smooth Working of Enterprise</a:t>
            </a:r>
          </a:p>
          <a:p>
            <a:r>
              <a:rPr lang="en-US" dirty="0"/>
              <a:t>Motivation</a:t>
            </a:r>
          </a:p>
          <a:p>
            <a:r>
              <a:rPr lang="en-US" dirty="0"/>
              <a:t>Co-ordination</a:t>
            </a:r>
          </a:p>
          <a:p>
            <a:r>
              <a:rPr lang="en-JM" dirty="0"/>
              <a:t>Reduce stress</a:t>
            </a:r>
          </a:p>
          <a:p>
            <a:r>
              <a:rPr lang="en-JM" dirty="0"/>
              <a:t>Saves time and money</a:t>
            </a:r>
            <a:endParaRPr lang="en-US" dirty="0"/>
          </a:p>
          <a:p>
            <a:pPr marL="0" indent="0">
              <a:buNone/>
            </a:pPr>
            <a:endParaRPr lang="en-JM" dirty="0"/>
          </a:p>
        </p:txBody>
      </p:sp>
    </p:spTree>
    <p:extLst>
      <p:ext uri="{BB962C8B-B14F-4D97-AF65-F5344CB8AC3E}">
        <p14:creationId xmlns:p14="http://schemas.microsoft.com/office/powerpoint/2010/main" val="34998273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Formal v. informal</a:t>
            </a:r>
            <a:endParaRPr lang="en-JM" dirty="0"/>
          </a:p>
        </p:txBody>
      </p:sp>
      <p:sp>
        <p:nvSpPr>
          <p:cNvPr id="3" name="Content Placeholder 2"/>
          <p:cNvSpPr>
            <a:spLocks noGrp="1"/>
          </p:cNvSpPr>
          <p:nvPr>
            <p:ph idx="1"/>
          </p:nvPr>
        </p:nvSpPr>
        <p:spPr/>
        <p:txBody>
          <a:bodyPr/>
          <a:lstStyle/>
          <a:p>
            <a:pPr algn="just"/>
            <a:r>
              <a:rPr lang="en-IE" dirty="0"/>
              <a:t>Formal communication is communication that flows along the lines of management or authority.</a:t>
            </a:r>
          </a:p>
          <a:p>
            <a:pPr algn="just"/>
            <a:r>
              <a:rPr lang="en-IE" dirty="0"/>
              <a:t>Formal communication takes the shape of verbal briefings, manual forms, reports and meetings.</a:t>
            </a:r>
          </a:p>
          <a:p>
            <a:pPr marL="0" indent="0" algn="just">
              <a:buNone/>
            </a:pPr>
            <a:endParaRPr lang="en-IE" dirty="0"/>
          </a:p>
          <a:p>
            <a:pPr algn="just"/>
            <a:r>
              <a:rPr lang="en-IE" dirty="0"/>
              <a:t>Informal communication occurs when people come together and talk about their working conditions, family, co-workers, etc.</a:t>
            </a:r>
          </a:p>
          <a:p>
            <a:pPr algn="just"/>
            <a:r>
              <a:rPr lang="en-IE" dirty="0"/>
              <a:t>Rumour, gossip, etc. are the examples of the informal communication.</a:t>
            </a:r>
          </a:p>
          <a:p>
            <a:pPr algn="just"/>
            <a:endParaRPr lang="en-IE" dirty="0"/>
          </a:p>
          <a:p>
            <a:pPr algn="just"/>
            <a:endParaRPr lang="en-JM" dirty="0"/>
          </a:p>
        </p:txBody>
      </p:sp>
    </p:spTree>
    <p:extLst>
      <p:ext uri="{BB962C8B-B14F-4D97-AF65-F5344CB8AC3E}">
        <p14:creationId xmlns:p14="http://schemas.microsoft.com/office/powerpoint/2010/main" val="31406359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Formal v. informal</a:t>
            </a:r>
            <a:endParaRPr lang="en-JM" dirty="0"/>
          </a:p>
        </p:txBody>
      </p:sp>
      <p:sp>
        <p:nvSpPr>
          <p:cNvPr id="5" name="Content Placeholder 5"/>
          <p:cNvSpPr txBox="1">
            <a:spLocks/>
          </p:cNvSpPr>
          <p:nvPr/>
        </p:nvSpPr>
        <p:spPr>
          <a:xfrm>
            <a:off x="685800" y="2194559"/>
            <a:ext cx="5334000" cy="40241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marL="0" indent="0" algn="ctr">
              <a:buNone/>
            </a:pPr>
            <a:r>
              <a:rPr lang="en-IE" dirty="0"/>
              <a:t>FORMAL</a:t>
            </a:r>
          </a:p>
          <a:p>
            <a:r>
              <a:rPr lang="en-IE" dirty="0"/>
              <a:t>Used in a professional setting </a:t>
            </a:r>
          </a:p>
          <a:p>
            <a:pPr marL="0" indent="0">
              <a:buNone/>
            </a:pPr>
            <a:r>
              <a:rPr lang="en-IE" dirty="0"/>
              <a:t>   e.g.  forms </a:t>
            </a:r>
          </a:p>
          <a:p>
            <a:r>
              <a:rPr lang="en-IE" dirty="0"/>
              <a:t>No slang</a:t>
            </a:r>
          </a:p>
          <a:p>
            <a:r>
              <a:rPr lang="en-IE" dirty="0"/>
              <a:t>Pronounce words correctly</a:t>
            </a:r>
          </a:p>
        </p:txBody>
      </p:sp>
      <p:sp>
        <p:nvSpPr>
          <p:cNvPr id="6" name="Content Placeholder 7"/>
          <p:cNvSpPr>
            <a:spLocks noGrp="1"/>
          </p:cNvSpPr>
          <p:nvPr>
            <p:ph sz="half" idx="4294967295"/>
          </p:nvPr>
        </p:nvSpPr>
        <p:spPr>
          <a:xfrm>
            <a:off x="6411686" y="2057401"/>
            <a:ext cx="4827814" cy="4525963"/>
          </a:xfrm>
          <a:prstGeom prst="rect">
            <a:avLst/>
          </a:prstGeom>
        </p:spPr>
        <p:txBody>
          <a:bodyPr vert="horz" lIns="91440" tIns="45720" rIns="91440" bIns="45720" rtlCol="0" anchor="t">
            <a:normAutofit/>
          </a:bodyPr>
          <a:lstStyle/>
          <a:p>
            <a:pPr marL="0" indent="0" algn="ctr">
              <a:buNone/>
            </a:pPr>
            <a:r>
              <a:rPr lang="en-IE" dirty="0"/>
              <a:t>INFORMAL</a:t>
            </a:r>
            <a:endParaRPr lang="en-US"/>
          </a:p>
          <a:p>
            <a:r>
              <a:rPr lang="en-IE" dirty="0"/>
              <a:t>Usually used with friends and family</a:t>
            </a:r>
            <a:endParaRPr lang="en-US"/>
          </a:p>
          <a:p>
            <a:r>
              <a:rPr lang="en-IE" dirty="0"/>
              <a:t>Contains shortened version of words</a:t>
            </a:r>
            <a:endParaRPr lang="en-US"/>
          </a:p>
          <a:p>
            <a:r>
              <a:rPr lang="en-IE" dirty="0"/>
              <a:t>Contains slang words</a:t>
            </a:r>
          </a:p>
        </p:txBody>
      </p:sp>
    </p:spTree>
    <p:extLst>
      <p:ext uri="{BB962C8B-B14F-4D97-AF65-F5344CB8AC3E}">
        <p14:creationId xmlns:p14="http://schemas.microsoft.com/office/powerpoint/2010/main" val="2839455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ox(in)">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ox(in)">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box(in)">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box(in)">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box(in)">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6">
                                            <p:txEl>
                                              <p:pRg st="0" end="0"/>
                                            </p:txEl>
                                          </p:spTgt>
                                        </p:tgtEl>
                                        <p:attrNameLst>
                                          <p:attrName>style.visibility</p:attrName>
                                        </p:attrNameLst>
                                      </p:cBhvr>
                                      <p:to>
                                        <p:strVal val="visible"/>
                                      </p:to>
                                    </p:set>
                                    <p:animEffect transition="in" filter="box(in)">
                                      <p:cBhvr>
                                        <p:cTn id="32" dur="500"/>
                                        <p:tgtEl>
                                          <p:spTgt spid="6">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6">
                                            <p:txEl>
                                              <p:pRg st="1" end="1"/>
                                            </p:txEl>
                                          </p:spTgt>
                                        </p:tgtEl>
                                        <p:attrNameLst>
                                          <p:attrName>style.visibility</p:attrName>
                                        </p:attrNameLst>
                                      </p:cBhvr>
                                      <p:to>
                                        <p:strVal val="visible"/>
                                      </p:to>
                                    </p:set>
                                    <p:animEffect transition="in" filter="box(in)">
                                      <p:cBhvr>
                                        <p:cTn id="37" dur="500"/>
                                        <p:tgtEl>
                                          <p:spTgt spid="6">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6">
                                            <p:txEl>
                                              <p:pRg st="2" end="2"/>
                                            </p:txEl>
                                          </p:spTgt>
                                        </p:tgtEl>
                                        <p:attrNameLst>
                                          <p:attrName>style.visibility</p:attrName>
                                        </p:attrNameLst>
                                      </p:cBhvr>
                                      <p:to>
                                        <p:strVal val="visible"/>
                                      </p:to>
                                    </p:set>
                                    <p:animEffect transition="in" filter="box(in)">
                                      <p:cBhvr>
                                        <p:cTn id="42" dur="500"/>
                                        <p:tgtEl>
                                          <p:spTgt spid="6">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6">
                                            <p:txEl>
                                              <p:pRg st="3" end="3"/>
                                            </p:txEl>
                                          </p:spTgt>
                                        </p:tgtEl>
                                        <p:attrNameLst>
                                          <p:attrName>style.visibility</p:attrName>
                                        </p:attrNameLst>
                                      </p:cBhvr>
                                      <p:to>
                                        <p:strVal val="visible"/>
                                      </p:to>
                                    </p:set>
                                    <p:animEffect transition="in" filter="box(in)">
                                      <p:cBhvr>
                                        <p:cTn id="47"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979714" y="1876737"/>
            <a:ext cx="10123715" cy="4832092"/>
          </a:xfrm>
          <a:prstGeom prst="rect">
            <a:avLst/>
          </a:prstGeom>
        </p:spPr>
        <p:txBody>
          <a:bodyPr wrap="square">
            <a:spAutoFit/>
          </a:bodyPr>
          <a:lstStyle/>
          <a:p>
            <a:r>
              <a:rPr lang="en-IE" sz="2200" b="1" dirty="0"/>
              <a:t>Formal communication </a:t>
            </a:r>
            <a:r>
              <a:rPr lang="en-IE" sz="2200" dirty="0"/>
              <a:t>is divided into three parts:</a:t>
            </a:r>
          </a:p>
          <a:p>
            <a:endParaRPr lang="en-IE" sz="2200" dirty="0"/>
          </a:p>
          <a:p>
            <a:pPr marL="342900" indent="-342900">
              <a:lnSpc>
                <a:spcPct val="150000"/>
              </a:lnSpc>
              <a:buFont typeface="Arial" panose="020B0604020202020204" pitchFamily="34" charset="0"/>
              <a:buChar char="•"/>
            </a:pPr>
            <a:r>
              <a:rPr lang="en-IE" sz="2200" dirty="0"/>
              <a:t>Downward communication - where information moves from higher management to employees</a:t>
            </a:r>
          </a:p>
          <a:p>
            <a:pPr marL="342900" indent="-342900">
              <a:lnSpc>
                <a:spcPct val="150000"/>
              </a:lnSpc>
              <a:buFont typeface="Arial" panose="020B0604020202020204" pitchFamily="34" charset="0"/>
              <a:buChar char="•"/>
            </a:pPr>
            <a:r>
              <a:rPr lang="en-IE" sz="2200" dirty="0"/>
              <a:t>Upward communication - where information moves from employees to higher management</a:t>
            </a:r>
          </a:p>
          <a:p>
            <a:pPr marL="342900" indent="-342900">
              <a:lnSpc>
                <a:spcPct val="150000"/>
              </a:lnSpc>
              <a:buFont typeface="Arial" panose="020B0604020202020204" pitchFamily="34" charset="0"/>
              <a:buChar char="•"/>
            </a:pPr>
            <a:r>
              <a:rPr lang="en-IE" sz="2200" dirty="0"/>
              <a:t>Horizontal communication - where information is shared between peers.</a:t>
            </a:r>
          </a:p>
          <a:p>
            <a:pPr>
              <a:lnSpc>
                <a:spcPct val="150000"/>
              </a:lnSpc>
            </a:pPr>
            <a:r>
              <a:rPr lang="en-IE" sz="2200" b="1" dirty="0"/>
              <a:t>Informal communication </a:t>
            </a:r>
            <a:r>
              <a:rPr lang="en-IE" sz="2200" dirty="0"/>
              <a:t>takes the form of casual chats between persons.</a:t>
            </a:r>
          </a:p>
        </p:txBody>
      </p:sp>
      <p:sp>
        <p:nvSpPr>
          <p:cNvPr id="3" name="Title 1"/>
          <p:cNvSpPr txBox="1">
            <a:spLocks/>
          </p:cNvSpPr>
          <p:nvPr/>
        </p:nvSpPr>
        <p:spPr>
          <a:xfrm>
            <a:off x="2895600" y="764373"/>
            <a:ext cx="8610600" cy="1293028"/>
          </a:xfrm>
          <a:prstGeom prst="rect">
            <a:avLst/>
          </a:prstGeom>
        </p:spPr>
        <p:txBody>
          <a:bodyPr/>
          <a:lst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a:lstStyle>
          <a:p>
            <a:r>
              <a:rPr lang="en-US" dirty="0"/>
              <a:t>FORMAL v. Informal TYPES</a:t>
            </a:r>
            <a:endParaRPr lang="en-JM" dirty="0"/>
          </a:p>
        </p:txBody>
      </p:sp>
    </p:spTree>
    <p:extLst>
      <p:ext uri="{BB962C8B-B14F-4D97-AF65-F5344CB8AC3E}">
        <p14:creationId xmlns:p14="http://schemas.microsoft.com/office/powerpoint/2010/main" val="217307654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a:buFont typeface="Wingdings" panose="05000000000000000000" pitchFamily="2" charset="2"/>
              <a:buNone/>
            </a:pPr>
            <a:r>
              <a:rPr lang="en-US" altLang="en-US" dirty="0"/>
              <a:t>A good listener</a:t>
            </a:r>
          </a:p>
        </p:txBody>
      </p:sp>
      <p:sp>
        <p:nvSpPr>
          <p:cNvPr id="12291" name="Rectangle 3"/>
          <p:cNvSpPr>
            <a:spLocks noGrp="1" noChangeArrowheads="1"/>
          </p:cNvSpPr>
          <p:nvPr>
            <p:ph idx="1"/>
          </p:nvPr>
        </p:nvSpPr>
        <p:spPr/>
        <p:txBody>
          <a:bodyPr>
            <a:normAutofit/>
          </a:bodyPr>
          <a:lstStyle/>
          <a:p>
            <a:pPr>
              <a:lnSpc>
                <a:spcPct val="80000"/>
              </a:lnSpc>
            </a:pPr>
            <a:r>
              <a:rPr lang="en-US" altLang="en-US" dirty="0"/>
              <a:t>Conveys sincerity</a:t>
            </a:r>
          </a:p>
          <a:p>
            <a:pPr>
              <a:lnSpc>
                <a:spcPct val="80000"/>
              </a:lnSpc>
            </a:pPr>
            <a:r>
              <a:rPr lang="en-US" altLang="en-US" dirty="0"/>
              <a:t>Does not interject his or her own thoughts</a:t>
            </a:r>
          </a:p>
          <a:p>
            <a:pPr>
              <a:lnSpc>
                <a:spcPct val="80000"/>
              </a:lnSpc>
            </a:pPr>
            <a:r>
              <a:rPr lang="en-US" altLang="en-US" dirty="0"/>
              <a:t>Nods head</a:t>
            </a:r>
          </a:p>
          <a:p>
            <a:pPr>
              <a:lnSpc>
                <a:spcPct val="80000"/>
              </a:lnSpc>
            </a:pPr>
            <a:r>
              <a:rPr lang="en-US" altLang="en-US" dirty="0"/>
              <a:t>Does not finish the sentence for the speaker</a:t>
            </a:r>
          </a:p>
          <a:p>
            <a:pPr>
              <a:lnSpc>
                <a:spcPct val="80000"/>
              </a:lnSpc>
            </a:pPr>
            <a:r>
              <a:rPr lang="en-US" altLang="en-US" dirty="0"/>
              <a:t>Paraphrases what was said</a:t>
            </a:r>
          </a:p>
          <a:p>
            <a:pPr>
              <a:lnSpc>
                <a:spcPct val="80000"/>
              </a:lnSpc>
            </a:pPr>
            <a:r>
              <a:rPr lang="en-US" altLang="en-US" dirty="0"/>
              <a:t>Leans toward the speaker</a:t>
            </a:r>
          </a:p>
          <a:p>
            <a:pPr>
              <a:lnSpc>
                <a:spcPct val="80000"/>
              </a:lnSpc>
            </a:pPr>
            <a:r>
              <a:rPr lang="en-US" altLang="en-US" dirty="0"/>
              <a:t>Shares positive comments</a:t>
            </a:r>
          </a:p>
          <a:p>
            <a:pPr>
              <a:lnSpc>
                <a:spcPct val="80000"/>
              </a:lnSpc>
            </a:pPr>
            <a:r>
              <a:rPr lang="en-US" altLang="en-US" dirty="0"/>
              <a:t>Maintains good eye contact</a:t>
            </a:r>
          </a:p>
        </p:txBody>
      </p:sp>
    </p:spTree>
    <p:extLst>
      <p:ext uri="{BB962C8B-B14F-4D97-AF65-F5344CB8AC3E}">
        <p14:creationId xmlns:p14="http://schemas.microsoft.com/office/powerpoint/2010/main" val="2928346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a:buFont typeface="Wingdings" panose="05000000000000000000" pitchFamily="2" charset="2"/>
              <a:buNone/>
            </a:pPr>
            <a:r>
              <a:rPr lang="en-US" altLang="en-US" dirty="0"/>
              <a:t>To improve listening skills</a:t>
            </a:r>
          </a:p>
        </p:txBody>
      </p:sp>
      <p:sp>
        <p:nvSpPr>
          <p:cNvPr id="13315" name="Rectangle 3"/>
          <p:cNvSpPr>
            <a:spLocks noGrp="1" noChangeArrowheads="1"/>
          </p:cNvSpPr>
          <p:nvPr>
            <p:ph idx="1"/>
          </p:nvPr>
        </p:nvSpPr>
        <p:spPr/>
        <p:txBody>
          <a:bodyPr>
            <a:normAutofit/>
          </a:bodyPr>
          <a:lstStyle/>
          <a:p>
            <a:pPr>
              <a:lnSpc>
                <a:spcPct val="80000"/>
              </a:lnSpc>
            </a:pPr>
            <a:r>
              <a:rPr lang="en-US" altLang="en-US" dirty="0"/>
              <a:t>Focus on the speaker and what he or she is saying.</a:t>
            </a:r>
          </a:p>
          <a:p>
            <a:pPr>
              <a:lnSpc>
                <a:spcPct val="80000"/>
              </a:lnSpc>
            </a:pPr>
            <a:r>
              <a:rPr lang="en-US" altLang="en-US" dirty="0"/>
              <a:t>Look at the speaker and make eye contact when possible.  If you are listening on the telephone, make notes as you listen.</a:t>
            </a:r>
          </a:p>
          <a:p>
            <a:pPr>
              <a:lnSpc>
                <a:spcPct val="80000"/>
              </a:lnSpc>
            </a:pPr>
            <a:r>
              <a:rPr lang="en-US" altLang="en-US" dirty="0"/>
              <a:t>Listen with an open mind.</a:t>
            </a:r>
          </a:p>
          <a:p>
            <a:pPr>
              <a:lnSpc>
                <a:spcPct val="80000"/>
              </a:lnSpc>
            </a:pPr>
            <a:r>
              <a:rPr lang="en-US" altLang="en-US" dirty="0"/>
              <a:t>Rephrase what was said to clarify that you understood the intended message.</a:t>
            </a:r>
          </a:p>
          <a:p>
            <a:pPr>
              <a:lnSpc>
                <a:spcPct val="80000"/>
              </a:lnSpc>
            </a:pPr>
            <a:r>
              <a:rPr lang="en-US" altLang="en-US" dirty="0"/>
              <a:t>Control your body language. Do not show impatience or disapproval.</a:t>
            </a:r>
          </a:p>
        </p:txBody>
      </p:sp>
    </p:spTree>
    <p:extLst>
      <p:ext uri="{BB962C8B-B14F-4D97-AF65-F5344CB8AC3E}">
        <p14:creationId xmlns:p14="http://schemas.microsoft.com/office/powerpoint/2010/main" val="9066604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Communication barriers</a:t>
            </a:r>
            <a:endParaRPr lang="en-JM" dirty="0"/>
          </a:p>
        </p:txBody>
      </p:sp>
      <p:sp>
        <p:nvSpPr>
          <p:cNvPr id="3" name="Content Placeholder 2"/>
          <p:cNvSpPr>
            <a:spLocks noGrp="1"/>
          </p:cNvSpPr>
          <p:nvPr>
            <p:ph idx="1"/>
          </p:nvPr>
        </p:nvSpPr>
        <p:spPr/>
        <p:txBody>
          <a:bodyPr>
            <a:normAutofit lnSpcReduction="10000"/>
          </a:bodyPr>
          <a:lstStyle/>
          <a:p>
            <a:pPr marL="0" indent="0" algn="just">
              <a:buNone/>
            </a:pPr>
            <a:r>
              <a:rPr lang="en-US" dirty="0"/>
              <a:t>There are three levels at which communication takes place</a:t>
            </a:r>
          </a:p>
          <a:p>
            <a:pPr algn="just"/>
            <a:r>
              <a:rPr lang="en-US" dirty="0"/>
              <a:t>Noticing is done with the senses, and is at the physical level</a:t>
            </a:r>
          </a:p>
          <a:p>
            <a:pPr algn="just"/>
            <a:r>
              <a:rPr lang="en-US" dirty="0"/>
              <a:t>Understanding is at the level of intelligence</a:t>
            </a:r>
          </a:p>
          <a:p>
            <a:pPr algn="just"/>
            <a:r>
              <a:rPr lang="en-US" dirty="0"/>
              <a:t>Acceptance is at the emotional level</a:t>
            </a:r>
          </a:p>
          <a:p>
            <a:pPr algn="just"/>
            <a:endParaRPr lang="en-US" dirty="0"/>
          </a:p>
          <a:p>
            <a:pPr algn="just"/>
            <a:r>
              <a:rPr lang="en-US" dirty="0"/>
              <a:t>Anything that hinders the process of communication at any of these levels is a barrier to communication</a:t>
            </a:r>
          </a:p>
          <a:p>
            <a:pPr algn="just"/>
            <a:endParaRPr lang="en-US" dirty="0"/>
          </a:p>
          <a:p>
            <a:pPr algn="just"/>
            <a:r>
              <a:rPr lang="en-US" dirty="0"/>
              <a:t>Barriers to communication can be defined as the aspects or conditions that interfere with effective exchange of ideas or thoughts.</a:t>
            </a:r>
            <a:br>
              <a:rPr lang="en-US" dirty="0"/>
            </a:br>
            <a:endParaRPr lang="en-US" dirty="0"/>
          </a:p>
          <a:p>
            <a:pPr algn="just"/>
            <a:endParaRPr lang="en-JM" dirty="0"/>
          </a:p>
        </p:txBody>
      </p:sp>
    </p:spTree>
    <p:extLst>
      <p:ext uri="{BB962C8B-B14F-4D97-AF65-F5344CB8AC3E}">
        <p14:creationId xmlns:p14="http://schemas.microsoft.com/office/powerpoint/2010/main" val="8053573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936172" y="1926772"/>
            <a:ext cx="4343400" cy="5257800"/>
          </a:xfrm>
        </p:spPr>
        <p:txBody>
          <a:bodyPr>
            <a:normAutofit/>
          </a:bodyPr>
          <a:lstStyle/>
          <a:p>
            <a:pPr lvl="1">
              <a:lnSpc>
                <a:spcPct val="150000"/>
              </a:lnSpc>
              <a:spcBef>
                <a:spcPts val="0"/>
              </a:spcBef>
              <a:buNone/>
            </a:pPr>
            <a:r>
              <a:rPr lang="en-US" sz="2200" dirty="0"/>
              <a:t>Environmental</a:t>
            </a:r>
          </a:p>
          <a:p>
            <a:pPr lvl="1">
              <a:lnSpc>
                <a:spcPct val="150000"/>
              </a:lnSpc>
              <a:spcBef>
                <a:spcPts val="0"/>
              </a:spcBef>
              <a:buNone/>
            </a:pPr>
            <a:r>
              <a:rPr lang="en-US" sz="2200" dirty="0"/>
              <a:t>Technological</a:t>
            </a:r>
          </a:p>
          <a:p>
            <a:pPr lvl="1">
              <a:lnSpc>
                <a:spcPct val="150000"/>
              </a:lnSpc>
              <a:spcBef>
                <a:spcPts val="0"/>
              </a:spcBef>
              <a:buNone/>
            </a:pPr>
            <a:r>
              <a:rPr lang="en-US" sz="2200" dirty="0"/>
              <a:t>Organizational</a:t>
            </a:r>
          </a:p>
          <a:p>
            <a:pPr lvl="1">
              <a:lnSpc>
                <a:spcPct val="150000"/>
              </a:lnSpc>
              <a:spcBef>
                <a:spcPts val="0"/>
              </a:spcBef>
              <a:buNone/>
            </a:pPr>
            <a:r>
              <a:rPr lang="en-US" sz="2200" dirty="0"/>
              <a:t>Jargons</a:t>
            </a:r>
          </a:p>
          <a:p>
            <a:pPr lvl="1">
              <a:lnSpc>
                <a:spcPct val="150000"/>
              </a:lnSpc>
              <a:spcBef>
                <a:spcPts val="0"/>
              </a:spcBef>
              <a:buNone/>
            </a:pPr>
            <a:r>
              <a:rPr lang="en-US" sz="2200" dirty="0"/>
              <a:t>External Noise</a:t>
            </a:r>
          </a:p>
          <a:p>
            <a:pPr lvl="1">
              <a:lnSpc>
                <a:spcPct val="150000"/>
              </a:lnSpc>
              <a:spcBef>
                <a:spcPts val="0"/>
              </a:spcBef>
              <a:buNone/>
            </a:pPr>
            <a:r>
              <a:rPr lang="en-US" sz="2200" dirty="0"/>
              <a:t>Emotions</a:t>
            </a:r>
          </a:p>
          <a:p>
            <a:pPr lvl="1">
              <a:lnSpc>
                <a:spcPct val="150000"/>
              </a:lnSpc>
              <a:spcBef>
                <a:spcPts val="0"/>
              </a:spcBef>
              <a:buNone/>
            </a:pPr>
            <a:r>
              <a:rPr lang="en-US" sz="2200" dirty="0"/>
              <a:t>Distance</a:t>
            </a:r>
          </a:p>
          <a:p>
            <a:pPr lvl="1">
              <a:lnSpc>
                <a:spcPct val="150000"/>
              </a:lnSpc>
              <a:spcBef>
                <a:spcPts val="0"/>
              </a:spcBef>
              <a:buNone/>
            </a:pPr>
            <a:r>
              <a:rPr lang="en-US" sz="2200" dirty="0"/>
              <a:t>Personal Interests</a:t>
            </a:r>
          </a:p>
          <a:p>
            <a:pPr lvl="1">
              <a:lnSpc>
                <a:spcPct val="150000"/>
              </a:lnSpc>
              <a:spcBef>
                <a:spcPts val="0"/>
              </a:spcBef>
              <a:buNone/>
            </a:pPr>
            <a:r>
              <a:rPr lang="en-US" sz="2200" dirty="0"/>
              <a:t>Stereotyping</a:t>
            </a:r>
          </a:p>
          <a:p>
            <a:pPr>
              <a:lnSpc>
                <a:spcPct val="150000"/>
              </a:lnSpc>
              <a:spcBef>
                <a:spcPts val="0"/>
              </a:spcBef>
            </a:pPr>
            <a:endParaRPr lang="en-US" dirty="0"/>
          </a:p>
        </p:txBody>
      </p:sp>
      <p:sp>
        <p:nvSpPr>
          <p:cNvPr id="4" name="Content Placeholder 3"/>
          <p:cNvSpPr>
            <a:spLocks noGrp="1"/>
          </p:cNvSpPr>
          <p:nvPr>
            <p:ph sz="half" idx="2"/>
          </p:nvPr>
        </p:nvSpPr>
        <p:spPr>
          <a:xfrm>
            <a:off x="5998029" y="1926772"/>
            <a:ext cx="4267200" cy="5257800"/>
          </a:xfrm>
        </p:spPr>
        <p:txBody>
          <a:bodyPr>
            <a:normAutofit/>
          </a:bodyPr>
          <a:lstStyle/>
          <a:p>
            <a:pPr lvl="1">
              <a:lnSpc>
                <a:spcPct val="150000"/>
              </a:lnSpc>
              <a:spcBef>
                <a:spcPts val="0"/>
              </a:spcBef>
              <a:buNone/>
            </a:pPr>
            <a:r>
              <a:rPr lang="en-US" sz="2200" dirty="0"/>
              <a:t>Halo Effect</a:t>
            </a:r>
          </a:p>
          <a:p>
            <a:pPr lvl="1">
              <a:lnSpc>
                <a:spcPct val="150000"/>
              </a:lnSpc>
              <a:spcBef>
                <a:spcPts val="0"/>
              </a:spcBef>
              <a:buNone/>
            </a:pPr>
            <a:r>
              <a:rPr lang="en-US" sz="2200" dirty="0"/>
              <a:t>Misinterpretation</a:t>
            </a:r>
          </a:p>
          <a:p>
            <a:pPr lvl="1">
              <a:lnSpc>
                <a:spcPct val="150000"/>
              </a:lnSpc>
              <a:spcBef>
                <a:spcPts val="0"/>
              </a:spcBef>
              <a:buNone/>
            </a:pPr>
            <a:r>
              <a:rPr lang="en-US" sz="2200" dirty="0"/>
              <a:t>Fear</a:t>
            </a:r>
          </a:p>
          <a:p>
            <a:pPr lvl="1">
              <a:lnSpc>
                <a:spcPct val="150000"/>
              </a:lnSpc>
              <a:spcBef>
                <a:spcPts val="0"/>
              </a:spcBef>
              <a:buNone/>
            </a:pPr>
            <a:r>
              <a:rPr lang="en-US" sz="2200" dirty="0"/>
              <a:t>Stress</a:t>
            </a:r>
          </a:p>
          <a:p>
            <a:pPr lvl="1">
              <a:lnSpc>
                <a:spcPct val="150000"/>
              </a:lnSpc>
              <a:spcBef>
                <a:spcPts val="0"/>
              </a:spcBef>
              <a:buNone/>
            </a:pPr>
            <a:r>
              <a:rPr lang="en-US" sz="2200" dirty="0"/>
              <a:t>Status</a:t>
            </a:r>
          </a:p>
          <a:p>
            <a:pPr lvl="1">
              <a:lnSpc>
                <a:spcPct val="150000"/>
              </a:lnSpc>
              <a:spcBef>
                <a:spcPts val="0"/>
              </a:spcBef>
              <a:buNone/>
            </a:pPr>
            <a:r>
              <a:rPr lang="en-US" sz="2200" dirty="0"/>
              <a:t>Chain of command</a:t>
            </a:r>
          </a:p>
          <a:p>
            <a:pPr lvl="1">
              <a:lnSpc>
                <a:spcPct val="150000"/>
              </a:lnSpc>
              <a:spcBef>
                <a:spcPts val="0"/>
              </a:spcBef>
              <a:buNone/>
            </a:pPr>
            <a:r>
              <a:rPr lang="en-US" sz="2200" dirty="0"/>
              <a:t>Trust Issues</a:t>
            </a:r>
          </a:p>
          <a:p>
            <a:pPr lvl="1">
              <a:lnSpc>
                <a:spcPct val="150000"/>
              </a:lnSpc>
              <a:spcBef>
                <a:spcPts val="0"/>
              </a:spcBef>
              <a:buNone/>
            </a:pPr>
            <a:r>
              <a:rPr lang="en-US" sz="2200" dirty="0"/>
              <a:t>Negative Self Image</a:t>
            </a:r>
          </a:p>
          <a:p>
            <a:pPr lvl="1">
              <a:lnSpc>
                <a:spcPct val="150000"/>
              </a:lnSpc>
              <a:spcBef>
                <a:spcPts val="0"/>
              </a:spcBef>
              <a:buNone/>
            </a:pPr>
            <a:r>
              <a:rPr lang="en-US" sz="2200" dirty="0"/>
              <a:t>Perceptual Differences</a:t>
            </a:r>
          </a:p>
          <a:p>
            <a:pPr>
              <a:spcBef>
                <a:spcPts val="0"/>
              </a:spcBef>
            </a:pPr>
            <a:endParaRPr lang="en-US" dirty="0"/>
          </a:p>
        </p:txBody>
      </p:sp>
      <p:sp>
        <p:nvSpPr>
          <p:cNvPr id="6" name="Title 5"/>
          <p:cNvSpPr>
            <a:spLocks noGrp="1"/>
          </p:cNvSpPr>
          <p:nvPr>
            <p:ph type="title"/>
          </p:nvPr>
        </p:nvSpPr>
        <p:spPr/>
        <p:txBody>
          <a:bodyPr/>
          <a:lstStyle/>
          <a:p>
            <a:r>
              <a:rPr lang="en-US" dirty="0"/>
              <a:t>FACTORS</a:t>
            </a:r>
            <a:endParaRPr lang="en-JM" dirty="0"/>
          </a:p>
        </p:txBody>
      </p:sp>
    </p:spTree>
    <p:extLst>
      <p:ext uri="{BB962C8B-B14F-4D97-AF65-F5344CB8AC3E}">
        <p14:creationId xmlns:p14="http://schemas.microsoft.com/office/powerpoint/2010/main" val="16504563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factors</a:t>
            </a:r>
            <a:endParaRPr lang="en-JM" dirty="0"/>
          </a:p>
        </p:txBody>
      </p:sp>
      <p:sp>
        <p:nvSpPr>
          <p:cNvPr id="3" name="Content Placeholder 2"/>
          <p:cNvSpPr>
            <a:spLocks noGrp="1"/>
          </p:cNvSpPr>
          <p:nvPr>
            <p:ph idx="1"/>
          </p:nvPr>
        </p:nvSpPr>
        <p:spPr>
          <a:xfrm>
            <a:off x="685800" y="1872343"/>
            <a:ext cx="10820400" cy="4713513"/>
          </a:xfrm>
        </p:spPr>
        <p:txBody>
          <a:bodyPr>
            <a:normAutofit/>
          </a:bodyPr>
          <a:lstStyle/>
          <a:p>
            <a:pPr algn="just"/>
            <a:r>
              <a:rPr lang="en-US" b="1" dirty="0"/>
              <a:t>Fear</a:t>
            </a:r>
            <a:r>
              <a:rPr lang="en-US" dirty="0"/>
              <a:t>: Fear of reprisal or attack, fear of criticism for knowing very little etc. may create problem in communication.</a:t>
            </a:r>
          </a:p>
          <a:p>
            <a:pPr algn="just"/>
            <a:r>
              <a:rPr lang="en-US" b="1" dirty="0"/>
              <a:t>Halo Effect</a:t>
            </a:r>
            <a:r>
              <a:rPr lang="en-US" dirty="0"/>
              <a:t>: The halo effect is the tendency to use a general impression based on one or a few characteristics to judge other characteristics of that same individual.</a:t>
            </a:r>
          </a:p>
          <a:p>
            <a:pPr algn="just"/>
            <a:r>
              <a:rPr lang="en-US" b="1" dirty="0"/>
              <a:t>Status or power difference</a:t>
            </a:r>
            <a:r>
              <a:rPr lang="en-US" dirty="0"/>
              <a:t>: Communication problem may arise when people of different power or status try to communicate with each other. For example, the manger of a company may neglect suggestion from his subordinates simply because of difference in their status. This under treatment of people makes the communication ineffective.</a:t>
            </a:r>
          </a:p>
          <a:p>
            <a:pPr algn="just"/>
            <a:r>
              <a:rPr lang="en-US" b="1" dirty="0"/>
              <a:t>Noise</a:t>
            </a:r>
            <a:r>
              <a:rPr lang="en-US" dirty="0"/>
              <a:t>: Environment factors may also disrupt effective communication. One such factor is noise. For example, in oral communication, noise hiders smooth flow of information or message. In factories, loud noise of machines makes oral communication very difficult.</a:t>
            </a:r>
          </a:p>
        </p:txBody>
      </p:sp>
    </p:spTree>
    <p:extLst>
      <p:ext uri="{BB962C8B-B14F-4D97-AF65-F5344CB8AC3E}">
        <p14:creationId xmlns:p14="http://schemas.microsoft.com/office/powerpoint/2010/main" val="27696795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factors</a:t>
            </a:r>
            <a:endParaRPr lang="en-JM" dirty="0"/>
          </a:p>
        </p:txBody>
      </p:sp>
      <p:sp>
        <p:nvSpPr>
          <p:cNvPr id="3" name="Content Placeholder 2"/>
          <p:cNvSpPr>
            <a:spLocks noGrp="1"/>
          </p:cNvSpPr>
          <p:nvPr>
            <p:ph idx="1"/>
          </p:nvPr>
        </p:nvSpPr>
        <p:spPr>
          <a:xfrm>
            <a:off x="685800" y="1872343"/>
            <a:ext cx="10820400" cy="4713513"/>
          </a:xfrm>
        </p:spPr>
        <p:txBody>
          <a:bodyPr>
            <a:normAutofit/>
          </a:bodyPr>
          <a:lstStyle/>
          <a:p>
            <a:pPr algn="just"/>
            <a:r>
              <a:rPr lang="en-US" b="1" dirty="0"/>
              <a:t>Negative organizational climate</a:t>
            </a:r>
            <a:r>
              <a:rPr lang="en-US" dirty="0"/>
              <a:t>: The main aspect of organizational climate that acts as communication barrier is the negative attitude of top management. Negative attitude of top management discourages communication initiative of the employees.</a:t>
            </a:r>
          </a:p>
          <a:p>
            <a:pPr algn="just"/>
            <a:r>
              <a:rPr lang="en-US" b="1" dirty="0"/>
              <a:t>Chain of command</a:t>
            </a:r>
            <a:r>
              <a:rPr lang="en-US" dirty="0"/>
              <a:t>: Excessive authority layers acts as a severe impediment to successful communication. In the case of excessive authority layers, information reaches to its final destination passing through several hierarchical levels. As a result, information may be distorted or lost. Excessive authority layers also causes delay in communication.</a:t>
            </a:r>
          </a:p>
          <a:p>
            <a:pPr algn="just"/>
            <a:r>
              <a:rPr lang="en-US" b="1" dirty="0"/>
              <a:t>Stereotyping</a:t>
            </a:r>
            <a:r>
              <a:rPr lang="en-US" dirty="0"/>
              <a:t>: Stereotyping is generalizing about a class of people or events that is widely held by a given culture. In case of stereotyping, people develop communication statements and mindsets about others. This orientation exposes itself in such statements and mindsets. For example, “All used car salesmen are dishonest,” or “All foreign recruiting agents are liars.</a:t>
            </a:r>
          </a:p>
          <a:p>
            <a:pPr algn="just"/>
            <a:endParaRPr lang="en-US" dirty="0"/>
          </a:p>
        </p:txBody>
      </p:sp>
    </p:spTree>
    <p:extLst>
      <p:ext uri="{BB962C8B-B14F-4D97-AF65-F5344CB8AC3E}">
        <p14:creationId xmlns:p14="http://schemas.microsoft.com/office/powerpoint/2010/main" val="28951825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altLang="en-US" dirty="0"/>
              <a:t>Voice Inflection</a:t>
            </a:r>
          </a:p>
        </p:txBody>
      </p:sp>
      <p:sp>
        <p:nvSpPr>
          <p:cNvPr id="14339" name="Rectangle 3"/>
          <p:cNvSpPr>
            <a:spLocks noGrp="1" noChangeArrowheads="1"/>
          </p:cNvSpPr>
          <p:nvPr>
            <p:ph idx="1"/>
          </p:nvPr>
        </p:nvSpPr>
        <p:spPr>
          <a:xfrm>
            <a:off x="685800" y="1955074"/>
            <a:ext cx="10820400" cy="4423955"/>
          </a:xfrm>
        </p:spPr>
        <p:txBody>
          <a:bodyPr>
            <a:normAutofit/>
          </a:bodyPr>
          <a:lstStyle/>
          <a:p>
            <a:pPr marL="0" indent="0" algn="just">
              <a:buNone/>
            </a:pPr>
            <a:r>
              <a:rPr lang="en-US" b="1" dirty="0"/>
              <a:t>Inflection, or Voice Modulation</a:t>
            </a:r>
            <a:r>
              <a:rPr lang="en-US" dirty="0"/>
              <a:t>, is “change in the pitch, timing, loudness or tone of the voice.” </a:t>
            </a:r>
          </a:p>
          <a:p>
            <a:pPr algn="just"/>
            <a:r>
              <a:rPr lang="en-US" dirty="0"/>
              <a:t>Varying your tone throughout the speech – raising your voice slightly to indicate a question, lowering it to end a declarative sentence, speaking louder to indicate excitement or softer to express sadness – will help keep your audience awake and alert!</a:t>
            </a:r>
          </a:p>
          <a:p>
            <a:pPr marL="0" indent="0" algn="just">
              <a:buNone/>
            </a:pPr>
            <a:r>
              <a:rPr lang="en-US" b="1" dirty="0"/>
              <a:t>Upward Inflection</a:t>
            </a:r>
          </a:p>
          <a:p>
            <a:pPr algn="just"/>
            <a:r>
              <a:rPr lang="en-US" dirty="0"/>
              <a:t>This is when there is a change in pitch going from a lower to a higher note within the vowel. Most often, this change in pitch indicates questioning, insincerity, surprise or suspense. Raise the pitch at the end of these words, keeping in mind what they convey with a downward inflection: No! Wow! Really</a:t>
            </a:r>
          </a:p>
          <a:p>
            <a:pPr algn="just"/>
            <a:endParaRPr lang="en-US" altLang="en-US" dirty="0"/>
          </a:p>
          <a:p>
            <a:pPr algn="just"/>
            <a:endParaRPr lang="en-US" altLang="en-US" dirty="0"/>
          </a:p>
        </p:txBody>
      </p:sp>
    </p:spTree>
    <p:extLst>
      <p:ext uri="{BB962C8B-B14F-4D97-AF65-F5344CB8AC3E}">
        <p14:creationId xmlns:p14="http://schemas.microsoft.com/office/powerpoint/2010/main" val="5867386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altLang="en-US" dirty="0"/>
              <a:t>Voice Inflection</a:t>
            </a:r>
          </a:p>
        </p:txBody>
      </p:sp>
      <p:sp>
        <p:nvSpPr>
          <p:cNvPr id="14339" name="Rectangle 3"/>
          <p:cNvSpPr>
            <a:spLocks noGrp="1" noChangeArrowheads="1"/>
          </p:cNvSpPr>
          <p:nvPr>
            <p:ph idx="1"/>
          </p:nvPr>
        </p:nvSpPr>
        <p:spPr>
          <a:xfrm>
            <a:off x="685800" y="1955074"/>
            <a:ext cx="10820400" cy="4750526"/>
          </a:xfrm>
        </p:spPr>
        <p:txBody>
          <a:bodyPr>
            <a:normAutofit lnSpcReduction="10000"/>
          </a:bodyPr>
          <a:lstStyle/>
          <a:p>
            <a:pPr marL="0" indent="0" algn="just">
              <a:buNone/>
            </a:pPr>
            <a:r>
              <a:rPr lang="en-US" b="1" dirty="0"/>
              <a:t>Downward Inflection</a:t>
            </a:r>
          </a:p>
          <a:p>
            <a:pPr algn="just"/>
            <a:r>
              <a:rPr lang="en-US" dirty="0"/>
              <a:t>This is when there is a change in pitch going from a higher to a lower note within the vowel. Most often, this change in pitch indicates confidence, finality, power and certainty. Lower the pitch at the end of these words. keeping in mind what they convey with a downward inflection: Done, No, Go.</a:t>
            </a:r>
          </a:p>
          <a:p>
            <a:pPr marL="0" indent="0" algn="just">
              <a:buNone/>
            </a:pPr>
            <a:r>
              <a:rPr lang="en-US" b="1" dirty="0"/>
              <a:t>Level Inflection</a:t>
            </a:r>
          </a:p>
          <a:p>
            <a:pPr algn="just"/>
            <a:r>
              <a:rPr lang="en-US" dirty="0"/>
              <a:t>This is when there is no change in pitch within the vowel. Most often, this indicates disinterest and indecision. Don’t vary the pitch in these words: OK, Maybe, Fine.</a:t>
            </a:r>
          </a:p>
          <a:p>
            <a:pPr marL="0" indent="0" algn="just">
              <a:buNone/>
            </a:pPr>
            <a:r>
              <a:rPr lang="en-US" b="1" dirty="0"/>
              <a:t>Double or Circumflex Inflection</a:t>
            </a:r>
          </a:p>
          <a:p>
            <a:pPr algn="just"/>
            <a:r>
              <a:rPr lang="en-US" dirty="0"/>
              <a:t>This is when there is a rising and falling, </a:t>
            </a:r>
            <a:r>
              <a:rPr lang="en-US" i="1" dirty="0"/>
              <a:t>or</a:t>
            </a:r>
            <a:r>
              <a:rPr lang="en-US" dirty="0"/>
              <a:t> a falling and rising of pitch within the vowel. Most often, this change in pitch indicates confidence, finality, power, and certainty. E.g. ‘</a:t>
            </a:r>
            <a:r>
              <a:rPr lang="en-US" dirty="0" err="1"/>
              <a:t>Alrighty</a:t>
            </a:r>
            <a:r>
              <a:rPr lang="en-US" dirty="0"/>
              <a:t> then’, ‘moving right along’.</a:t>
            </a:r>
          </a:p>
          <a:p>
            <a:pPr algn="just"/>
            <a:endParaRPr lang="en-US" dirty="0"/>
          </a:p>
          <a:p>
            <a:pPr algn="just"/>
            <a:endParaRPr lang="en-US" altLang="en-US" dirty="0"/>
          </a:p>
        </p:txBody>
      </p:sp>
    </p:spTree>
    <p:extLst>
      <p:ext uri="{BB962C8B-B14F-4D97-AF65-F5344CB8AC3E}">
        <p14:creationId xmlns:p14="http://schemas.microsoft.com/office/powerpoint/2010/main" val="39061328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Voice inflection exercise</a:t>
            </a:r>
            <a:endParaRPr lang="en-JM" dirty="0"/>
          </a:p>
        </p:txBody>
      </p:sp>
      <p:sp>
        <p:nvSpPr>
          <p:cNvPr id="3" name="Content Placeholder 2"/>
          <p:cNvSpPr>
            <a:spLocks noGrp="1"/>
          </p:cNvSpPr>
          <p:nvPr>
            <p:ph idx="1"/>
          </p:nvPr>
        </p:nvSpPr>
        <p:spPr/>
        <p:txBody>
          <a:bodyPr/>
          <a:lstStyle/>
          <a:p>
            <a:pPr marL="0" indent="0">
              <a:buNone/>
            </a:pPr>
            <a:r>
              <a:rPr lang="en-US" dirty="0"/>
              <a:t>Say slowly, and out loud, this sentence:  “I did not say he lost the keys.”</a:t>
            </a:r>
          </a:p>
          <a:p>
            <a:pPr marL="0" indent="0">
              <a:buNone/>
            </a:pPr>
            <a:endParaRPr lang="en-US" dirty="0"/>
          </a:p>
          <a:p>
            <a:pPr marL="0" indent="0">
              <a:buNone/>
            </a:pPr>
            <a:r>
              <a:rPr lang="en-US" dirty="0"/>
              <a:t>Each time you say it, put the Inflection on the underlined word.</a:t>
            </a:r>
          </a:p>
          <a:p>
            <a:pPr marL="0" indent="0">
              <a:buNone/>
            </a:pPr>
            <a:endParaRPr lang="en-US" dirty="0"/>
          </a:p>
          <a:p>
            <a:r>
              <a:rPr lang="en-US" dirty="0"/>
              <a:t>“</a:t>
            </a:r>
            <a:r>
              <a:rPr lang="en-US" u="sng" dirty="0"/>
              <a:t>I</a:t>
            </a:r>
            <a:r>
              <a:rPr lang="en-US" dirty="0"/>
              <a:t> did not say he lost the keys.”           (If not you, who said it?)</a:t>
            </a:r>
          </a:p>
          <a:p>
            <a:r>
              <a:rPr lang="en-US" dirty="0"/>
              <a:t>“</a:t>
            </a:r>
            <a:r>
              <a:rPr lang="en-US" u="sng" dirty="0"/>
              <a:t>I</a:t>
            </a:r>
            <a:r>
              <a:rPr lang="en-US" dirty="0"/>
              <a:t> did not </a:t>
            </a:r>
            <a:r>
              <a:rPr lang="en-US" u="sng" dirty="0"/>
              <a:t>say</a:t>
            </a:r>
            <a:r>
              <a:rPr lang="en-US" dirty="0"/>
              <a:t> he lost the keys.”           (Maybe you wrote it?)</a:t>
            </a:r>
          </a:p>
          <a:p>
            <a:r>
              <a:rPr lang="en-US" dirty="0"/>
              <a:t>“I did not say </a:t>
            </a:r>
            <a:r>
              <a:rPr lang="en-US" u="sng" dirty="0"/>
              <a:t>he</a:t>
            </a:r>
            <a:r>
              <a:rPr lang="en-US" dirty="0"/>
              <a:t> lost the keys.”           (I guess someone else lost the keys.)</a:t>
            </a:r>
          </a:p>
          <a:p>
            <a:r>
              <a:rPr lang="en-US" dirty="0"/>
              <a:t>“I did not say he </a:t>
            </a:r>
            <a:r>
              <a:rPr lang="en-US" u="sng" dirty="0"/>
              <a:t>lost</a:t>
            </a:r>
            <a:r>
              <a:rPr lang="en-US" dirty="0"/>
              <a:t> the keys.”           (Perhaps he gave them away?)</a:t>
            </a:r>
          </a:p>
          <a:p>
            <a:r>
              <a:rPr lang="en-US" dirty="0"/>
              <a:t>“I did not say he lost the </a:t>
            </a:r>
            <a:r>
              <a:rPr lang="en-US" u="sng" dirty="0"/>
              <a:t>keys</a:t>
            </a:r>
            <a:r>
              <a:rPr lang="en-US" dirty="0"/>
              <a:t>.”           (Gee! I hope he didn’t lose the car!)</a:t>
            </a:r>
          </a:p>
          <a:p>
            <a:endParaRPr lang="en-JM" dirty="0"/>
          </a:p>
        </p:txBody>
      </p:sp>
    </p:spTree>
    <p:extLst>
      <p:ext uri="{BB962C8B-B14F-4D97-AF65-F5344CB8AC3E}">
        <p14:creationId xmlns:p14="http://schemas.microsoft.com/office/powerpoint/2010/main" val="23063225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altLang="en-US" dirty="0"/>
              <a:t>Voice Inflection exercise</a:t>
            </a:r>
          </a:p>
        </p:txBody>
      </p:sp>
      <p:pic>
        <p:nvPicPr>
          <p:cNvPr id="2" name="Picture 1"/>
          <p:cNvPicPr>
            <a:picLocks noChangeAspect="1"/>
          </p:cNvPicPr>
          <p:nvPr/>
        </p:nvPicPr>
        <p:blipFill>
          <a:blip r:embed="rId2">
            <a:duotone>
              <a:schemeClr val="accent2">
                <a:shade val="45000"/>
                <a:satMod val="135000"/>
              </a:schemeClr>
              <a:prstClr val="white"/>
            </a:duotone>
          </a:blip>
          <a:stretch>
            <a:fillRect/>
          </a:stretch>
        </p:blipFill>
        <p:spPr>
          <a:xfrm>
            <a:off x="2126446" y="1981200"/>
            <a:ext cx="8280607" cy="4528457"/>
          </a:xfrm>
          <a:prstGeom prst="rect">
            <a:avLst/>
          </a:prstGeom>
        </p:spPr>
      </p:pic>
    </p:spTree>
    <p:extLst>
      <p:ext uri="{BB962C8B-B14F-4D97-AF65-F5344CB8AC3E}">
        <p14:creationId xmlns:p14="http://schemas.microsoft.com/office/powerpoint/2010/main" val="33498288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a:buFont typeface="Wingdings" panose="05000000000000000000" pitchFamily="2" charset="2"/>
              <a:buNone/>
            </a:pPr>
            <a:r>
              <a:rPr lang="en-US" altLang="en-US" dirty="0"/>
              <a:t>Eye Contact</a:t>
            </a:r>
          </a:p>
        </p:txBody>
      </p:sp>
      <p:sp>
        <p:nvSpPr>
          <p:cNvPr id="21507" name="Rectangle 3"/>
          <p:cNvSpPr>
            <a:spLocks noGrp="1" noChangeArrowheads="1"/>
          </p:cNvSpPr>
          <p:nvPr>
            <p:ph idx="1"/>
          </p:nvPr>
        </p:nvSpPr>
        <p:spPr/>
        <p:txBody>
          <a:bodyPr/>
          <a:lstStyle/>
          <a:p>
            <a:pPr marL="0" indent="0">
              <a:buNone/>
            </a:pPr>
            <a:r>
              <a:rPr lang="en-US" altLang="en-US" dirty="0"/>
              <a:t>Eye Contact can be described as “Allowing our eyes to make visual contact with someone else’s eyes”.</a:t>
            </a:r>
          </a:p>
          <a:p>
            <a:pPr marL="0" indent="0">
              <a:buNone/>
            </a:pPr>
            <a:endParaRPr lang="en-US" altLang="en-US" dirty="0"/>
          </a:p>
          <a:p>
            <a:pPr marL="0" indent="0">
              <a:buNone/>
            </a:pPr>
            <a:r>
              <a:rPr lang="en-US" dirty="0"/>
              <a:t>There are a few points that can summarize the importance of eye contact:</a:t>
            </a:r>
          </a:p>
          <a:p>
            <a:r>
              <a:rPr lang="en-US" dirty="0"/>
              <a:t>Eye contact opens and closes communication</a:t>
            </a:r>
          </a:p>
          <a:p>
            <a:r>
              <a:rPr lang="en-US" dirty="0"/>
              <a:t>Increased eye contact is associated with credibility and dominance</a:t>
            </a:r>
          </a:p>
          <a:p>
            <a:r>
              <a:rPr lang="en-US" dirty="0"/>
              <a:t>Lack of contact and blinking are interpreted as submissive</a:t>
            </a:r>
          </a:p>
          <a:p>
            <a:r>
              <a:rPr lang="en-US" dirty="0"/>
              <a:t>High status people are looked at, and look more while talking than listening</a:t>
            </a:r>
          </a:p>
          <a:p>
            <a:r>
              <a:rPr lang="en-US" dirty="0"/>
              <a:t>Stares communicate hostility</a:t>
            </a:r>
          </a:p>
          <a:p>
            <a:endParaRPr lang="en-US" altLang="en-US" dirty="0"/>
          </a:p>
        </p:txBody>
      </p:sp>
    </p:spTree>
    <p:extLst>
      <p:ext uri="{BB962C8B-B14F-4D97-AF65-F5344CB8AC3E}">
        <p14:creationId xmlns:p14="http://schemas.microsoft.com/office/powerpoint/2010/main" val="42063293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a:buFont typeface="Wingdings" panose="05000000000000000000" pitchFamily="2" charset="2"/>
              <a:buNone/>
            </a:pPr>
            <a:r>
              <a:rPr lang="en-US" altLang="en-US" dirty="0"/>
              <a:t>Eye Contact</a:t>
            </a:r>
          </a:p>
        </p:txBody>
      </p:sp>
      <p:sp>
        <p:nvSpPr>
          <p:cNvPr id="21507" name="Rectangle 3"/>
          <p:cNvSpPr>
            <a:spLocks noGrp="1" noChangeArrowheads="1"/>
          </p:cNvSpPr>
          <p:nvPr>
            <p:ph idx="1"/>
          </p:nvPr>
        </p:nvSpPr>
        <p:spPr/>
        <p:txBody>
          <a:bodyPr>
            <a:normAutofit/>
          </a:bodyPr>
          <a:lstStyle/>
          <a:p>
            <a:pPr algn="just"/>
            <a:r>
              <a:rPr lang="en-US" dirty="0"/>
              <a:t>Eye-contact signifies interest in what another person has to say. When a person looks away it’s often a sign that they are not interested. </a:t>
            </a:r>
          </a:p>
          <a:p>
            <a:pPr algn="just"/>
            <a:r>
              <a:rPr lang="en-US" dirty="0"/>
              <a:t>Have you ever tried to have a conversation with someone but they don’t look directly at you? Did you feel that the person was really listening?</a:t>
            </a:r>
          </a:p>
          <a:p>
            <a:pPr algn="just"/>
            <a:r>
              <a:rPr lang="en-US" dirty="0"/>
              <a:t>Reading a speech from written notes makes the audience feel that you are not talking to them, but at them. Maintain eye-contact with each person for 3-5 seconds. Staring too long at one person makes that person very uncomfortable and excludes everyone else. </a:t>
            </a:r>
          </a:p>
          <a:p>
            <a:pPr algn="just"/>
            <a:r>
              <a:rPr lang="en-US" dirty="0"/>
              <a:t>Eye-contact often signifies honesty. People who lie usually can’t help but look away but someone who is honest has no hesitation looking at listeners.</a:t>
            </a:r>
          </a:p>
          <a:p>
            <a:pPr algn="just"/>
            <a:endParaRPr lang="en-US" altLang="en-US" dirty="0"/>
          </a:p>
        </p:txBody>
      </p:sp>
    </p:spTree>
    <p:extLst>
      <p:ext uri="{BB962C8B-B14F-4D97-AF65-F5344CB8AC3E}">
        <p14:creationId xmlns:p14="http://schemas.microsoft.com/office/powerpoint/2010/main" val="6993072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altLang="en-US"/>
              <a:t>Characteristics revealed by your voice and message</a:t>
            </a:r>
          </a:p>
        </p:txBody>
      </p:sp>
      <p:sp>
        <p:nvSpPr>
          <p:cNvPr id="16387" name="Rectangle 3"/>
          <p:cNvSpPr>
            <a:spLocks noGrp="1" noChangeArrowheads="1"/>
          </p:cNvSpPr>
          <p:nvPr>
            <p:ph idx="1"/>
          </p:nvPr>
        </p:nvSpPr>
        <p:spPr/>
        <p:txBody>
          <a:bodyPr>
            <a:normAutofit lnSpcReduction="10000"/>
          </a:bodyPr>
          <a:lstStyle/>
          <a:p>
            <a:pPr>
              <a:lnSpc>
                <a:spcPct val="80000"/>
              </a:lnSpc>
            </a:pPr>
            <a:r>
              <a:rPr lang="en-US" altLang="en-US"/>
              <a:t>Level of job satisfaction</a:t>
            </a:r>
          </a:p>
          <a:p>
            <a:pPr>
              <a:lnSpc>
                <a:spcPct val="80000"/>
              </a:lnSpc>
            </a:pPr>
            <a:r>
              <a:rPr lang="en-US" altLang="en-US"/>
              <a:t>Attitude</a:t>
            </a:r>
          </a:p>
          <a:p>
            <a:pPr>
              <a:lnSpc>
                <a:spcPct val="80000"/>
              </a:lnSpc>
            </a:pPr>
            <a:r>
              <a:rPr lang="en-US" altLang="en-US"/>
              <a:t>Gender</a:t>
            </a:r>
          </a:p>
          <a:p>
            <a:pPr>
              <a:lnSpc>
                <a:spcPct val="80000"/>
              </a:lnSpc>
            </a:pPr>
            <a:r>
              <a:rPr lang="en-US" altLang="en-US"/>
              <a:t>Education</a:t>
            </a:r>
          </a:p>
          <a:p>
            <a:pPr>
              <a:lnSpc>
                <a:spcPct val="80000"/>
              </a:lnSpc>
            </a:pPr>
            <a:r>
              <a:rPr lang="en-US" altLang="en-US"/>
              <a:t>Knowledge level</a:t>
            </a:r>
          </a:p>
          <a:p>
            <a:pPr>
              <a:lnSpc>
                <a:spcPct val="80000"/>
              </a:lnSpc>
            </a:pPr>
            <a:r>
              <a:rPr lang="en-US" altLang="en-US"/>
              <a:t>Speed at which you work and react</a:t>
            </a:r>
          </a:p>
          <a:p>
            <a:pPr>
              <a:lnSpc>
                <a:spcPct val="80000"/>
              </a:lnSpc>
            </a:pPr>
            <a:r>
              <a:rPr lang="en-US" altLang="en-US"/>
              <a:t>Confidence</a:t>
            </a:r>
          </a:p>
          <a:p>
            <a:pPr>
              <a:lnSpc>
                <a:spcPct val="80000"/>
              </a:lnSpc>
            </a:pPr>
            <a:r>
              <a:rPr lang="en-US" altLang="en-US"/>
              <a:t>Region (or country) of origin</a:t>
            </a:r>
          </a:p>
          <a:p>
            <a:pPr>
              <a:lnSpc>
                <a:spcPct val="80000"/>
              </a:lnSpc>
            </a:pPr>
            <a:r>
              <a:rPr lang="en-US" altLang="en-US"/>
              <a:t>Status</a:t>
            </a:r>
          </a:p>
          <a:p>
            <a:pPr>
              <a:lnSpc>
                <a:spcPct val="80000"/>
              </a:lnSpc>
            </a:pPr>
            <a:r>
              <a:rPr lang="en-US" altLang="en-US"/>
              <a:t>Energy level</a:t>
            </a:r>
          </a:p>
          <a:p>
            <a:pPr>
              <a:lnSpc>
                <a:spcPct val="80000"/>
              </a:lnSpc>
            </a:pPr>
            <a:r>
              <a:rPr lang="en-US" altLang="en-US"/>
              <a:t>Mood</a:t>
            </a:r>
          </a:p>
        </p:txBody>
      </p:sp>
    </p:spTree>
    <p:extLst>
      <p:ext uri="{BB962C8B-B14F-4D97-AF65-F5344CB8AC3E}">
        <p14:creationId xmlns:p14="http://schemas.microsoft.com/office/powerpoint/2010/main" val="20430880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altLang="en-US" dirty="0"/>
              <a:t>Answering a Call Successfully</a:t>
            </a:r>
          </a:p>
        </p:txBody>
      </p:sp>
      <p:sp>
        <p:nvSpPr>
          <p:cNvPr id="17411" name="Rectangle 3"/>
          <p:cNvSpPr>
            <a:spLocks noGrp="1" noChangeArrowheads="1"/>
          </p:cNvSpPr>
          <p:nvPr>
            <p:ph idx="1"/>
          </p:nvPr>
        </p:nvSpPr>
        <p:spPr/>
        <p:txBody>
          <a:bodyPr>
            <a:normAutofit/>
          </a:bodyPr>
          <a:lstStyle/>
          <a:p>
            <a:r>
              <a:rPr lang="en-US" altLang="en-US" dirty="0"/>
              <a:t>Sit Up.</a:t>
            </a:r>
          </a:p>
          <a:p>
            <a:r>
              <a:rPr lang="en-US" altLang="en-US" dirty="0"/>
              <a:t>Smile!</a:t>
            </a:r>
          </a:p>
          <a:p>
            <a:r>
              <a:rPr lang="en-US" altLang="en-US" dirty="0"/>
              <a:t>Answer with an enthusiastic and professional greeting.</a:t>
            </a:r>
          </a:p>
          <a:p>
            <a:r>
              <a:rPr lang="en-US" altLang="en-US" dirty="0"/>
              <a:t>Ask questions.</a:t>
            </a:r>
          </a:p>
          <a:p>
            <a:r>
              <a:rPr lang="en-US" altLang="en-US" dirty="0"/>
              <a:t>Give answers and assistance as quickly as possible.</a:t>
            </a:r>
          </a:p>
          <a:p>
            <a:r>
              <a:rPr lang="en-US" altLang="en-US" dirty="0"/>
              <a:t>Thank the caller.</a:t>
            </a:r>
          </a:p>
          <a:p>
            <a:r>
              <a:rPr lang="en-US" altLang="en-US" dirty="0"/>
              <a:t>Conclude the call in a positive manner.</a:t>
            </a:r>
          </a:p>
          <a:p>
            <a:r>
              <a:rPr lang="en-US" altLang="en-US" dirty="0"/>
              <a:t>Follow up on the call.</a:t>
            </a:r>
          </a:p>
        </p:txBody>
      </p:sp>
    </p:spTree>
    <p:extLst>
      <p:ext uri="{BB962C8B-B14F-4D97-AF65-F5344CB8AC3E}">
        <p14:creationId xmlns:p14="http://schemas.microsoft.com/office/powerpoint/2010/main" val="20937034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altLang="en-US" dirty="0"/>
              <a:t>ENDING a Call Successfully</a:t>
            </a:r>
          </a:p>
        </p:txBody>
      </p:sp>
      <p:sp>
        <p:nvSpPr>
          <p:cNvPr id="17411" name="Rectangle 3"/>
          <p:cNvSpPr>
            <a:spLocks noGrp="1" noChangeArrowheads="1"/>
          </p:cNvSpPr>
          <p:nvPr>
            <p:ph idx="1"/>
          </p:nvPr>
        </p:nvSpPr>
        <p:spPr/>
        <p:txBody>
          <a:bodyPr>
            <a:normAutofit lnSpcReduction="10000"/>
          </a:bodyPr>
          <a:lstStyle/>
          <a:p>
            <a:pPr marL="0" indent="0" algn="just">
              <a:buNone/>
            </a:pPr>
            <a:r>
              <a:rPr lang="en-US" sz="2400" dirty="0"/>
              <a:t>There are several ways that you can end a long phone call without making up a story or sounding dismissive:</a:t>
            </a:r>
          </a:p>
          <a:p>
            <a:pPr marL="0" indent="0" algn="just">
              <a:buNone/>
            </a:pPr>
            <a:endParaRPr lang="en-US" sz="2400" dirty="0"/>
          </a:p>
          <a:p>
            <a:pPr algn="just"/>
            <a:r>
              <a:rPr lang="en-US" sz="2400" dirty="0"/>
              <a:t>Leave the conversation open.</a:t>
            </a:r>
          </a:p>
          <a:p>
            <a:pPr algn="just"/>
            <a:r>
              <a:rPr lang="en-US" sz="2400" dirty="0"/>
              <a:t>Promise to finish your discussion at another time.</a:t>
            </a:r>
          </a:p>
          <a:p>
            <a:pPr algn="just"/>
            <a:r>
              <a:rPr lang="en-US" sz="2400" dirty="0"/>
              <a:t>Tell the person how much you’ve enjoyed speaking with him/her.</a:t>
            </a:r>
          </a:p>
          <a:p>
            <a:pPr marL="0" indent="0" algn="just">
              <a:buNone/>
            </a:pPr>
            <a:endParaRPr lang="en-US" sz="2400" dirty="0"/>
          </a:p>
          <a:p>
            <a:pPr marL="0" indent="0" algn="just">
              <a:buNone/>
            </a:pPr>
            <a:r>
              <a:rPr lang="en-US" sz="2400" dirty="0"/>
              <a:t>As long as you are honest and polite with the other person, you shouldn’t have any problems ending a call and moving on to something else. </a:t>
            </a:r>
            <a:endParaRPr lang="en-US" altLang="en-US" sz="2400" dirty="0"/>
          </a:p>
        </p:txBody>
      </p:sp>
    </p:spTree>
    <p:extLst>
      <p:ext uri="{BB962C8B-B14F-4D97-AF65-F5344CB8AC3E}">
        <p14:creationId xmlns:p14="http://schemas.microsoft.com/office/powerpoint/2010/main" val="40969489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dirty="0"/>
              <a:t>leaving a voicemail</a:t>
            </a:r>
          </a:p>
        </p:txBody>
      </p:sp>
      <p:sp>
        <p:nvSpPr>
          <p:cNvPr id="23555" name="Rectangle 3"/>
          <p:cNvSpPr>
            <a:spLocks noGrp="1" noChangeArrowheads="1"/>
          </p:cNvSpPr>
          <p:nvPr>
            <p:ph idx="1"/>
          </p:nvPr>
        </p:nvSpPr>
        <p:spPr/>
        <p:txBody>
          <a:bodyPr>
            <a:normAutofit/>
          </a:bodyPr>
          <a:lstStyle/>
          <a:p>
            <a:pPr>
              <a:lnSpc>
                <a:spcPct val="80000"/>
              </a:lnSpc>
              <a:spcAft>
                <a:spcPts val="600"/>
              </a:spcAft>
              <a:buFont typeface="Arial" panose="020B0604020202020204" pitchFamily="34" charset="0"/>
              <a:buChar char="•"/>
            </a:pPr>
            <a:r>
              <a:rPr lang="en-US" altLang="en-US" dirty="0"/>
              <a:t>Speaking clearly and slowly, identify yourself, your company, the day and date, and the time.</a:t>
            </a:r>
          </a:p>
          <a:p>
            <a:pPr>
              <a:lnSpc>
                <a:spcPct val="80000"/>
              </a:lnSpc>
              <a:spcAft>
                <a:spcPts val="600"/>
              </a:spcAft>
              <a:buFont typeface="Arial" panose="020B0604020202020204" pitchFamily="34" charset="0"/>
              <a:buChar char="•"/>
            </a:pPr>
            <a:r>
              <a:rPr lang="en-US" altLang="en-US" dirty="0"/>
              <a:t>State the reason for your call.</a:t>
            </a:r>
          </a:p>
          <a:p>
            <a:pPr>
              <a:lnSpc>
                <a:spcPct val="80000"/>
              </a:lnSpc>
              <a:spcAft>
                <a:spcPts val="600"/>
              </a:spcAft>
              <a:buFont typeface="Arial" panose="020B0604020202020204" pitchFamily="34" charset="0"/>
              <a:buChar char="•"/>
            </a:pPr>
            <a:r>
              <a:rPr lang="en-US" altLang="en-US" dirty="0"/>
              <a:t>Suggest to the customer what the next step should be.  Is he or she to call you back or wait for more information?</a:t>
            </a:r>
          </a:p>
          <a:p>
            <a:pPr>
              <a:lnSpc>
                <a:spcPct val="80000"/>
              </a:lnSpc>
              <a:spcAft>
                <a:spcPts val="600"/>
              </a:spcAft>
              <a:buFont typeface="Arial" panose="020B0604020202020204" pitchFamily="34" charset="0"/>
              <a:buChar char="•"/>
            </a:pPr>
            <a:r>
              <a:rPr lang="en-US" altLang="en-US" dirty="0"/>
              <a:t>Leave your name and the phone number where you can be reached.  </a:t>
            </a:r>
          </a:p>
          <a:p>
            <a:pPr>
              <a:lnSpc>
                <a:spcPct val="80000"/>
              </a:lnSpc>
              <a:spcAft>
                <a:spcPts val="600"/>
              </a:spcAft>
              <a:buFont typeface="Arial" panose="020B0604020202020204" pitchFamily="34" charset="0"/>
              <a:buChar char="•"/>
            </a:pPr>
            <a:r>
              <a:rPr lang="en-US" altLang="en-US" dirty="0"/>
              <a:t>Close with a positive farewell.</a:t>
            </a:r>
          </a:p>
        </p:txBody>
      </p:sp>
    </p:spTree>
    <p:extLst>
      <p:ext uri="{BB962C8B-B14F-4D97-AF65-F5344CB8AC3E}">
        <p14:creationId xmlns:p14="http://schemas.microsoft.com/office/powerpoint/2010/main" val="12378067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2"/>
          <p:cNvSpPr>
            <a:spLocks noGrp="1" noChangeArrowheads="1"/>
          </p:cNvSpPr>
          <p:nvPr>
            <p:ph type="title"/>
          </p:nvPr>
        </p:nvSpPr>
        <p:spPr/>
        <p:txBody>
          <a:bodyPr/>
          <a:lstStyle/>
          <a:p>
            <a:pPr>
              <a:buFont typeface="Wingdings" pitchFamily="2" charset="2"/>
              <a:buNone/>
              <a:defRPr/>
            </a:pPr>
            <a:r>
              <a:t>Words to Use</a:t>
            </a:r>
          </a:p>
        </p:txBody>
      </p:sp>
      <p:sp>
        <p:nvSpPr>
          <p:cNvPr id="18435" name="Rectangle 3"/>
          <p:cNvSpPr>
            <a:spLocks noGrp="1" noChangeArrowheads="1"/>
          </p:cNvSpPr>
          <p:nvPr>
            <p:ph sz="half" idx="1"/>
          </p:nvPr>
        </p:nvSpPr>
        <p:spPr>
          <a:xfrm>
            <a:off x="1045028" y="2194559"/>
            <a:ext cx="4191000" cy="4525963"/>
          </a:xfrm>
        </p:spPr>
        <p:txBody>
          <a:bodyPr>
            <a:normAutofit lnSpcReduction="10000"/>
          </a:bodyPr>
          <a:lstStyle/>
          <a:p>
            <a:pPr>
              <a:lnSpc>
                <a:spcPct val="90000"/>
              </a:lnSpc>
            </a:pPr>
            <a:r>
              <a:rPr lang="en-US" altLang="en-US" sz="2400" dirty="0"/>
              <a:t>Please</a:t>
            </a:r>
          </a:p>
          <a:p>
            <a:pPr>
              <a:lnSpc>
                <a:spcPct val="90000"/>
              </a:lnSpc>
            </a:pPr>
            <a:r>
              <a:rPr lang="en-US" altLang="en-US" sz="2400" dirty="0"/>
              <a:t>Yes</a:t>
            </a:r>
          </a:p>
          <a:p>
            <a:pPr>
              <a:lnSpc>
                <a:spcPct val="90000"/>
              </a:lnSpc>
            </a:pPr>
            <a:r>
              <a:rPr lang="en-US" altLang="en-US" sz="2400" dirty="0"/>
              <a:t>May I</a:t>
            </a:r>
          </a:p>
          <a:p>
            <a:pPr>
              <a:lnSpc>
                <a:spcPct val="90000"/>
              </a:lnSpc>
            </a:pPr>
            <a:r>
              <a:rPr lang="en-US" altLang="en-US" sz="2400" dirty="0"/>
              <a:t>Consider this</a:t>
            </a:r>
          </a:p>
          <a:p>
            <a:pPr>
              <a:lnSpc>
                <a:spcPct val="90000"/>
              </a:lnSpc>
            </a:pPr>
            <a:r>
              <a:rPr lang="en-US" altLang="en-US" sz="2400" dirty="0"/>
              <a:t>Do</a:t>
            </a:r>
          </a:p>
          <a:p>
            <a:pPr>
              <a:lnSpc>
                <a:spcPct val="90000"/>
              </a:lnSpc>
            </a:pPr>
            <a:r>
              <a:rPr lang="en-US" altLang="en-US" sz="2400" dirty="0"/>
              <a:t>Let’s negotiate</a:t>
            </a:r>
          </a:p>
          <a:p>
            <a:pPr>
              <a:lnSpc>
                <a:spcPct val="90000"/>
              </a:lnSpc>
            </a:pPr>
            <a:r>
              <a:rPr lang="en-US" altLang="en-US" sz="2400" dirty="0"/>
              <a:t>Will</a:t>
            </a:r>
          </a:p>
          <a:p>
            <a:pPr>
              <a:lnSpc>
                <a:spcPct val="90000"/>
              </a:lnSpc>
            </a:pPr>
            <a:r>
              <a:rPr lang="en-US" altLang="en-US" sz="2400" dirty="0"/>
              <a:t>Thank you</a:t>
            </a:r>
          </a:p>
        </p:txBody>
      </p:sp>
      <p:sp>
        <p:nvSpPr>
          <p:cNvPr id="18436" name="Rectangle 4"/>
          <p:cNvSpPr>
            <a:spLocks noGrp="1" noChangeArrowheads="1"/>
          </p:cNvSpPr>
          <p:nvPr>
            <p:ph sz="half" idx="2"/>
          </p:nvPr>
        </p:nvSpPr>
        <p:spPr/>
        <p:txBody>
          <a:bodyPr>
            <a:normAutofit lnSpcReduction="10000"/>
          </a:bodyPr>
          <a:lstStyle/>
          <a:p>
            <a:pPr>
              <a:lnSpc>
                <a:spcPct val="90000"/>
              </a:lnSpc>
            </a:pPr>
            <a:r>
              <a:rPr lang="en-US" altLang="en-US" sz="2400" dirty="0"/>
              <a:t>You</a:t>
            </a:r>
          </a:p>
          <a:p>
            <a:pPr>
              <a:lnSpc>
                <a:spcPct val="90000"/>
              </a:lnSpc>
            </a:pPr>
            <a:r>
              <a:rPr lang="en-US" altLang="en-US" sz="2400" dirty="0"/>
              <a:t>Us</a:t>
            </a:r>
          </a:p>
          <a:p>
            <a:pPr>
              <a:lnSpc>
                <a:spcPct val="90000"/>
              </a:lnSpc>
            </a:pPr>
            <a:r>
              <a:rPr lang="en-US" altLang="en-US" sz="2400" dirty="0"/>
              <a:t>Appreciate</a:t>
            </a:r>
          </a:p>
          <a:p>
            <a:pPr>
              <a:lnSpc>
                <a:spcPct val="90000"/>
              </a:lnSpc>
            </a:pPr>
            <a:r>
              <a:rPr lang="en-US" altLang="en-US" sz="2400" dirty="0"/>
              <a:t>Can</a:t>
            </a:r>
          </a:p>
          <a:p>
            <a:pPr>
              <a:lnSpc>
                <a:spcPct val="90000"/>
              </a:lnSpc>
            </a:pPr>
            <a:r>
              <a:rPr lang="en-US" altLang="en-US" sz="2400" dirty="0"/>
              <a:t>the customer’s name</a:t>
            </a:r>
          </a:p>
          <a:p>
            <a:pPr>
              <a:lnSpc>
                <a:spcPct val="90000"/>
              </a:lnSpc>
            </a:pPr>
            <a:r>
              <a:rPr lang="en-US" altLang="en-US" sz="2400" dirty="0"/>
              <a:t>Would you like</a:t>
            </a:r>
          </a:p>
          <a:p>
            <a:pPr>
              <a:lnSpc>
                <a:spcPct val="90000"/>
              </a:lnSpc>
            </a:pPr>
            <a:r>
              <a:rPr lang="en-US" altLang="en-US" sz="2400" dirty="0"/>
              <a:t>Opportunity</a:t>
            </a:r>
          </a:p>
          <a:p>
            <a:pPr>
              <a:lnSpc>
                <a:spcPct val="90000"/>
              </a:lnSpc>
            </a:pPr>
            <a:r>
              <a:rPr lang="en-US" altLang="en-US" sz="2400" dirty="0"/>
              <a:t>Challenge</a:t>
            </a:r>
          </a:p>
          <a:p>
            <a:pPr>
              <a:lnSpc>
                <a:spcPct val="90000"/>
              </a:lnSpc>
            </a:pPr>
            <a:r>
              <a:rPr lang="en-US" altLang="en-US" sz="2400" dirty="0"/>
              <a:t>Regret</a:t>
            </a:r>
          </a:p>
        </p:txBody>
      </p:sp>
    </p:spTree>
    <p:extLst>
      <p:ext uri="{BB962C8B-B14F-4D97-AF65-F5344CB8AC3E}">
        <p14:creationId xmlns:p14="http://schemas.microsoft.com/office/powerpoint/2010/main" val="40866247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p:cNvSpPr>
            <a:spLocks noGrp="1" noChangeArrowheads="1"/>
          </p:cNvSpPr>
          <p:nvPr>
            <p:ph type="title"/>
          </p:nvPr>
        </p:nvSpPr>
        <p:spPr/>
        <p:txBody>
          <a:bodyPr/>
          <a:lstStyle/>
          <a:p>
            <a:pPr>
              <a:defRPr/>
            </a:pPr>
            <a:r>
              <a:t>Words to Avoid</a:t>
            </a:r>
          </a:p>
        </p:txBody>
      </p:sp>
      <p:sp>
        <p:nvSpPr>
          <p:cNvPr id="19459" name="Rectangle 3"/>
          <p:cNvSpPr>
            <a:spLocks noGrp="1" noChangeArrowheads="1"/>
          </p:cNvSpPr>
          <p:nvPr>
            <p:ph sz="half" idx="1"/>
          </p:nvPr>
        </p:nvSpPr>
        <p:spPr>
          <a:xfrm>
            <a:off x="1143000" y="2194559"/>
            <a:ext cx="4191000" cy="4525963"/>
          </a:xfrm>
        </p:spPr>
        <p:txBody>
          <a:bodyPr/>
          <a:lstStyle/>
          <a:p>
            <a:r>
              <a:rPr lang="en-US" altLang="en-US" sz="2400" dirty="0"/>
              <a:t>Can’t</a:t>
            </a:r>
          </a:p>
          <a:p>
            <a:r>
              <a:rPr lang="en-US" altLang="en-US" sz="2400" dirty="0"/>
              <a:t>Never</a:t>
            </a:r>
          </a:p>
          <a:p>
            <a:r>
              <a:rPr lang="en-US" altLang="en-US" sz="2400" dirty="0"/>
              <a:t>Don’t</a:t>
            </a:r>
          </a:p>
          <a:p>
            <a:r>
              <a:rPr lang="en-US" altLang="en-US" sz="2400" dirty="0"/>
              <a:t>You have to</a:t>
            </a:r>
          </a:p>
          <a:p>
            <a:r>
              <a:rPr lang="en-US" altLang="en-US" sz="2400" dirty="0"/>
              <a:t>Don’t tell me no</a:t>
            </a:r>
          </a:p>
          <a:p>
            <a:r>
              <a:rPr lang="en-US" altLang="en-US" sz="2400" dirty="0"/>
              <a:t>Won’t</a:t>
            </a:r>
          </a:p>
          <a:p>
            <a:r>
              <a:rPr lang="en-US" altLang="en-US" sz="2400" dirty="0"/>
              <a:t>Not our policy</a:t>
            </a:r>
          </a:p>
          <a:p>
            <a:r>
              <a:rPr lang="en-US" altLang="en-US" sz="2400" dirty="0"/>
              <a:t>Not my job</a:t>
            </a:r>
          </a:p>
        </p:txBody>
      </p:sp>
      <p:sp>
        <p:nvSpPr>
          <p:cNvPr id="19460" name="Rectangle 4"/>
          <p:cNvSpPr>
            <a:spLocks noGrp="1" noChangeArrowheads="1"/>
          </p:cNvSpPr>
          <p:nvPr>
            <p:ph sz="half" idx="2"/>
          </p:nvPr>
        </p:nvSpPr>
        <p:spPr/>
        <p:txBody>
          <a:bodyPr/>
          <a:lstStyle/>
          <a:p>
            <a:r>
              <a:rPr lang="en-US" altLang="en-US" sz="2400"/>
              <a:t>Profanity</a:t>
            </a:r>
          </a:p>
          <a:p>
            <a:r>
              <a:rPr lang="en-US" altLang="en-US" sz="2400"/>
              <a:t>Vulgarity</a:t>
            </a:r>
          </a:p>
          <a:p>
            <a:r>
              <a:rPr lang="en-US" altLang="en-US" sz="2400"/>
              <a:t>Love slang (honey, etc.)</a:t>
            </a:r>
          </a:p>
          <a:p>
            <a:r>
              <a:rPr lang="en-US" altLang="en-US" sz="2400"/>
              <a:t>We’ll try</a:t>
            </a:r>
          </a:p>
          <a:p>
            <a:r>
              <a:rPr lang="en-US" altLang="en-US" sz="2400"/>
              <a:t>Haven’t had time</a:t>
            </a:r>
          </a:p>
          <a:p>
            <a:r>
              <a:rPr lang="en-US" altLang="en-US" sz="2400"/>
              <a:t>I do</a:t>
            </a:r>
          </a:p>
          <a:p>
            <a:r>
              <a:rPr lang="en-US" altLang="en-US" sz="2400"/>
              <a:t>I know</a:t>
            </a:r>
          </a:p>
          <a:p>
            <a:r>
              <a:rPr lang="en-US" altLang="en-US" sz="2400"/>
              <a:t>Hang on for a second</a:t>
            </a:r>
          </a:p>
        </p:txBody>
      </p:sp>
    </p:spTree>
    <p:extLst>
      <p:ext uri="{BB962C8B-B14F-4D97-AF65-F5344CB8AC3E}">
        <p14:creationId xmlns:p14="http://schemas.microsoft.com/office/powerpoint/2010/main" val="23763411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altLang="en-US"/>
              <a:t>Power Phrases</a:t>
            </a:r>
          </a:p>
        </p:txBody>
      </p:sp>
      <p:sp>
        <p:nvSpPr>
          <p:cNvPr id="20483" name="Rectangle 3"/>
          <p:cNvSpPr>
            <a:spLocks noGrp="1" noChangeArrowheads="1"/>
          </p:cNvSpPr>
          <p:nvPr>
            <p:ph idx="1"/>
          </p:nvPr>
        </p:nvSpPr>
        <p:spPr/>
        <p:txBody>
          <a:bodyPr>
            <a:normAutofit lnSpcReduction="10000"/>
          </a:bodyPr>
          <a:lstStyle/>
          <a:p>
            <a:r>
              <a:rPr lang="en-US" altLang="en-US" dirty="0"/>
              <a:t>Due to your specialized knowledge</a:t>
            </a:r>
          </a:p>
          <a:p>
            <a:r>
              <a:rPr lang="en-US" altLang="en-US" dirty="0"/>
              <a:t>What a unique suggestion!</a:t>
            </a:r>
          </a:p>
          <a:p>
            <a:r>
              <a:rPr lang="en-US" altLang="en-US" dirty="0"/>
              <a:t>I’d like your considered opinion</a:t>
            </a:r>
          </a:p>
          <a:p>
            <a:r>
              <a:rPr lang="en-US" altLang="en-US" dirty="0"/>
              <a:t>Please</a:t>
            </a:r>
          </a:p>
          <a:p>
            <a:r>
              <a:rPr lang="en-US" altLang="en-US" dirty="0"/>
              <a:t>You are absolutely right!</a:t>
            </a:r>
          </a:p>
          <a:p>
            <a:r>
              <a:rPr lang="en-US" altLang="en-US" dirty="0"/>
              <a:t>If I could borrow just a moment of your time</a:t>
            </a:r>
          </a:p>
          <a:p>
            <a:r>
              <a:rPr lang="en-US" altLang="en-US" dirty="0"/>
              <a:t>May I?</a:t>
            </a:r>
          </a:p>
          <a:p>
            <a:r>
              <a:rPr lang="en-US" altLang="en-US" dirty="0"/>
              <a:t>As you, of course, know</a:t>
            </a:r>
          </a:p>
          <a:p>
            <a:r>
              <a:rPr lang="en-US" altLang="en-US" dirty="0"/>
              <a:t>I’d like your advice</a:t>
            </a:r>
          </a:p>
          <a:p>
            <a:r>
              <a:rPr lang="en-US" altLang="en-US" dirty="0"/>
              <a:t>I would appreciate it if</a:t>
            </a:r>
          </a:p>
        </p:txBody>
      </p:sp>
    </p:spTree>
    <p:extLst>
      <p:ext uri="{BB962C8B-B14F-4D97-AF65-F5344CB8AC3E}">
        <p14:creationId xmlns:p14="http://schemas.microsoft.com/office/powerpoint/2010/main" val="42787767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IMPROVING COMMUNICATION</a:t>
            </a:r>
            <a:endParaRPr lang="en-JM" dirty="0"/>
          </a:p>
        </p:txBody>
      </p:sp>
      <p:sp>
        <p:nvSpPr>
          <p:cNvPr id="3" name="Content Placeholder 2"/>
          <p:cNvSpPr>
            <a:spLocks noGrp="1"/>
          </p:cNvSpPr>
          <p:nvPr>
            <p:ph idx="1"/>
          </p:nvPr>
        </p:nvSpPr>
        <p:spPr>
          <a:xfrm>
            <a:off x="685800" y="2194560"/>
            <a:ext cx="10820400" cy="4478383"/>
          </a:xfrm>
        </p:spPr>
        <p:txBody>
          <a:bodyPr/>
          <a:lstStyle/>
          <a:p>
            <a:pPr algn="just"/>
            <a:r>
              <a:rPr lang="en-US" b="1" dirty="0"/>
              <a:t>Empathy, patience and consistency.</a:t>
            </a:r>
            <a:r>
              <a:rPr lang="en-US" dirty="0"/>
              <a:t> Some customers will be irate. Others will be full of questions. And others will just be chatty. You must know how to handle all of them and provide the same level of service every time.</a:t>
            </a:r>
          </a:p>
          <a:p>
            <a:pPr algn="just"/>
            <a:r>
              <a:rPr lang="en-US" b="1" dirty="0"/>
              <a:t>Adaptability.</a:t>
            </a:r>
            <a:r>
              <a:rPr lang="en-US" dirty="0"/>
              <a:t> Every customer is different, and some may even seem to change week-to-week. You should be able to handle surprises, sense the customer’s mood and adapt accordingly. This also includes a willingness to learn– providing good customer service is a continuous learning process.</a:t>
            </a:r>
          </a:p>
          <a:p>
            <a:pPr algn="just"/>
            <a:r>
              <a:rPr lang="en-US" b="1" dirty="0"/>
              <a:t>Clear communication.</a:t>
            </a:r>
            <a:r>
              <a:rPr lang="en-US" dirty="0"/>
              <a:t> Ensure you convey to customers exactly what you mean. You don’t want your customer to think he’s getting 50% off when he’s actually getting 50% more product. Use authentically positive language, stay cheerful no matter what and never end a conversation without confirming the customer is satisfied.</a:t>
            </a:r>
          </a:p>
          <a:p>
            <a:pPr algn="just"/>
            <a:endParaRPr lang="en-US" dirty="0"/>
          </a:p>
          <a:p>
            <a:pPr algn="just"/>
            <a:endParaRPr lang="en-JM" dirty="0"/>
          </a:p>
        </p:txBody>
      </p:sp>
    </p:spTree>
    <p:extLst>
      <p:ext uri="{BB962C8B-B14F-4D97-AF65-F5344CB8AC3E}">
        <p14:creationId xmlns:p14="http://schemas.microsoft.com/office/powerpoint/2010/main" val="17556541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IMPROVING COMMUNICATION</a:t>
            </a:r>
            <a:endParaRPr lang="en-JM" dirty="0"/>
          </a:p>
        </p:txBody>
      </p:sp>
      <p:sp>
        <p:nvSpPr>
          <p:cNvPr id="3" name="Content Placeholder 2"/>
          <p:cNvSpPr>
            <a:spLocks noGrp="1"/>
          </p:cNvSpPr>
          <p:nvPr>
            <p:ph idx="1"/>
          </p:nvPr>
        </p:nvSpPr>
        <p:spPr>
          <a:xfrm>
            <a:off x="685800" y="2194560"/>
            <a:ext cx="10820400" cy="4304211"/>
          </a:xfrm>
        </p:spPr>
        <p:txBody>
          <a:bodyPr>
            <a:normAutofit/>
          </a:bodyPr>
          <a:lstStyle/>
          <a:p>
            <a:pPr algn="just"/>
            <a:r>
              <a:rPr lang="en-US" b="1" dirty="0"/>
              <a:t>Knowledge</a:t>
            </a:r>
            <a:r>
              <a:rPr lang="en-US" dirty="0"/>
              <a:t>. Ultimately your customers rely on you for their knowledge of your product. Stay informed enough to respond to most inquiries and know where to turn if the questions become too detailed or technical for you to answer. But don’t be afraid to say “I don’t know” either. Customers will appreciate the honesty and your efforts to find the right answer.</a:t>
            </a:r>
          </a:p>
          <a:p>
            <a:pPr algn="just"/>
            <a:r>
              <a:rPr lang="en-US" b="1" dirty="0"/>
              <a:t>Practice active listening so your customers feel heard.</a:t>
            </a:r>
            <a:r>
              <a:rPr lang="en-US" dirty="0"/>
              <a:t> Clarify and rephrase what the customers say to ensure you understand them. Empathize with and reflect their feelings by saying things like, “That must have upset you” or “I can see why you feel slighted.”</a:t>
            </a:r>
          </a:p>
          <a:p>
            <a:pPr algn="just"/>
            <a:r>
              <a:rPr lang="en-US" b="1" dirty="0"/>
              <a:t>Admit your mistakes, even if you discover them before your customers do.</a:t>
            </a:r>
            <a:r>
              <a:rPr lang="en-US" dirty="0"/>
              <a:t> This builds trust and restores confidence. It also allows you to control the situation, re-focus the customer’s attention and resolve the issue.</a:t>
            </a:r>
          </a:p>
        </p:txBody>
      </p:sp>
    </p:spTree>
    <p:extLst>
      <p:ext uri="{BB962C8B-B14F-4D97-AF65-F5344CB8AC3E}">
        <p14:creationId xmlns:p14="http://schemas.microsoft.com/office/powerpoint/2010/main" val="42495062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IMPROVING COMMUNICATION</a:t>
            </a:r>
            <a:endParaRPr lang="en-JM" dirty="0"/>
          </a:p>
        </p:txBody>
      </p:sp>
      <p:sp>
        <p:nvSpPr>
          <p:cNvPr id="3" name="Content Placeholder 2"/>
          <p:cNvSpPr>
            <a:spLocks noGrp="1"/>
          </p:cNvSpPr>
          <p:nvPr>
            <p:ph idx="1"/>
          </p:nvPr>
        </p:nvSpPr>
        <p:spPr>
          <a:xfrm>
            <a:off x="685800" y="2194559"/>
            <a:ext cx="10820400" cy="4761411"/>
          </a:xfrm>
        </p:spPr>
        <p:txBody>
          <a:bodyPr>
            <a:normAutofit lnSpcReduction="10000"/>
          </a:bodyPr>
          <a:lstStyle/>
          <a:p>
            <a:pPr algn="just"/>
            <a:r>
              <a:rPr lang="en-US" b="1" dirty="0"/>
              <a:t>Follow-up after a problem is solved.</a:t>
            </a:r>
            <a:r>
              <a:rPr lang="en-US" dirty="0"/>
              <a:t> Make sure the issue stays fixed and that your customers were satisfied with the service. Sending an email, or even a feedback survey is an excellent way to let the customer know you’re still on their side.</a:t>
            </a:r>
          </a:p>
          <a:p>
            <a:pPr algn="just"/>
            <a:r>
              <a:rPr lang="en-US" b="1" dirty="0"/>
              <a:t>Get personal.</a:t>
            </a:r>
            <a:r>
              <a:rPr lang="en-US" dirty="0"/>
              <a:t> Your customers want to feel like they have access to real people, not bots and FAQs. Offer more than just automated email responses, and do not let your telephone prompts or website send them down a rabbit hole. Take full advantage of social media (such as Facebook, Twitter and Yelp) and write responses when your customers post on your page. Post photos and bios on your website. This shows your customers that you are real people working on their behalf.</a:t>
            </a:r>
          </a:p>
          <a:p>
            <a:pPr algn="just"/>
            <a:r>
              <a:rPr lang="en-US" b="1" dirty="0"/>
              <a:t>Seek feedback. </a:t>
            </a:r>
            <a:r>
              <a:rPr lang="en-US" dirty="0"/>
              <a:t>No matter how proactive you are, you’ll never be able to get in front of every customer issue. To make sure you learn about the good, the bad, and the ugly experience your customers have, create an easily accessible way for customers to give feedback.</a:t>
            </a:r>
            <a:endParaRPr lang="en-US" b="1" dirty="0"/>
          </a:p>
          <a:p>
            <a:pPr algn="just"/>
            <a:endParaRPr lang="en-US" dirty="0"/>
          </a:p>
        </p:txBody>
      </p:sp>
    </p:spTree>
    <p:extLst>
      <p:ext uri="{BB962C8B-B14F-4D97-AF65-F5344CB8AC3E}">
        <p14:creationId xmlns:p14="http://schemas.microsoft.com/office/powerpoint/2010/main" val="33782765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2895600" y="901532"/>
            <a:ext cx="8610600" cy="1293028"/>
          </a:xfrm>
        </p:spPr>
        <p:txBody>
          <a:bodyPr/>
          <a:lstStyle/>
          <a:p>
            <a:r>
              <a:rPr lang="en-US" altLang="en-US" dirty="0"/>
              <a:t>Technology in Communications</a:t>
            </a:r>
          </a:p>
        </p:txBody>
      </p:sp>
      <p:sp>
        <p:nvSpPr>
          <p:cNvPr id="22531" name="Rectangle 3"/>
          <p:cNvSpPr>
            <a:spLocks noGrp="1" noChangeArrowheads="1"/>
          </p:cNvSpPr>
          <p:nvPr>
            <p:ph idx="1"/>
          </p:nvPr>
        </p:nvSpPr>
        <p:spPr/>
        <p:txBody>
          <a:bodyPr/>
          <a:lstStyle/>
          <a:p>
            <a:r>
              <a:rPr lang="en-US" altLang="en-US"/>
              <a:t>Internet</a:t>
            </a:r>
          </a:p>
          <a:p>
            <a:r>
              <a:rPr lang="en-US" altLang="en-US"/>
              <a:t>E-mail</a:t>
            </a:r>
          </a:p>
          <a:p>
            <a:r>
              <a:rPr lang="en-US" altLang="en-US"/>
              <a:t>Automated phone systems</a:t>
            </a:r>
          </a:p>
          <a:p>
            <a:r>
              <a:rPr lang="en-US" altLang="en-US"/>
              <a:t>Voice Mail</a:t>
            </a:r>
          </a:p>
          <a:p>
            <a:r>
              <a:rPr lang="en-US" altLang="en-US"/>
              <a:t>Fax Machines</a:t>
            </a:r>
          </a:p>
          <a:p>
            <a:r>
              <a:rPr lang="en-US" altLang="en-US"/>
              <a:t>Texting</a:t>
            </a:r>
          </a:p>
          <a:p>
            <a:endParaRPr lang="en-US" altLang="en-US"/>
          </a:p>
        </p:txBody>
      </p:sp>
    </p:spTree>
    <p:extLst>
      <p:ext uri="{BB962C8B-B14F-4D97-AF65-F5344CB8AC3E}">
        <p14:creationId xmlns:p14="http://schemas.microsoft.com/office/powerpoint/2010/main" val="21236992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SOCIAL MEDIA ETIQUETTE</a:t>
            </a:r>
            <a:endParaRPr lang="en-JM" dirty="0"/>
          </a:p>
        </p:txBody>
      </p:sp>
      <p:sp>
        <p:nvSpPr>
          <p:cNvPr id="3" name="Content Placeholder 2"/>
          <p:cNvSpPr>
            <a:spLocks noGrp="1"/>
          </p:cNvSpPr>
          <p:nvPr>
            <p:ph idx="1"/>
          </p:nvPr>
        </p:nvSpPr>
        <p:spPr/>
        <p:txBody>
          <a:bodyPr>
            <a:normAutofit lnSpcReduction="10000"/>
          </a:bodyPr>
          <a:lstStyle/>
          <a:p>
            <a:pPr algn="just"/>
            <a:r>
              <a:rPr lang="en-US" b="1" dirty="0"/>
              <a:t>Social Media </a:t>
            </a:r>
            <a:r>
              <a:rPr lang="en-US" dirty="0"/>
              <a:t>is an interface that allows individuals to interact with one another, exchanging details about their lives such as biographical data, professional information, personal photos and up-to-the- minute thoughts. </a:t>
            </a:r>
          </a:p>
          <a:p>
            <a:pPr algn="just"/>
            <a:r>
              <a:rPr lang="en-US" b="1" dirty="0"/>
              <a:t>Netiquette</a:t>
            </a:r>
            <a:r>
              <a:rPr lang="en-US" dirty="0"/>
              <a:t> is network etiquette or Internet etiquette is a set of social conventions that facilitate interaction over networks, ranging from Usenet and mailing lists to blogs and forums. </a:t>
            </a:r>
          </a:p>
          <a:p>
            <a:pPr algn="just"/>
            <a:r>
              <a:rPr lang="en-US" dirty="0"/>
              <a:t>Social media networks are incredible resources for businesses looking to promote their brands online. The platforms themselves are free to use, but also have paid advertising options specifically for brands that want to reach even more new audiences. </a:t>
            </a:r>
          </a:p>
          <a:p>
            <a:pPr algn="just"/>
            <a:r>
              <a:rPr lang="en-US" dirty="0"/>
              <a:t>It is important that you choose and nurture the social platforms that work best for your business.</a:t>
            </a:r>
            <a:endParaRPr lang="en-JM" dirty="0"/>
          </a:p>
        </p:txBody>
      </p:sp>
    </p:spTree>
    <p:extLst>
      <p:ext uri="{BB962C8B-B14F-4D97-AF65-F5344CB8AC3E}">
        <p14:creationId xmlns:p14="http://schemas.microsoft.com/office/powerpoint/2010/main" val="1166329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SOCIAL MEDIA COMMUNICATION</a:t>
            </a:r>
            <a:endParaRPr lang="en-JM" dirty="0"/>
          </a:p>
        </p:txBody>
      </p:sp>
      <p:sp>
        <p:nvSpPr>
          <p:cNvPr id="3" name="Content Placeholder 2"/>
          <p:cNvSpPr>
            <a:spLocks noGrp="1"/>
          </p:cNvSpPr>
          <p:nvPr>
            <p:ph idx="1"/>
          </p:nvPr>
        </p:nvSpPr>
        <p:spPr>
          <a:xfrm>
            <a:off x="685800" y="2194560"/>
            <a:ext cx="10820400" cy="4663440"/>
          </a:xfrm>
        </p:spPr>
        <p:txBody>
          <a:bodyPr>
            <a:normAutofit lnSpcReduction="10000"/>
          </a:bodyPr>
          <a:lstStyle/>
          <a:p>
            <a:pPr algn="just"/>
            <a:r>
              <a:rPr lang="en-US" b="1" dirty="0"/>
              <a:t>Profile Pictures</a:t>
            </a:r>
            <a:r>
              <a:rPr lang="en-US" dirty="0"/>
              <a:t>: In Social Media your profile picture re-present you. Most of the peoples take this quite non seriously. Place your picture, represent your true profile. If you do not want to put pictures, leave the media. When using social media for business purposes it is best to use the company logo.</a:t>
            </a:r>
          </a:p>
          <a:p>
            <a:pPr algn="just"/>
            <a:r>
              <a:rPr lang="en-US" b="1" dirty="0"/>
              <a:t>Over Communication</a:t>
            </a:r>
            <a:r>
              <a:rPr lang="en-US" dirty="0"/>
              <a:t>: Don’t over communicate. Be considerate, post and share relevant content. Many Facebook users are becoming more savvy, adjusting their settings to stop spam. So if you are spammer, chances are the content you’re posting is not being read by anyone. </a:t>
            </a:r>
          </a:p>
          <a:p>
            <a:pPr algn="just"/>
            <a:r>
              <a:rPr lang="en-US" b="1" dirty="0"/>
              <a:t>Proofreading: </a:t>
            </a:r>
            <a:r>
              <a:rPr lang="en-US" dirty="0"/>
              <a:t>If you took the time to discover the content, format it in a way that’s attractive to your followers, and post it to your accounts, you should be invested in the outcome. Typos can convey carelessness to your followers. If your audience thinks you are careless with your social media postings, they may also assume you are careless in other aspects of your business. </a:t>
            </a:r>
          </a:p>
          <a:p>
            <a:pPr algn="just"/>
            <a:r>
              <a:rPr lang="en-US" b="1" dirty="0"/>
              <a:t>Know when to direct a conversation to an offline medium!</a:t>
            </a:r>
            <a:endParaRPr lang="en-JM" dirty="0"/>
          </a:p>
        </p:txBody>
      </p:sp>
    </p:spTree>
    <p:extLst>
      <p:ext uri="{BB962C8B-B14F-4D97-AF65-F5344CB8AC3E}">
        <p14:creationId xmlns:p14="http://schemas.microsoft.com/office/powerpoint/2010/main" val="35183750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51315" y="272143"/>
            <a:ext cx="9154886" cy="1785258"/>
          </a:xfrm>
        </p:spPr>
        <p:txBody>
          <a:bodyPr>
            <a:normAutofit/>
          </a:bodyPr>
          <a:lstStyle/>
          <a:p>
            <a:r>
              <a:rPr lang="en-US" dirty="0"/>
              <a:t>Dealing with difficult customers</a:t>
            </a:r>
            <a:endParaRPr lang="en-JM" dirty="0"/>
          </a:p>
        </p:txBody>
      </p:sp>
      <p:sp>
        <p:nvSpPr>
          <p:cNvPr id="3" name="Content Placeholder 2"/>
          <p:cNvSpPr>
            <a:spLocks noGrp="1"/>
          </p:cNvSpPr>
          <p:nvPr>
            <p:ph idx="1"/>
          </p:nvPr>
        </p:nvSpPr>
        <p:spPr>
          <a:xfrm>
            <a:off x="685801" y="2057401"/>
            <a:ext cx="10820400" cy="4663440"/>
          </a:xfrm>
        </p:spPr>
        <p:txBody>
          <a:bodyPr>
            <a:normAutofit/>
          </a:bodyPr>
          <a:lstStyle/>
          <a:p>
            <a:r>
              <a:rPr lang="en-US" dirty="0"/>
              <a:t>Remember it’s not WHAT you say, it’s HOW you say it!!!</a:t>
            </a:r>
          </a:p>
          <a:p>
            <a:r>
              <a:rPr lang="en-US" dirty="0"/>
              <a:t>Stay calm. Try to remain diplomatic and polite. Getting angry will only make them angrier.</a:t>
            </a:r>
          </a:p>
          <a:p>
            <a:r>
              <a:rPr lang="en-US" dirty="0"/>
              <a:t>Enthusiasm and Sincerity. Always show willingness to resolve the problem or conflict, and sound sincere.</a:t>
            </a:r>
          </a:p>
          <a:p>
            <a:r>
              <a:rPr lang="en-US" dirty="0"/>
              <a:t>Be Empathic. Try to think like the caller. Remember, their problems and concerns are important.</a:t>
            </a:r>
          </a:p>
          <a:p>
            <a:r>
              <a:rPr lang="en-US" dirty="0"/>
              <a:t>Non-supervisory: Offer to have your supervisor talk to the caller or call him/her back if the caller persists. </a:t>
            </a:r>
          </a:p>
          <a:p>
            <a:r>
              <a:rPr lang="en-US" dirty="0"/>
              <a:t>Supervisor: Be willing to handle irate callers. Speak slowly and calmly. Be firm with your answers, but understanding. Sometimes the irate caller just wants someone in a supervisory capacity to listen to their story even if you are unable to help them.</a:t>
            </a:r>
            <a:endParaRPr lang="en-JM" dirty="0"/>
          </a:p>
        </p:txBody>
      </p:sp>
    </p:spTree>
    <p:extLst>
      <p:ext uri="{BB962C8B-B14F-4D97-AF65-F5344CB8AC3E}">
        <p14:creationId xmlns:p14="http://schemas.microsoft.com/office/powerpoint/2010/main" val="18182619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PRACTICE QUESTION #1</a:t>
            </a:r>
            <a:endParaRPr lang="en-JM" dirty="0"/>
          </a:p>
        </p:txBody>
      </p:sp>
      <p:sp>
        <p:nvSpPr>
          <p:cNvPr id="3" name="Content Placeholder 2"/>
          <p:cNvSpPr>
            <a:spLocks noGrp="1"/>
          </p:cNvSpPr>
          <p:nvPr>
            <p:ph idx="1"/>
          </p:nvPr>
        </p:nvSpPr>
        <p:spPr>
          <a:xfrm>
            <a:off x="936172" y="2133601"/>
            <a:ext cx="10463296" cy="3777622"/>
          </a:xfrm>
        </p:spPr>
        <p:txBody>
          <a:bodyPr>
            <a:noAutofit/>
          </a:bodyPr>
          <a:lstStyle/>
          <a:p>
            <a:pPr marL="0" indent="0">
              <a:buNone/>
            </a:pPr>
            <a:r>
              <a:rPr lang="en-US" sz="2400" dirty="0"/>
              <a:t>A. Cite giving practical examples </a:t>
            </a:r>
            <a:r>
              <a:rPr lang="en-US" sz="2400" b="1" dirty="0"/>
              <a:t>THREE (3) </a:t>
            </a:r>
            <a:r>
              <a:rPr lang="en-US" sz="2400" dirty="0"/>
              <a:t>reasons why customers make complaints to customer service providers. </a:t>
            </a:r>
            <a:r>
              <a:rPr lang="en-US" sz="2400" b="1" i="1" dirty="0"/>
              <a:t>(9 marks) </a:t>
            </a:r>
            <a:endParaRPr lang="en-US" sz="2400" dirty="0"/>
          </a:p>
          <a:p>
            <a:pPr marL="0" indent="0">
              <a:buNone/>
            </a:pPr>
            <a:endParaRPr lang="en-JM" sz="2400" dirty="0"/>
          </a:p>
          <a:p>
            <a:pPr marL="0" indent="0">
              <a:buNone/>
            </a:pPr>
            <a:r>
              <a:rPr lang="en-US" sz="2400" dirty="0"/>
              <a:t>B. Outline </a:t>
            </a:r>
            <a:r>
              <a:rPr lang="en-US" sz="2400" b="1" dirty="0"/>
              <a:t>THREE (3) </a:t>
            </a:r>
            <a:r>
              <a:rPr lang="en-US" sz="2400" dirty="0"/>
              <a:t>reasons for communicating. </a:t>
            </a:r>
            <a:r>
              <a:rPr lang="en-US" sz="2400" b="1" i="1" dirty="0"/>
              <a:t>(6 marks) </a:t>
            </a:r>
            <a:endParaRPr lang="en-US" sz="2400" dirty="0"/>
          </a:p>
          <a:p>
            <a:pPr marL="0" indent="0">
              <a:buNone/>
            </a:pPr>
            <a:endParaRPr lang="en-JM" sz="2400" dirty="0"/>
          </a:p>
          <a:p>
            <a:pPr marL="0" indent="0">
              <a:buNone/>
            </a:pPr>
            <a:r>
              <a:rPr lang="en-US" sz="2400" dirty="0"/>
              <a:t>C. Describe the communication process. </a:t>
            </a:r>
            <a:r>
              <a:rPr lang="en-US" sz="2400" b="1" i="1" dirty="0"/>
              <a:t>(15 marks) </a:t>
            </a:r>
            <a:endParaRPr lang="en-US" sz="2400" dirty="0"/>
          </a:p>
          <a:p>
            <a:pPr marL="0" indent="0">
              <a:buNone/>
            </a:pPr>
            <a:endParaRPr lang="en-JM" sz="2400" dirty="0"/>
          </a:p>
          <a:p>
            <a:pPr marL="0" indent="0">
              <a:buNone/>
            </a:pPr>
            <a:r>
              <a:rPr lang="en-JM" sz="2400" b="1" i="1" dirty="0"/>
              <a:t>(</a:t>
            </a:r>
            <a:r>
              <a:rPr lang="en-JM" sz="2400" b="1" i="1"/>
              <a:t>Total 30 </a:t>
            </a:r>
            <a:r>
              <a:rPr lang="en-JM" sz="2400" b="1" i="1" dirty="0"/>
              <a:t>marks) </a:t>
            </a:r>
            <a:endParaRPr lang="en-JM" sz="2400" dirty="0"/>
          </a:p>
        </p:txBody>
      </p:sp>
    </p:spTree>
    <p:extLst>
      <p:ext uri="{BB962C8B-B14F-4D97-AF65-F5344CB8AC3E}">
        <p14:creationId xmlns:p14="http://schemas.microsoft.com/office/powerpoint/2010/main" val="30829220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PRACTICE QUESTION #2</a:t>
            </a:r>
            <a:endParaRPr lang="en-JM" dirty="0"/>
          </a:p>
        </p:txBody>
      </p:sp>
      <p:sp>
        <p:nvSpPr>
          <p:cNvPr id="3" name="Content Placeholder 2"/>
          <p:cNvSpPr>
            <a:spLocks noGrp="1"/>
          </p:cNvSpPr>
          <p:nvPr>
            <p:ph idx="1"/>
          </p:nvPr>
        </p:nvSpPr>
        <p:spPr>
          <a:xfrm>
            <a:off x="1042904" y="2166258"/>
            <a:ext cx="10463296" cy="3777622"/>
          </a:xfrm>
        </p:spPr>
        <p:txBody>
          <a:bodyPr>
            <a:noAutofit/>
          </a:bodyPr>
          <a:lstStyle/>
          <a:p>
            <a:pPr marL="457200" indent="-457200" algn="just">
              <a:buAutoNum type="alphaLcPeriod"/>
            </a:pPr>
            <a:r>
              <a:rPr lang="en-US" sz="2400" dirty="0"/>
              <a:t>Outline </a:t>
            </a:r>
            <a:r>
              <a:rPr lang="en-US" sz="2400" b="1" dirty="0"/>
              <a:t>five (5) </a:t>
            </a:r>
            <a:r>
              <a:rPr lang="en-US" sz="2400" dirty="0"/>
              <a:t>reasons why communications with customers fail. </a:t>
            </a:r>
            <a:r>
              <a:rPr lang="en-US" sz="2400" b="1" i="1" dirty="0"/>
              <a:t>(10 marks)</a:t>
            </a:r>
          </a:p>
          <a:p>
            <a:pPr marL="0" indent="0" algn="just">
              <a:buNone/>
            </a:pPr>
            <a:endParaRPr lang="en-US" sz="2400" b="1" i="1" dirty="0"/>
          </a:p>
          <a:p>
            <a:pPr marL="0" indent="0" algn="just">
              <a:buNone/>
            </a:pPr>
            <a:r>
              <a:rPr lang="en-US" sz="2400" dirty="0"/>
              <a:t>b. Discuss </a:t>
            </a:r>
            <a:r>
              <a:rPr lang="en-US" sz="2400" b="1" dirty="0"/>
              <a:t>three (3) </a:t>
            </a:r>
            <a:r>
              <a:rPr lang="en-US" sz="2400" dirty="0"/>
              <a:t>strategies that organizations can use to improve communications with </a:t>
            </a:r>
            <a:r>
              <a:rPr lang="en-JM" sz="2400" dirty="0"/>
              <a:t>customers. </a:t>
            </a:r>
            <a:r>
              <a:rPr lang="en-JM" sz="2400" b="1" i="1" dirty="0"/>
              <a:t>(15 marks)</a:t>
            </a:r>
          </a:p>
          <a:p>
            <a:pPr marL="0" indent="0" algn="just">
              <a:buNone/>
            </a:pPr>
            <a:endParaRPr lang="en-JM" sz="2400" b="1" i="1" dirty="0"/>
          </a:p>
          <a:p>
            <a:pPr marL="0" indent="0" algn="just">
              <a:buNone/>
            </a:pPr>
            <a:r>
              <a:rPr lang="en-US" sz="2400" dirty="0"/>
              <a:t>c. Create a situation which involves dealing with a difficult customer and say how you would handle the situation. </a:t>
            </a:r>
            <a:r>
              <a:rPr lang="en-US" sz="2400" b="1" i="1" dirty="0"/>
              <a:t>(5 marks)</a:t>
            </a:r>
          </a:p>
          <a:p>
            <a:pPr marL="0" indent="0" algn="just">
              <a:buNone/>
            </a:pPr>
            <a:r>
              <a:rPr lang="en-JM" sz="2400" b="1" i="1" dirty="0"/>
              <a:t>(Total 30 marks)</a:t>
            </a:r>
            <a:endParaRPr lang="en-JM" sz="2400" dirty="0"/>
          </a:p>
        </p:txBody>
      </p:sp>
    </p:spTree>
    <p:extLst>
      <p:ext uri="{BB962C8B-B14F-4D97-AF65-F5344CB8AC3E}">
        <p14:creationId xmlns:p14="http://schemas.microsoft.com/office/powerpoint/2010/main" val="21131842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Advanced Reading: </a:t>
            </a:r>
            <a:br>
              <a:rPr lang="en-US" dirty="0"/>
            </a:br>
            <a:r>
              <a:rPr lang="en-US" dirty="0"/>
              <a:t>Unit 5</a:t>
            </a:r>
          </a:p>
        </p:txBody>
      </p:sp>
      <p:sp>
        <p:nvSpPr>
          <p:cNvPr id="3" name="Content Placeholder 2"/>
          <p:cNvSpPr>
            <a:spLocks noGrp="1"/>
          </p:cNvSpPr>
          <p:nvPr>
            <p:ph idx="1"/>
          </p:nvPr>
        </p:nvSpPr>
        <p:spPr/>
        <p:txBody>
          <a:bodyPr>
            <a:normAutofit/>
          </a:bodyPr>
          <a:lstStyle/>
          <a:p>
            <a:pPr marL="0" indent="0">
              <a:buNone/>
            </a:pPr>
            <a:r>
              <a:rPr lang="en-US" sz="2400" dirty="0"/>
              <a:t>Unit 5 – Problem solving and conflict resolution</a:t>
            </a:r>
          </a:p>
        </p:txBody>
      </p:sp>
    </p:spTree>
    <p:extLst>
      <p:ext uri="{BB962C8B-B14F-4D97-AF65-F5344CB8AC3E}">
        <p14:creationId xmlns:p14="http://schemas.microsoft.com/office/powerpoint/2010/main" val="38343606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Placeholder 2"/>
          <p:cNvSpPr>
            <a:spLocks noGrp="1"/>
          </p:cNvSpPr>
          <p:nvPr>
            <p:ph idx="1"/>
          </p:nvPr>
        </p:nvSpPr>
        <p:spPr>
          <a:xfrm>
            <a:off x="870857" y="1719944"/>
            <a:ext cx="10633755" cy="5061856"/>
          </a:xfrm>
        </p:spPr>
        <p:txBody>
          <a:bodyPr>
            <a:normAutofit lnSpcReduction="10000"/>
          </a:bodyPr>
          <a:lstStyle/>
          <a:p>
            <a:r>
              <a:rPr lang="en-US" dirty="0"/>
              <a:t>Barriers to communication from </a:t>
            </a:r>
            <a:r>
              <a:rPr lang="en-US" dirty="0">
                <a:hlinkClick r:id="rId2"/>
              </a:rPr>
              <a:t>https://thebusinesscommunication.com/types-of-communication-barriers/</a:t>
            </a:r>
            <a:r>
              <a:rPr lang="en-US" dirty="0"/>
              <a:t> and </a:t>
            </a:r>
            <a:r>
              <a:rPr lang="en-US" dirty="0">
                <a:hlinkClick r:id="rId3"/>
              </a:rPr>
              <a:t>http://www.slideshare.net/namuj/barriers-to-communication-34297156?qid=598928b2-bd73-4918-96fa-e148ee50162f&amp;v=&amp;b=&amp;from_search=2</a:t>
            </a:r>
            <a:endParaRPr lang="en-US" dirty="0"/>
          </a:p>
          <a:p>
            <a:r>
              <a:rPr lang="en-US" dirty="0"/>
              <a:t>Communication process from </a:t>
            </a:r>
            <a:r>
              <a:rPr lang="en-US" dirty="0">
                <a:hlinkClick r:id="rId4"/>
              </a:rPr>
              <a:t>http://www.slideshare.net/tirthamal2010/communication-ppt-26816723?qid=efa5a719-e36e-45f3-99b8-308792e1bc3d&amp;v=&amp;b=&amp;from_search=5</a:t>
            </a:r>
            <a:endParaRPr lang="en-US" dirty="0"/>
          </a:p>
          <a:p>
            <a:r>
              <a:rPr lang="en-US" dirty="0"/>
              <a:t>Inflection from </a:t>
            </a:r>
            <a:r>
              <a:rPr lang="en-US" dirty="0">
                <a:hlinkClick r:id="rId5"/>
              </a:rPr>
              <a:t>https://nosweatpublicspeaking.com/verbal-communication-2-inflection/</a:t>
            </a:r>
            <a:endParaRPr lang="en-US" dirty="0"/>
          </a:p>
          <a:p>
            <a:r>
              <a:rPr lang="en-US" dirty="0"/>
              <a:t>Eye contact from </a:t>
            </a:r>
            <a:r>
              <a:rPr lang="en-US" dirty="0">
                <a:hlinkClick r:id="rId6"/>
              </a:rPr>
              <a:t>http://msue.anr.msu.edu/news/eye_contact_an_introduction_to_its_role_in_communication</a:t>
            </a:r>
            <a:endParaRPr lang="en-US" dirty="0"/>
          </a:p>
          <a:p>
            <a:r>
              <a:rPr lang="en-US" dirty="0"/>
              <a:t>Improving communications from </a:t>
            </a:r>
            <a:r>
              <a:rPr lang="en-US" dirty="0">
                <a:hlinkClick r:id="rId7"/>
              </a:rPr>
              <a:t>https://www.surveymonkey.com/mp/6-keys-improving-teams-customer-service-skills/</a:t>
            </a:r>
            <a:endParaRPr lang="en-US" dirty="0"/>
          </a:p>
          <a:p>
            <a:pPr marL="0" indent="0">
              <a:buNone/>
            </a:pPr>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03487612"/>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E5224E"/>
      </a:accent1>
      <a:accent2>
        <a:srgbClr val="9D074E"/>
      </a:accent2>
      <a:accent3>
        <a:srgbClr val="7F2294"/>
      </a:accent3>
      <a:accent4>
        <a:srgbClr val="8D65EA"/>
      </a:accent4>
      <a:accent5>
        <a:srgbClr val="588FE2"/>
      </a:accent5>
      <a:accent6>
        <a:srgbClr val="127CA4"/>
      </a:accent6>
      <a:hlink>
        <a:srgbClr val="FB4AB6"/>
      </a:hlink>
      <a:folHlink>
        <a:srgbClr val="F98FE9"/>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6DB8EB18-3657-4051-A897-2ED38832359E}"/>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1CB06E496EC6F409B817EB2DFAF0878" ma:contentTypeVersion="4" ma:contentTypeDescription="Create a new document." ma:contentTypeScope="" ma:versionID="c3097ffc42010a56911ea95ff16ae928">
  <xsd:schema xmlns:xsd="http://www.w3.org/2001/XMLSchema" xmlns:xs="http://www.w3.org/2001/XMLSchema" xmlns:p="http://schemas.microsoft.com/office/2006/metadata/properties" xmlns:ns2="0fbedaf7-2e64-4840-ba08-169e9e2dea45" targetNamespace="http://schemas.microsoft.com/office/2006/metadata/properties" ma:root="true" ma:fieldsID="5607dce1aa48f45a8edf6f6f8b52f5cd" ns2:_="">
    <xsd:import namespace="0fbedaf7-2e64-4840-ba08-169e9e2dea4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bedaf7-2e64-4840-ba08-169e9e2dea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9D7B961-E41D-4DDB-B31B-D03B90FF03A8}">
  <ds:schemaRefs>
    <ds:schemaRef ds:uri="http://schemas.microsoft.com/sharepoint/v3/contenttype/forms"/>
  </ds:schemaRefs>
</ds:datastoreItem>
</file>

<file path=customXml/itemProps2.xml><?xml version="1.0" encoding="utf-8"?>
<ds:datastoreItem xmlns:ds="http://schemas.openxmlformats.org/officeDocument/2006/customXml" ds:itemID="{2536C12B-79BB-4A04-9B48-21B40D7C1A7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fbedaf7-2e64-4840-ba08-169e9e2dea4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C8807AF-0110-4EDF-A8F0-17758EB9A5C5}">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Vapor Trail</Template>
  <TotalTime>2567</TotalTime>
  <Words>3573</Words>
  <Application>Microsoft Office PowerPoint</Application>
  <PresentationFormat>Widescreen</PresentationFormat>
  <Paragraphs>326</Paragraphs>
  <Slides>42</Slides>
  <Notes>0</Notes>
  <HiddenSlides>0</HiddenSlides>
  <MMClips>0</MMClips>
  <ScaleCrop>false</ScaleCrop>
  <HeadingPairs>
    <vt:vector size="4" baseType="variant">
      <vt:variant>
        <vt:lpstr>Theme</vt:lpstr>
      </vt:variant>
      <vt:variant>
        <vt:i4>1</vt:i4>
      </vt:variant>
      <vt:variant>
        <vt:lpstr>Slide Titles</vt:lpstr>
      </vt:variant>
      <vt:variant>
        <vt:i4>42</vt:i4>
      </vt:variant>
    </vt:vector>
  </HeadingPairs>
  <TitlesOfParts>
    <vt:vector size="43" baseType="lpstr">
      <vt:lpstr>Vapor Trail</vt:lpstr>
      <vt:lpstr>CUSTOMER SERVICE: Unit 4</vt:lpstr>
      <vt:lpstr>UNIT OBJECTIVES</vt:lpstr>
      <vt:lpstr>Communication</vt:lpstr>
      <vt:lpstr>Process of Communication</vt:lpstr>
      <vt:lpstr>PROCESS OF COMMUNICATION</vt:lpstr>
      <vt:lpstr>PROCESS OF COMMUNICATION</vt:lpstr>
      <vt:lpstr>PROCESS OF COMMUNICATION</vt:lpstr>
      <vt:lpstr>Methods of Communication</vt:lpstr>
      <vt:lpstr>REASONS FOR COMMUNICATION</vt:lpstr>
      <vt:lpstr>Formal v. informal</vt:lpstr>
      <vt:lpstr>Formal v. informal</vt:lpstr>
      <vt:lpstr>PowerPoint Presentation</vt:lpstr>
      <vt:lpstr>A good listener</vt:lpstr>
      <vt:lpstr>To improve listening skills</vt:lpstr>
      <vt:lpstr>Communication barriers</vt:lpstr>
      <vt:lpstr>FACTORS</vt:lpstr>
      <vt:lpstr>factors</vt:lpstr>
      <vt:lpstr>factors</vt:lpstr>
      <vt:lpstr>Voice Inflection</vt:lpstr>
      <vt:lpstr>Voice Inflection</vt:lpstr>
      <vt:lpstr>Voice inflection exercise</vt:lpstr>
      <vt:lpstr>Voice Inflection exercise</vt:lpstr>
      <vt:lpstr>Eye Contact</vt:lpstr>
      <vt:lpstr>Eye Contact</vt:lpstr>
      <vt:lpstr>Characteristics revealed by your voice and message</vt:lpstr>
      <vt:lpstr>Answering a Call Successfully</vt:lpstr>
      <vt:lpstr>ENDING a Call Successfully</vt:lpstr>
      <vt:lpstr>leaving a voicemail</vt:lpstr>
      <vt:lpstr>Words to Use</vt:lpstr>
      <vt:lpstr>Words to Avoid</vt:lpstr>
      <vt:lpstr>Power Phrases</vt:lpstr>
      <vt:lpstr>IMPROVING COMMUNICATION</vt:lpstr>
      <vt:lpstr>IMPROVING COMMUNICATION</vt:lpstr>
      <vt:lpstr>IMPROVING COMMUNICATION</vt:lpstr>
      <vt:lpstr>Technology in Communications</vt:lpstr>
      <vt:lpstr>SOCIAL MEDIA ETIQUETTE</vt:lpstr>
      <vt:lpstr>SOCIAL MEDIA COMMUNICATION</vt:lpstr>
      <vt:lpstr>Dealing with difficult customers</vt:lpstr>
      <vt:lpstr>PRACTICE QUESTION #1</vt:lpstr>
      <vt:lpstr>PRACTICE QUESTION #2</vt:lpstr>
      <vt:lpstr>Advanced Reading:  Unit 5</vt:lpstr>
      <vt:lpstr>References</vt:lpstr>
    </vt:vector>
  </TitlesOfParts>
  <Company>HOME/OFFICE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SERVICE: Unit1</dc:title>
  <dc:creator>VAIO123</dc:creator>
  <cp:lastModifiedBy>Paulette Foster-Christie</cp:lastModifiedBy>
  <cp:revision>229</cp:revision>
  <dcterms:created xsi:type="dcterms:W3CDTF">2017-01-16T20:24:43Z</dcterms:created>
  <dcterms:modified xsi:type="dcterms:W3CDTF">2025-04-28T04:53:15Z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0x01010061CB06E496EC6F409B817EB2DFAF0878</vt:lpwstr>
  </property>
</Properties>
</file>