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4"/>
  </p:notesMasterIdLst>
  <p:sldIdLst>
    <p:sldId id="256" r:id="rId5"/>
    <p:sldId id="257" r:id="rId6"/>
    <p:sldId id="404" r:id="rId7"/>
    <p:sldId id="405" r:id="rId8"/>
    <p:sldId id="491" r:id="rId9"/>
    <p:sldId id="408" r:id="rId10"/>
    <p:sldId id="409" r:id="rId11"/>
    <p:sldId id="410" r:id="rId12"/>
    <p:sldId id="411" r:id="rId13"/>
    <p:sldId id="412" r:id="rId14"/>
    <p:sldId id="413" r:id="rId15"/>
    <p:sldId id="414" r:id="rId16"/>
    <p:sldId id="416" r:id="rId17"/>
    <p:sldId id="417" r:id="rId18"/>
    <p:sldId id="418" r:id="rId19"/>
    <p:sldId id="419" r:id="rId20"/>
    <p:sldId id="490" r:id="rId21"/>
    <p:sldId id="435" r:id="rId22"/>
    <p:sldId id="415" r:id="rId23"/>
    <p:sldId id="492" r:id="rId24"/>
    <p:sldId id="421" r:id="rId25"/>
    <p:sldId id="422" r:id="rId26"/>
    <p:sldId id="485" r:id="rId27"/>
    <p:sldId id="486" r:id="rId28"/>
    <p:sldId id="487" r:id="rId29"/>
    <p:sldId id="488" r:id="rId30"/>
    <p:sldId id="489" r:id="rId31"/>
    <p:sldId id="462" r:id="rId32"/>
    <p:sldId id="463" r:id="rId33"/>
    <p:sldId id="464" r:id="rId34"/>
    <p:sldId id="466" r:id="rId35"/>
    <p:sldId id="467" r:id="rId36"/>
    <p:sldId id="468" r:id="rId37"/>
    <p:sldId id="424" r:id="rId38"/>
    <p:sldId id="433" r:id="rId39"/>
    <p:sldId id="493" r:id="rId40"/>
    <p:sldId id="426" r:id="rId41"/>
    <p:sldId id="427" r:id="rId42"/>
    <p:sldId id="428" r:id="rId43"/>
    <p:sldId id="429" r:id="rId44"/>
    <p:sldId id="430" r:id="rId45"/>
    <p:sldId id="434" r:id="rId46"/>
    <p:sldId id="431" r:id="rId47"/>
    <p:sldId id="440" r:id="rId48"/>
    <p:sldId id="439" r:id="rId49"/>
    <p:sldId id="438" r:id="rId50"/>
    <p:sldId id="282" r:id="rId51"/>
    <p:sldId id="383" r:id="rId52"/>
    <p:sldId id="420"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DD477F-6E5C-D100-DF2A-95B791736501}" v="1" dt="2025-02-17T21:25:44.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8" d="100"/>
          <a:sy n="58" d="100"/>
        </p:scale>
        <p:origin x="9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F9F7A9-1492-41A7-91D7-EBADF18AD595}" type="doc">
      <dgm:prSet loTypeId="urn:microsoft.com/office/officeart/2008/layout/LinedList" loCatId="list" qsTypeId="urn:microsoft.com/office/officeart/2005/8/quickstyle/3d1" qsCatId="3D" csTypeId="urn:microsoft.com/office/officeart/2005/8/colors/colorful4" csCatId="colorful" phldr="1"/>
      <dgm:spPr/>
      <dgm:t>
        <a:bodyPr/>
        <a:lstStyle/>
        <a:p>
          <a:endParaRPr lang="en-US"/>
        </a:p>
      </dgm:t>
    </dgm:pt>
    <dgm:pt modelId="{FD8EEEAB-AD4D-4418-9BDA-12F64F386DE9}">
      <dgm:prSet phldrT="[Text]"/>
      <dgm:spPr/>
      <dgm:t>
        <a:bodyPr/>
        <a:lstStyle/>
        <a:p>
          <a:r>
            <a:rPr lang="en-US" b="1" dirty="0"/>
            <a:t>Acknowledge receipt of the complaint</a:t>
          </a:r>
          <a:endParaRPr lang="en-US" dirty="0"/>
        </a:p>
      </dgm:t>
    </dgm:pt>
    <dgm:pt modelId="{458A9BAF-2F89-4EEE-A08B-EAB64DF4C3C0}" type="parTrans" cxnId="{7A76CE9B-53B4-4FF7-9FD4-DB94A2A3DC8C}">
      <dgm:prSet/>
      <dgm:spPr/>
      <dgm:t>
        <a:bodyPr/>
        <a:lstStyle/>
        <a:p>
          <a:endParaRPr lang="en-US"/>
        </a:p>
      </dgm:t>
    </dgm:pt>
    <dgm:pt modelId="{29AE174B-79A0-4C35-AF3D-72169DEF877A}" type="sibTrans" cxnId="{7A76CE9B-53B4-4FF7-9FD4-DB94A2A3DC8C}">
      <dgm:prSet/>
      <dgm:spPr/>
      <dgm:t>
        <a:bodyPr/>
        <a:lstStyle/>
        <a:p>
          <a:endParaRPr lang="en-US"/>
        </a:p>
      </dgm:t>
    </dgm:pt>
    <dgm:pt modelId="{FDB394DB-565F-4BA5-A643-E19A55953B3A}">
      <dgm:prSet phldrT="[Text]"/>
      <dgm:spPr/>
      <dgm:t>
        <a:bodyPr/>
        <a:lstStyle/>
        <a:p>
          <a:r>
            <a:rPr lang="en-US" dirty="0"/>
            <a:t>It is important that you acknowledge the receipt of all complaints, verbal or written. Preferably allocate a complaint reference number and provide the customer with a contact point for further correspondence.</a:t>
          </a:r>
        </a:p>
      </dgm:t>
    </dgm:pt>
    <dgm:pt modelId="{49258624-D723-4DD5-ABB1-61FB5A80666E}" type="parTrans" cxnId="{1272687A-713D-4D0D-AEBE-084CFD5B8955}">
      <dgm:prSet/>
      <dgm:spPr/>
      <dgm:t>
        <a:bodyPr/>
        <a:lstStyle/>
        <a:p>
          <a:endParaRPr lang="en-US"/>
        </a:p>
      </dgm:t>
    </dgm:pt>
    <dgm:pt modelId="{FD0E282A-405D-476E-BC15-A75956ADA322}" type="sibTrans" cxnId="{1272687A-713D-4D0D-AEBE-084CFD5B8955}">
      <dgm:prSet/>
      <dgm:spPr/>
      <dgm:t>
        <a:bodyPr/>
        <a:lstStyle/>
        <a:p>
          <a:endParaRPr lang="en-US"/>
        </a:p>
      </dgm:t>
    </dgm:pt>
    <dgm:pt modelId="{D7AAF02B-EAFD-483D-AC93-32F849B7B2BA}">
      <dgm:prSet phldrT="[Text]"/>
      <dgm:spPr/>
      <dgm:t>
        <a:bodyPr/>
        <a:lstStyle/>
        <a:p>
          <a:r>
            <a:rPr lang="en-US" b="1" dirty="0"/>
            <a:t>Accurately record complaint information and make it accessible </a:t>
          </a:r>
          <a:endParaRPr lang="en-US" dirty="0"/>
        </a:p>
      </dgm:t>
    </dgm:pt>
    <dgm:pt modelId="{2C41C3BC-8CC8-4732-9087-E0CF1258F131}" type="parTrans" cxnId="{BC6DBE5F-2E5B-40B6-8907-00A59CA4E222}">
      <dgm:prSet/>
      <dgm:spPr/>
      <dgm:t>
        <a:bodyPr/>
        <a:lstStyle/>
        <a:p>
          <a:endParaRPr lang="en-US"/>
        </a:p>
      </dgm:t>
    </dgm:pt>
    <dgm:pt modelId="{10B7F208-7298-4534-AF24-A478707353B6}" type="sibTrans" cxnId="{BC6DBE5F-2E5B-40B6-8907-00A59CA4E222}">
      <dgm:prSet/>
      <dgm:spPr/>
      <dgm:t>
        <a:bodyPr/>
        <a:lstStyle/>
        <a:p>
          <a:endParaRPr lang="en-US"/>
        </a:p>
      </dgm:t>
    </dgm:pt>
    <dgm:pt modelId="{AAC49C9D-971A-4E4B-9B8B-9CB9100750B2}">
      <dgm:prSet phldrT="[Text]"/>
      <dgm:spPr/>
      <dgm:t>
        <a:bodyPr/>
        <a:lstStyle/>
        <a:p>
          <a:r>
            <a:rPr lang="en-US" dirty="0"/>
            <a:t>Make sure that your recorded version of the complaint matches exactly what the customer said. Also make sure that the complaint record is accessible by any branch of the organization that the customer may contact.</a:t>
          </a:r>
        </a:p>
      </dgm:t>
    </dgm:pt>
    <dgm:pt modelId="{6E6C68C0-F094-47C3-B0C7-9195503AC5EA}" type="parTrans" cxnId="{D55CF7A4-242E-40C2-ABE9-C350EAFCB464}">
      <dgm:prSet/>
      <dgm:spPr/>
      <dgm:t>
        <a:bodyPr/>
        <a:lstStyle/>
        <a:p>
          <a:endParaRPr lang="en-US"/>
        </a:p>
      </dgm:t>
    </dgm:pt>
    <dgm:pt modelId="{11F6BB5C-A29D-496E-A07A-AF48E293B391}" type="sibTrans" cxnId="{D55CF7A4-242E-40C2-ABE9-C350EAFCB464}">
      <dgm:prSet/>
      <dgm:spPr/>
      <dgm:t>
        <a:bodyPr/>
        <a:lstStyle/>
        <a:p>
          <a:endParaRPr lang="en-US"/>
        </a:p>
      </dgm:t>
    </dgm:pt>
    <dgm:pt modelId="{50D5317A-59FC-44C5-9C7F-69375363A803}">
      <dgm:prSet/>
      <dgm:spPr/>
      <dgm:t>
        <a:bodyPr/>
        <a:lstStyle/>
        <a:p>
          <a:r>
            <a:rPr lang="en-US" b="1" dirty="0"/>
            <a:t>Attach timeframes for resolution of complaint</a:t>
          </a:r>
        </a:p>
      </dgm:t>
    </dgm:pt>
    <dgm:pt modelId="{B77EA217-1449-40C2-B51C-C033F594DB58}" type="parTrans" cxnId="{48BDAEDA-5D2D-4927-B2E5-766D1221FDE8}">
      <dgm:prSet/>
      <dgm:spPr/>
      <dgm:t>
        <a:bodyPr/>
        <a:lstStyle/>
        <a:p>
          <a:endParaRPr lang="en-US"/>
        </a:p>
      </dgm:t>
    </dgm:pt>
    <dgm:pt modelId="{59D1913E-B101-49D6-9D32-A7C147A42B36}" type="sibTrans" cxnId="{48BDAEDA-5D2D-4927-B2E5-766D1221FDE8}">
      <dgm:prSet/>
      <dgm:spPr/>
      <dgm:t>
        <a:bodyPr/>
        <a:lstStyle/>
        <a:p>
          <a:endParaRPr lang="en-US"/>
        </a:p>
      </dgm:t>
    </dgm:pt>
    <dgm:pt modelId="{7813F7B3-0EA3-422E-AE0A-DCFD995B21DE}">
      <dgm:prSet/>
      <dgm:spPr/>
      <dgm:t>
        <a:bodyPr/>
        <a:lstStyle/>
        <a:p>
          <a:r>
            <a:rPr lang="en-US" dirty="0"/>
            <a:t>The company should attempt to resolve complaints on first contact, but if this is not possible, then a complaint should be finalized within a specific number of days </a:t>
          </a:r>
          <a:r>
            <a:rPr lang="en-US" dirty="0" err="1"/>
            <a:t>eg</a:t>
          </a:r>
          <a:r>
            <a:rPr lang="en-US" dirty="0"/>
            <a:t>. 30 days.</a:t>
          </a:r>
          <a:endParaRPr lang="en-US" b="1" dirty="0"/>
        </a:p>
      </dgm:t>
    </dgm:pt>
    <dgm:pt modelId="{5471CBD7-BFCF-422F-91C7-20C4A6684399}" type="parTrans" cxnId="{58C04D1B-9284-4FB3-9EF3-8BA2F1BFB584}">
      <dgm:prSet/>
      <dgm:spPr/>
      <dgm:t>
        <a:bodyPr/>
        <a:lstStyle/>
        <a:p>
          <a:endParaRPr lang="en-US"/>
        </a:p>
      </dgm:t>
    </dgm:pt>
    <dgm:pt modelId="{FA59135F-7AF7-4003-B2E4-C523C158B812}" type="sibTrans" cxnId="{58C04D1B-9284-4FB3-9EF3-8BA2F1BFB584}">
      <dgm:prSet/>
      <dgm:spPr/>
      <dgm:t>
        <a:bodyPr/>
        <a:lstStyle/>
        <a:p>
          <a:endParaRPr lang="en-US"/>
        </a:p>
      </dgm:t>
    </dgm:pt>
    <dgm:pt modelId="{E4B3E776-1AC5-4C0C-8393-41B2C8E08740}" type="pres">
      <dgm:prSet presAssocID="{98F9F7A9-1492-41A7-91D7-EBADF18AD595}" presName="vert0" presStyleCnt="0">
        <dgm:presLayoutVars>
          <dgm:dir/>
          <dgm:animOne val="branch"/>
          <dgm:animLvl val="lvl"/>
        </dgm:presLayoutVars>
      </dgm:prSet>
      <dgm:spPr/>
    </dgm:pt>
    <dgm:pt modelId="{8F84704B-CC5F-405F-BC48-122E0F655E00}" type="pres">
      <dgm:prSet presAssocID="{FD8EEEAB-AD4D-4418-9BDA-12F64F386DE9}" presName="thickLine" presStyleLbl="alignNode1" presStyleIdx="0" presStyleCnt="3"/>
      <dgm:spPr/>
    </dgm:pt>
    <dgm:pt modelId="{C6A7BABD-1AE4-4E80-A5D9-DDCFD606BABC}" type="pres">
      <dgm:prSet presAssocID="{FD8EEEAB-AD4D-4418-9BDA-12F64F386DE9}" presName="horz1" presStyleCnt="0"/>
      <dgm:spPr/>
    </dgm:pt>
    <dgm:pt modelId="{7D42B88E-5FB4-401E-AC55-6EA3235C3E18}" type="pres">
      <dgm:prSet presAssocID="{FD8EEEAB-AD4D-4418-9BDA-12F64F386DE9}" presName="tx1" presStyleLbl="revTx" presStyleIdx="0" presStyleCnt="6"/>
      <dgm:spPr/>
    </dgm:pt>
    <dgm:pt modelId="{1C062717-DCB4-4370-B954-613EEF747A12}" type="pres">
      <dgm:prSet presAssocID="{FD8EEEAB-AD4D-4418-9BDA-12F64F386DE9}" presName="vert1" presStyleCnt="0"/>
      <dgm:spPr/>
    </dgm:pt>
    <dgm:pt modelId="{E1BB0E62-32FF-4EBD-9B25-2C0AFBD88048}" type="pres">
      <dgm:prSet presAssocID="{FDB394DB-565F-4BA5-A643-E19A55953B3A}" presName="vertSpace2a" presStyleCnt="0"/>
      <dgm:spPr/>
    </dgm:pt>
    <dgm:pt modelId="{8D120FF6-B970-4409-8466-D4FDAEEA66D4}" type="pres">
      <dgm:prSet presAssocID="{FDB394DB-565F-4BA5-A643-E19A55953B3A}" presName="horz2" presStyleCnt="0"/>
      <dgm:spPr/>
    </dgm:pt>
    <dgm:pt modelId="{3560967A-5CDD-4B0C-AE3C-895C1A1FBC6B}" type="pres">
      <dgm:prSet presAssocID="{FDB394DB-565F-4BA5-A643-E19A55953B3A}" presName="horzSpace2" presStyleCnt="0"/>
      <dgm:spPr/>
    </dgm:pt>
    <dgm:pt modelId="{47CA7289-6A46-408D-8114-BA43F1E17F25}" type="pres">
      <dgm:prSet presAssocID="{FDB394DB-565F-4BA5-A643-E19A55953B3A}" presName="tx2" presStyleLbl="revTx" presStyleIdx="1" presStyleCnt="6"/>
      <dgm:spPr/>
    </dgm:pt>
    <dgm:pt modelId="{943FB3F0-D15C-449E-B16E-E47080D6A548}" type="pres">
      <dgm:prSet presAssocID="{FDB394DB-565F-4BA5-A643-E19A55953B3A}" presName="vert2" presStyleCnt="0"/>
      <dgm:spPr/>
    </dgm:pt>
    <dgm:pt modelId="{6301AEAC-C0D0-412D-A053-21E72D6763C3}" type="pres">
      <dgm:prSet presAssocID="{FDB394DB-565F-4BA5-A643-E19A55953B3A}" presName="thinLine2b" presStyleLbl="callout" presStyleIdx="0" presStyleCnt="3"/>
      <dgm:spPr/>
    </dgm:pt>
    <dgm:pt modelId="{1C22AF59-30DC-43E1-A865-067BB79394D8}" type="pres">
      <dgm:prSet presAssocID="{FDB394DB-565F-4BA5-A643-E19A55953B3A}" presName="vertSpace2b" presStyleCnt="0"/>
      <dgm:spPr/>
    </dgm:pt>
    <dgm:pt modelId="{8B258093-D50A-4E47-858D-D61A8F15327D}" type="pres">
      <dgm:prSet presAssocID="{D7AAF02B-EAFD-483D-AC93-32F849B7B2BA}" presName="thickLine" presStyleLbl="alignNode1" presStyleIdx="1" presStyleCnt="3"/>
      <dgm:spPr/>
    </dgm:pt>
    <dgm:pt modelId="{17C8B7EC-F217-48FE-98CB-376A0F7137F3}" type="pres">
      <dgm:prSet presAssocID="{D7AAF02B-EAFD-483D-AC93-32F849B7B2BA}" presName="horz1" presStyleCnt="0"/>
      <dgm:spPr/>
    </dgm:pt>
    <dgm:pt modelId="{BA7E7166-CACA-421E-9E1D-7F06A5307075}" type="pres">
      <dgm:prSet presAssocID="{D7AAF02B-EAFD-483D-AC93-32F849B7B2BA}" presName="tx1" presStyleLbl="revTx" presStyleIdx="2" presStyleCnt="6"/>
      <dgm:spPr/>
    </dgm:pt>
    <dgm:pt modelId="{C902E638-22E6-4FC2-B146-2A16F19D880B}" type="pres">
      <dgm:prSet presAssocID="{D7AAF02B-EAFD-483D-AC93-32F849B7B2BA}" presName="vert1" presStyleCnt="0"/>
      <dgm:spPr/>
    </dgm:pt>
    <dgm:pt modelId="{B5AC321D-1974-46C7-9FD0-4E22FFCECF30}" type="pres">
      <dgm:prSet presAssocID="{AAC49C9D-971A-4E4B-9B8B-9CB9100750B2}" presName="vertSpace2a" presStyleCnt="0"/>
      <dgm:spPr/>
    </dgm:pt>
    <dgm:pt modelId="{19699EBB-FBB7-4EDD-B828-0695817DB310}" type="pres">
      <dgm:prSet presAssocID="{AAC49C9D-971A-4E4B-9B8B-9CB9100750B2}" presName="horz2" presStyleCnt="0"/>
      <dgm:spPr/>
    </dgm:pt>
    <dgm:pt modelId="{5960F8F6-A6EF-4CEC-8BF9-C12E63D18F6E}" type="pres">
      <dgm:prSet presAssocID="{AAC49C9D-971A-4E4B-9B8B-9CB9100750B2}" presName="horzSpace2" presStyleCnt="0"/>
      <dgm:spPr/>
    </dgm:pt>
    <dgm:pt modelId="{F8DCF331-79D4-47E6-A726-A14422A46EFC}" type="pres">
      <dgm:prSet presAssocID="{AAC49C9D-971A-4E4B-9B8B-9CB9100750B2}" presName="tx2" presStyleLbl="revTx" presStyleIdx="3" presStyleCnt="6"/>
      <dgm:spPr/>
    </dgm:pt>
    <dgm:pt modelId="{EB97C049-20B9-47A3-93DF-87898CA93277}" type="pres">
      <dgm:prSet presAssocID="{AAC49C9D-971A-4E4B-9B8B-9CB9100750B2}" presName="vert2" presStyleCnt="0"/>
      <dgm:spPr/>
    </dgm:pt>
    <dgm:pt modelId="{357E4888-CD9B-431F-AC83-1F9A79F5A26C}" type="pres">
      <dgm:prSet presAssocID="{AAC49C9D-971A-4E4B-9B8B-9CB9100750B2}" presName="thinLine2b" presStyleLbl="callout" presStyleIdx="1" presStyleCnt="3"/>
      <dgm:spPr/>
    </dgm:pt>
    <dgm:pt modelId="{D071DA1A-50C7-4FAC-A211-1E1C3AE7640B}" type="pres">
      <dgm:prSet presAssocID="{AAC49C9D-971A-4E4B-9B8B-9CB9100750B2}" presName="vertSpace2b" presStyleCnt="0"/>
      <dgm:spPr/>
    </dgm:pt>
    <dgm:pt modelId="{D3D89592-BA7E-4A70-B72C-3EEFE758EEC4}" type="pres">
      <dgm:prSet presAssocID="{50D5317A-59FC-44C5-9C7F-69375363A803}" presName="thickLine" presStyleLbl="alignNode1" presStyleIdx="2" presStyleCnt="3"/>
      <dgm:spPr/>
    </dgm:pt>
    <dgm:pt modelId="{A7590215-B6EA-4B5D-98DB-8DF35B332B7C}" type="pres">
      <dgm:prSet presAssocID="{50D5317A-59FC-44C5-9C7F-69375363A803}" presName="horz1" presStyleCnt="0"/>
      <dgm:spPr/>
    </dgm:pt>
    <dgm:pt modelId="{353D12A1-32E5-4564-8821-4500E3523CBD}" type="pres">
      <dgm:prSet presAssocID="{50D5317A-59FC-44C5-9C7F-69375363A803}" presName="tx1" presStyleLbl="revTx" presStyleIdx="4" presStyleCnt="6"/>
      <dgm:spPr/>
    </dgm:pt>
    <dgm:pt modelId="{73181375-9F07-42CE-8F67-20CFAFBC5F1C}" type="pres">
      <dgm:prSet presAssocID="{50D5317A-59FC-44C5-9C7F-69375363A803}" presName="vert1" presStyleCnt="0"/>
      <dgm:spPr/>
    </dgm:pt>
    <dgm:pt modelId="{980914E3-9D48-47E0-940C-234F92A0033F}" type="pres">
      <dgm:prSet presAssocID="{7813F7B3-0EA3-422E-AE0A-DCFD995B21DE}" presName="vertSpace2a" presStyleCnt="0"/>
      <dgm:spPr/>
    </dgm:pt>
    <dgm:pt modelId="{9D215520-067E-48C8-AA34-ED3E49C519DD}" type="pres">
      <dgm:prSet presAssocID="{7813F7B3-0EA3-422E-AE0A-DCFD995B21DE}" presName="horz2" presStyleCnt="0"/>
      <dgm:spPr/>
    </dgm:pt>
    <dgm:pt modelId="{CEA2581F-EFB0-47A6-8F70-0CCC52BF6005}" type="pres">
      <dgm:prSet presAssocID="{7813F7B3-0EA3-422E-AE0A-DCFD995B21DE}" presName="horzSpace2" presStyleCnt="0"/>
      <dgm:spPr/>
    </dgm:pt>
    <dgm:pt modelId="{5C468CBC-BAFE-41B9-B85B-A6E71CB1A745}" type="pres">
      <dgm:prSet presAssocID="{7813F7B3-0EA3-422E-AE0A-DCFD995B21DE}" presName="tx2" presStyleLbl="revTx" presStyleIdx="5" presStyleCnt="6"/>
      <dgm:spPr/>
    </dgm:pt>
    <dgm:pt modelId="{F7E9C7F8-2D44-4EEE-8EA3-C7C362B161B3}" type="pres">
      <dgm:prSet presAssocID="{7813F7B3-0EA3-422E-AE0A-DCFD995B21DE}" presName="vert2" presStyleCnt="0"/>
      <dgm:spPr/>
    </dgm:pt>
    <dgm:pt modelId="{ADD4EB1A-DD4B-48BA-9BA0-F979DE92D69B}" type="pres">
      <dgm:prSet presAssocID="{7813F7B3-0EA3-422E-AE0A-DCFD995B21DE}" presName="thinLine2b" presStyleLbl="callout" presStyleIdx="2" presStyleCnt="3"/>
      <dgm:spPr/>
    </dgm:pt>
    <dgm:pt modelId="{205C4D6C-B3B8-430A-9A1B-D47F26B73444}" type="pres">
      <dgm:prSet presAssocID="{7813F7B3-0EA3-422E-AE0A-DCFD995B21DE}" presName="vertSpace2b" presStyleCnt="0"/>
      <dgm:spPr/>
    </dgm:pt>
  </dgm:ptLst>
  <dgm:cxnLst>
    <dgm:cxn modelId="{4D303A05-DB6B-4B48-9FAF-158A24639533}" type="presOf" srcId="{50D5317A-59FC-44C5-9C7F-69375363A803}" destId="{353D12A1-32E5-4564-8821-4500E3523CBD}" srcOrd="0" destOrd="0" presId="urn:microsoft.com/office/officeart/2008/layout/LinedList"/>
    <dgm:cxn modelId="{58C04D1B-9284-4FB3-9EF3-8BA2F1BFB584}" srcId="{50D5317A-59FC-44C5-9C7F-69375363A803}" destId="{7813F7B3-0EA3-422E-AE0A-DCFD995B21DE}" srcOrd="0" destOrd="0" parTransId="{5471CBD7-BFCF-422F-91C7-20C4A6684399}" sibTransId="{FA59135F-7AF7-4003-B2E4-C523C158B812}"/>
    <dgm:cxn modelId="{BC6DBE5F-2E5B-40B6-8907-00A59CA4E222}" srcId="{98F9F7A9-1492-41A7-91D7-EBADF18AD595}" destId="{D7AAF02B-EAFD-483D-AC93-32F849B7B2BA}" srcOrd="1" destOrd="0" parTransId="{2C41C3BC-8CC8-4732-9087-E0CF1258F131}" sibTransId="{10B7F208-7298-4534-AF24-A478707353B6}"/>
    <dgm:cxn modelId="{1A7F2E6F-0D13-4022-89A4-E0AE3799BF56}" type="presOf" srcId="{7813F7B3-0EA3-422E-AE0A-DCFD995B21DE}" destId="{5C468CBC-BAFE-41B9-B85B-A6E71CB1A745}" srcOrd="0" destOrd="0" presId="urn:microsoft.com/office/officeart/2008/layout/LinedList"/>
    <dgm:cxn modelId="{DFB9BF78-5CC8-4E20-97DD-EB78F25552C3}" type="presOf" srcId="{AAC49C9D-971A-4E4B-9B8B-9CB9100750B2}" destId="{F8DCF331-79D4-47E6-A726-A14422A46EFC}" srcOrd="0" destOrd="0" presId="urn:microsoft.com/office/officeart/2008/layout/LinedList"/>
    <dgm:cxn modelId="{1272687A-713D-4D0D-AEBE-084CFD5B8955}" srcId="{FD8EEEAB-AD4D-4418-9BDA-12F64F386DE9}" destId="{FDB394DB-565F-4BA5-A643-E19A55953B3A}" srcOrd="0" destOrd="0" parTransId="{49258624-D723-4DD5-ABB1-61FB5A80666E}" sibTransId="{FD0E282A-405D-476E-BC15-A75956ADA322}"/>
    <dgm:cxn modelId="{8CE59E89-7383-4518-964B-2B6CD3FD27F9}" type="presOf" srcId="{98F9F7A9-1492-41A7-91D7-EBADF18AD595}" destId="{E4B3E776-1AC5-4C0C-8393-41B2C8E08740}" srcOrd="0" destOrd="0" presId="urn:microsoft.com/office/officeart/2008/layout/LinedList"/>
    <dgm:cxn modelId="{C2B88E91-2337-4FBB-BDFB-D879FD499EA7}" type="presOf" srcId="{FD8EEEAB-AD4D-4418-9BDA-12F64F386DE9}" destId="{7D42B88E-5FB4-401E-AC55-6EA3235C3E18}" srcOrd="0" destOrd="0" presId="urn:microsoft.com/office/officeart/2008/layout/LinedList"/>
    <dgm:cxn modelId="{B1D0D993-A63F-48F1-8AD5-5F717F4A7BA5}" type="presOf" srcId="{D7AAF02B-EAFD-483D-AC93-32F849B7B2BA}" destId="{BA7E7166-CACA-421E-9E1D-7F06A5307075}" srcOrd="0" destOrd="0" presId="urn:microsoft.com/office/officeart/2008/layout/LinedList"/>
    <dgm:cxn modelId="{7A76CE9B-53B4-4FF7-9FD4-DB94A2A3DC8C}" srcId="{98F9F7A9-1492-41A7-91D7-EBADF18AD595}" destId="{FD8EEEAB-AD4D-4418-9BDA-12F64F386DE9}" srcOrd="0" destOrd="0" parTransId="{458A9BAF-2F89-4EEE-A08B-EAB64DF4C3C0}" sibTransId="{29AE174B-79A0-4C35-AF3D-72169DEF877A}"/>
    <dgm:cxn modelId="{D55CF7A4-242E-40C2-ABE9-C350EAFCB464}" srcId="{D7AAF02B-EAFD-483D-AC93-32F849B7B2BA}" destId="{AAC49C9D-971A-4E4B-9B8B-9CB9100750B2}" srcOrd="0" destOrd="0" parTransId="{6E6C68C0-F094-47C3-B0C7-9195503AC5EA}" sibTransId="{11F6BB5C-A29D-496E-A07A-AF48E293B391}"/>
    <dgm:cxn modelId="{039FE5B2-A410-422E-8864-48DAF08790C8}" type="presOf" srcId="{FDB394DB-565F-4BA5-A643-E19A55953B3A}" destId="{47CA7289-6A46-408D-8114-BA43F1E17F25}" srcOrd="0" destOrd="0" presId="urn:microsoft.com/office/officeart/2008/layout/LinedList"/>
    <dgm:cxn modelId="{48BDAEDA-5D2D-4927-B2E5-766D1221FDE8}" srcId="{98F9F7A9-1492-41A7-91D7-EBADF18AD595}" destId="{50D5317A-59FC-44C5-9C7F-69375363A803}" srcOrd="2" destOrd="0" parTransId="{B77EA217-1449-40C2-B51C-C033F594DB58}" sibTransId="{59D1913E-B101-49D6-9D32-A7C147A42B36}"/>
    <dgm:cxn modelId="{9FB58F8C-074B-48A1-A525-F44709A1A112}" type="presParOf" srcId="{E4B3E776-1AC5-4C0C-8393-41B2C8E08740}" destId="{8F84704B-CC5F-405F-BC48-122E0F655E00}" srcOrd="0" destOrd="0" presId="urn:microsoft.com/office/officeart/2008/layout/LinedList"/>
    <dgm:cxn modelId="{DD03F9D4-221B-4B95-878D-BB4FABDD8C0A}" type="presParOf" srcId="{E4B3E776-1AC5-4C0C-8393-41B2C8E08740}" destId="{C6A7BABD-1AE4-4E80-A5D9-DDCFD606BABC}" srcOrd="1" destOrd="0" presId="urn:microsoft.com/office/officeart/2008/layout/LinedList"/>
    <dgm:cxn modelId="{EC402FF0-5C84-4CB7-A83E-594C57E2F6B8}" type="presParOf" srcId="{C6A7BABD-1AE4-4E80-A5D9-DDCFD606BABC}" destId="{7D42B88E-5FB4-401E-AC55-6EA3235C3E18}" srcOrd="0" destOrd="0" presId="urn:microsoft.com/office/officeart/2008/layout/LinedList"/>
    <dgm:cxn modelId="{B61DD491-730A-4E7A-BE12-21F215F5103B}" type="presParOf" srcId="{C6A7BABD-1AE4-4E80-A5D9-DDCFD606BABC}" destId="{1C062717-DCB4-4370-B954-613EEF747A12}" srcOrd="1" destOrd="0" presId="urn:microsoft.com/office/officeart/2008/layout/LinedList"/>
    <dgm:cxn modelId="{B0FBABC2-F8DD-447E-87D6-10F3CDE4F550}" type="presParOf" srcId="{1C062717-DCB4-4370-B954-613EEF747A12}" destId="{E1BB0E62-32FF-4EBD-9B25-2C0AFBD88048}" srcOrd="0" destOrd="0" presId="urn:microsoft.com/office/officeart/2008/layout/LinedList"/>
    <dgm:cxn modelId="{BE32C9A3-C130-4A57-8EA5-9B879CAF6219}" type="presParOf" srcId="{1C062717-DCB4-4370-B954-613EEF747A12}" destId="{8D120FF6-B970-4409-8466-D4FDAEEA66D4}" srcOrd="1" destOrd="0" presId="urn:microsoft.com/office/officeart/2008/layout/LinedList"/>
    <dgm:cxn modelId="{940E18AE-5893-40FA-95BA-41F4A110AD20}" type="presParOf" srcId="{8D120FF6-B970-4409-8466-D4FDAEEA66D4}" destId="{3560967A-5CDD-4B0C-AE3C-895C1A1FBC6B}" srcOrd="0" destOrd="0" presId="urn:microsoft.com/office/officeart/2008/layout/LinedList"/>
    <dgm:cxn modelId="{7435A5AA-90F0-45CF-81B8-15FD0D80B8C7}" type="presParOf" srcId="{8D120FF6-B970-4409-8466-D4FDAEEA66D4}" destId="{47CA7289-6A46-408D-8114-BA43F1E17F25}" srcOrd="1" destOrd="0" presId="urn:microsoft.com/office/officeart/2008/layout/LinedList"/>
    <dgm:cxn modelId="{13319F30-9D67-490F-A0D0-524825062B6E}" type="presParOf" srcId="{8D120FF6-B970-4409-8466-D4FDAEEA66D4}" destId="{943FB3F0-D15C-449E-B16E-E47080D6A548}" srcOrd="2" destOrd="0" presId="urn:microsoft.com/office/officeart/2008/layout/LinedList"/>
    <dgm:cxn modelId="{8E23B205-E43F-4360-BDCA-815B292A2FD0}" type="presParOf" srcId="{1C062717-DCB4-4370-B954-613EEF747A12}" destId="{6301AEAC-C0D0-412D-A053-21E72D6763C3}" srcOrd="2" destOrd="0" presId="urn:microsoft.com/office/officeart/2008/layout/LinedList"/>
    <dgm:cxn modelId="{E63A50D1-C9A3-48DD-90EC-4ACFD3B71023}" type="presParOf" srcId="{1C062717-DCB4-4370-B954-613EEF747A12}" destId="{1C22AF59-30DC-43E1-A865-067BB79394D8}" srcOrd="3" destOrd="0" presId="urn:microsoft.com/office/officeart/2008/layout/LinedList"/>
    <dgm:cxn modelId="{C6FE424A-5CBD-46E1-941C-3381BD9B68C6}" type="presParOf" srcId="{E4B3E776-1AC5-4C0C-8393-41B2C8E08740}" destId="{8B258093-D50A-4E47-858D-D61A8F15327D}" srcOrd="2" destOrd="0" presId="urn:microsoft.com/office/officeart/2008/layout/LinedList"/>
    <dgm:cxn modelId="{FF55B28A-FFD1-41EB-8162-66B73B6A1304}" type="presParOf" srcId="{E4B3E776-1AC5-4C0C-8393-41B2C8E08740}" destId="{17C8B7EC-F217-48FE-98CB-376A0F7137F3}" srcOrd="3" destOrd="0" presId="urn:microsoft.com/office/officeart/2008/layout/LinedList"/>
    <dgm:cxn modelId="{D68006E7-239D-4F01-9DA9-DA641BC9922B}" type="presParOf" srcId="{17C8B7EC-F217-48FE-98CB-376A0F7137F3}" destId="{BA7E7166-CACA-421E-9E1D-7F06A5307075}" srcOrd="0" destOrd="0" presId="urn:microsoft.com/office/officeart/2008/layout/LinedList"/>
    <dgm:cxn modelId="{99B3356D-415B-4EA6-BDA6-F3CF48CBCC9D}" type="presParOf" srcId="{17C8B7EC-F217-48FE-98CB-376A0F7137F3}" destId="{C902E638-22E6-4FC2-B146-2A16F19D880B}" srcOrd="1" destOrd="0" presId="urn:microsoft.com/office/officeart/2008/layout/LinedList"/>
    <dgm:cxn modelId="{F420BED8-74CC-42A2-A0EC-B3705C339232}" type="presParOf" srcId="{C902E638-22E6-4FC2-B146-2A16F19D880B}" destId="{B5AC321D-1974-46C7-9FD0-4E22FFCECF30}" srcOrd="0" destOrd="0" presId="urn:microsoft.com/office/officeart/2008/layout/LinedList"/>
    <dgm:cxn modelId="{D4FF2C43-C36C-44B6-AED9-2D1A9FA521B0}" type="presParOf" srcId="{C902E638-22E6-4FC2-B146-2A16F19D880B}" destId="{19699EBB-FBB7-4EDD-B828-0695817DB310}" srcOrd="1" destOrd="0" presId="urn:microsoft.com/office/officeart/2008/layout/LinedList"/>
    <dgm:cxn modelId="{8D8AAF09-F2FE-4A83-B9DA-970DE8E1C90F}" type="presParOf" srcId="{19699EBB-FBB7-4EDD-B828-0695817DB310}" destId="{5960F8F6-A6EF-4CEC-8BF9-C12E63D18F6E}" srcOrd="0" destOrd="0" presId="urn:microsoft.com/office/officeart/2008/layout/LinedList"/>
    <dgm:cxn modelId="{ABE5EB30-CE98-42CD-9B15-45D8079BC17C}" type="presParOf" srcId="{19699EBB-FBB7-4EDD-B828-0695817DB310}" destId="{F8DCF331-79D4-47E6-A726-A14422A46EFC}" srcOrd="1" destOrd="0" presId="urn:microsoft.com/office/officeart/2008/layout/LinedList"/>
    <dgm:cxn modelId="{F80657CE-3E30-4537-8F82-A5835516BDA6}" type="presParOf" srcId="{19699EBB-FBB7-4EDD-B828-0695817DB310}" destId="{EB97C049-20B9-47A3-93DF-87898CA93277}" srcOrd="2" destOrd="0" presId="urn:microsoft.com/office/officeart/2008/layout/LinedList"/>
    <dgm:cxn modelId="{7DAFCCB7-26C7-4C7A-9344-6D9C1010009C}" type="presParOf" srcId="{C902E638-22E6-4FC2-B146-2A16F19D880B}" destId="{357E4888-CD9B-431F-AC83-1F9A79F5A26C}" srcOrd="2" destOrd="0" presId="urn:microsoft.com/office/officeart/2008/layout/LinedList"/>
    <dgm:cxn modelId="{83AD906C-B795-4C99-9897-CCE0F6EAFB17}" type="presParOf" srcId="{C902E638-22E6-4FC2-B146-2A16F19D880B}" destId="{D071DA1A-50C7-4FAC-A211-1E1C3AE7640B}" srcOrd="3" destOrd="0" presId="urn:microsoft.com/office/officeart/2008/layout/LinedList"/>
    <dgm:cxn modelId="{59427B29-7BCF-4147-BEC1-825C83208412}" type="presParOf" srcId="{E4B3E776-1AC5-4C0C-8393-41B2C8E08740}" destId="{D3D89592-BA7E-4A70-B72C-3EEFE758EEC4}" srcOrd="4" destOrd="0" presId="urn:microsoft.com/office/officeart/2008/layout/LinedList"/>
    <dgm:cxn modelId="{4A7631FC-ECD0-494D-9E9C-80FA79F922DB}" type="presParOf" srcId="{E4B3E776-1AC5-4C0C-8393-41B2C8E08740}" destId="{A7590215-B6EA-4B5D-98DB-8DF35B332B7C}" srcOrd="5" destOrd="0" presId="urn:microsoft.com/office/officeart/2008/layout/LinedList"/>
    <dgm:cxn modelId="{BFB42058-6111-4844-826F-F8632271C032}" type="presParOf" srcId="{A7590215-B6EA-4B5D-98DB-8DF35B332B7C}" destId="{353D12A1-32E5-4564-8821-4500E3523CBD}" srcOrd="0" destOrd="0" presId="urn:microsoft.com/office/officeart/2008/layout/LinedList"/>
    <dgm:cxn modelId="{47A078D3-6CB4-4231-BE92-5B30F5A3D981}" type="presParOf" srcId="{A7590215-B6EA-4B5D-98DB-8DF35B332B7C}" destId="{73181375-9F07-42CE-8F67-20CFAFBC5F1C}" srcOrd="1" destOrd="0" presId="urn:microsoft.com/office/officeart/2008/layout/LinedList"/>
    <dgm:cxn modelId="{8F045E8A-87B1-4719-9ACD-5A6A4E9DFAE1}" type="presParOf" srcId="{73181375-9F07-42CE-8F67-20CFAFBC5F1C}" destId="{980914E3-9D48-47E0-940C-234F92A0033F}" srcOrd="0" destOrd="0" presId="urn:microsoft.com/office/officeart/2008/layout/LinedList"/>
    <dgm:cxn modelId="{A7A5B7B3-426E-49ED-8472-7DC91C4F9D61}" type="presParOf" srcId="{73181375-9F07-42CE-8F67-20CFAFBC5F1C}" destId="{9D215520-067E-48C8-AA34-ED3E49C519DD}" srcOrd="1" destOrd="0" presId="urn:microsoft.com/office/officeart/2008/layout/LinedList"/>
    <dgm:cxn modelId="{4EFD7911-2154-4C43-AD9A-23703238E7A5}" type="presParOf" srcId="{9D215520-067E-48C8-AA34-ED3E49C519DD}" destId="{CEA2581F-EFB0-47A6-8F70-0CCC52BF6005}" srcOrd="0" destOrd="0" presId="urn:microsoft.com/office/officeart/2008/layout/LinedList"/>
    <dgm:cxn modelId="{4A28EA0E-9A19-4A8A-B94F-7E9C53DFD543}" type="presParOf" srcId="{9D215520-067E-48C8-AA34-ED3E49C519DD}" destId="{5C468CBC-BAFE-41B9-B85B-A6E71CB1A745}" srcOrd="1" destOrd="0" presId="urn:microsoft.com/office/officeart/2008/layout/LinedList"/>
    <dgm:cxn modelId="{121E2E8B-D4F4-4528-827F-3DE127E0B526}" type="presParOf" srcId="{9D215520-067E-48C8-AA34-ED3E49C519DD}" destId="{F7E9C7F8-2D44-4EEE-8EA3-C7C362B161B3}" srcOrd="2" destOrd="0" presId="urn:microsoft.com/office/officeart/2008/layout/LinedList"/>
    <dgm:cxn modelId="{4CE1DC06-072F-4D8D-A91B-DDA53026B83B}" type="presParOf" srcId="{73181375-9F07-42CE-8F67-20CFAFBC5F1C}" destId="{ADD4EB1A-DD4B-48BA-9BA0-F979DE92D69B}" srcOrd="2" destOrd="0" presId="urn:microsoft.com/office/officeart/2008/layout/LinedList"/>
    <dgm:cxn modelId="{2F9DBCD4-C043-4CBF-A30E-67A6CAA082C2}" type="presParOf" srcId="{73181375-9F07-42CE-8F67-20CFAFBC5F1C}" destId="{205C4D6C-B3B8-430A-9A1B-D47F26B73444}"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2F7875-1B5C-4027-95A0-3A4A439AEDD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BF15DD2-242F-4077-AFF6-D172921B4FE5}">
      <dgm:prSet phldrT="[Text]"/>
      <dgm:spPr/>
      <dgm:t>
        <a:bodyPr/>
        <a:lstStyle/>
        <a:p>
          <a:r>
            <a:rPr lang="en-US" b="1" dirty="0"/>
            <a:t>Customers must be informed about any delays in resolving a complaint</a:t>
          </a:r>
          <a:endParaRPr lang="en-US" dirty="0"/>
        </a:p>
      </dgm:t>
    </dgm:pt>
    <dgm:pt modelId="{CD626E94-F55D-4F78-A162-98398D625E62}" type="parTrans" cxnId="{1A2BEABE-E0AE-402A-8DAD-C46B46038EDB}">
      <dgm:prSet/>
      <dgm:spPr/>
      <dgm:t>
        <a:bodyPr/>
        <a:lstStyle/>
        <a:p>
          <a:endParaRPr lang="en-US"/>
        </a:p>
      </dgm:t>
    </dgm:pt>
    <dgm:pt modelId="{81025106-FAE0-42DB-A7DD-BF763843529B}" type="sibTrans" cxnId="{1A2BEABE-E0AE-402A-8DAD-C46B46038EDB}">
      <dgm:prSet/>
      <dgm:spPr/>
      <dgm:t>
        <a:bodyPr/>
        <a:lstStyle/>
        <a:p>
          <a:endParaRPr lang="en-US"/>
        </a:p>
      </dgm:t>
    </dgm:pt>
    <dgm:pt modelId="{20B0D62D-EA88-4235-A331-BD903672F1E4}">
      <dgm:prSet phldrT="[Text]"/>
      <dgm:spPr/>
      <dgm:t>
        <a:bodyPr/>
        <a:lstStyle/>
        <a:p>
          <a:r>
            <a:rPr lang="en-US" dirty="0"/>
            <a:t>As soon as you realizes that they are unable to resolve a complaint within the given timeframe, contact the customer, and inform advising him/ her of the delay and set a new timeline</a:t>
          </a:r>
        </a:p>
      </dgm:t>
    </dgm:pt>
    <dgm:pt modelId="{86D0A415-967A-4223-8F1C-7E66C511DD7E}" type="parTrans" cxnId="{CFC66E44-E719-416F-A10C-ADD9A964B13E}">
      <dgm:prSet/>
      <dgm:spPr/>
      <dgm:t>
        <a:bodyPr/>
        <a:lstStyle/>
        <a:p>
          <a:endParaRPr lang="en-US"/>
        </a:p>
      </dgm:t>
    </dgm:pt>
    <dgm:pt modelId="{337FFAEF-1BC1-4394-894F-FBF7499B24C5}" type="sibTrans" cxnId="{CFC66E44-E719-416F-A10C-ADD9A964B13E}">
      <dgm:prSet/>
      <dgm:spPr/>
      <dgm:t>
        <a:bodyPr/>
        <a:lstStyle/>
        <a:p>
          <a:endParaRPr lang="en-US"/>
        </a:p>
      </dgm:t>
    </dgm:pt>
    <dgm:pt modelId="{4A6A4613-0193-4E61-81B3-507E4DF5DCCA}">
      <dgm:prSet phldrT="[Text]"/>
      <dgm:spPr/>
      <dgm:t>
        <a:bodyPr/>
        <a:lstStyle/>
        <a:p>
          <a:r>
            <a:rPr lang="en-US" b="1" dirty="0"/>
            <a:t>Make staff aware of complaint handling procedures</a:t>
          </a:r>
          <a:endParaRPr lang="en-US" dirty="0"/>
        </a:p>
      </dgm:t>
    </dgm:pt>
    <dgm:pt modelId="{F67338BD-11F7-4F12-94BE-DE6C3F375899}" type="parTrans" cxnId="{D042C05D-75EA-47DE-A778-4E45DE530481}">
      <dgm:prSet/>
      <dgm:spPr/>
      <dgm:t>
        <a:bodyPr/>
        <a:lstStyle/>
        <a:p>
          <a:endParaRPr lang="en-US"/>
        </a:p>
      </dgm:t>
    </dgm:pt>
    <dgm:pt modelId="{6FD2EBE4-53F6-4025-91F5-0083696AFF14}" type="sibTrans" cxnId="{D042C05D-75EA-47DE-A778-4E45DE530481}">
      <dgm:prSet/>
      <dgm:spPr/>
      <dgm:t>
        <a:bodyPr/>
        <a:lstStyle/>
        <a:p>
          <a:endParaRPr lang="en-US"/>
        </a:p>
      </dgm:t>
    </dgm:pt>
    <dgm:pt modelId="{6E19DE27-2D0D-44A5-A0AB-FE3186E069FB}">
      <dgm:prSet phldrT="[Text]"/>
      <dgm:spPr/>
      <dgm:t>
        <a:bodyPr/>
        <a:lstStyle/>
        <a:p>
          <a:r>
            <a:rPr lang="en-US" dirty="0"/>
            <a:t>The complaint handling procedures should be known to all employees and be part of regular training</a:t>
          </a:r>
        </a:p>
      </dgm:t>
    </dgm:pt>
    <dgm:pt modelId="{70918464-1ADC-4CCE-91DC-2DFD83EE4AEB}" type="parTrans" cxnId="{E5A8FF7F-24EF-4C4D-AF15-13FE10F909E0}">
      <dgm:prSet/>
      <dgm:spPr/>
      <dgm:t>
        <a:bodyPr/>
        <a:lstStyle/>
        <a:p>
          <a:endParaRPr lang="en-US"/>
        </a:p>
      </dgm:t>
    </dgm:pt>
    <dgm:pt modelId="{45037856-8DB9-4E70-A68A-E7B46A1F9989}" type="sibTrans" cxnId="{E5A8FF7F-24EF-4C4D-AF15-13FE10F909E0}">
      <dgm:prSet/>
      <dgm:spPr/>
      <dgm:t>
        <a:bodyPr/>
        <a:lstStyle/>
        <a:p>
          <a:endParaRPr lang="en-US"/>
        </a:p>
      </dgm:t>
    </dgm:pt>
    <dgm:pt modelId="{ABA77A70-1E62-4957-B853-919BAF394A97}">
      <dgm:prSet/>
      <dgm:spPr/>
      <dgm:t>
        <a:bodyPr/>
        <a:lstStyle/>
        <a:p>
          <a:r>
            <a:rPr lang="en-US" b="1" dirty="0"/>
            <a:t>Inform Customers Of Complaint Handling Procedures</a:t>
          </a:r>
          <a:endParaRPr lang="en-US" dirty="0"/>
        </a:p>
      </dgm:t>
    </dgm:pt>
    <dgm:pt modelId="{32248C3F-C3E2-432D-9731-72922F9A33FA}" type="parTrans" cxnId="{E2E00E5D-FF6D-459E-AD1B-84420479DBAF}">
      <dgm:prSet/>
      <dgm:spPr/>
      <dgm:t>
        <a:bodyPr/>
        <a:lstStyle/>
        <a:p>
          <a:endParaRPr lang="en-US"/>
        </a:p>
      </dgm:t>
    </dgm:pt>
    <dgm:pt modelId="{55A0D081-487D-4B49-88D9-2EF88DD00E1F}" type="sibTrans" cxnId="{E2E00E5D-FF6D-459E-AD1B-84420479DBAF}">
      <dgm:prSet/>
      <dgm:spPr/>
      <dgm:t>
        <a:bodyPr/>
        <a:lstStyle/>
        <a:p>
          <a:endParaRPr lang="en-US"/>
        </a:p>
      </dgm:t>
    </dgm:pt>
    <dgm:pt modelId="{97F18D92-732B-43D8-873C-BD35C821B09C}">
      <dgm:prSet/>
      <dgm:spPr/>
      <dgm:t>
        <a:bodyPr/>
        <a:lstStyle/>
        <a:p>
          <a:r>
            <a:rPr lang="en-US" dirty="0"/>
            <a:t>Posting your complaint handling procedures on your office premises is a good way to inform customers. Also these procedures may be incorporated in the </a:t>
          </a:r>
          <a:r>
            <a:rPr lang="en-US" dirty="0" err="1"/>
            <a:t>organisation’s</a:t>
          </a:r>
          <a:r>
            <a:rPr lang="en-US" dirty="0"/>
            <a:t> brochure </a:t>
          </a:r>
        </a:p>
      </dgm:t>
    </dgm:pt>
    <dgm:pt modelId="{999B473A-A7A4-4401-BC8B-0212747BDE37}" type="parTrans" cxnId="{D1E6E57E-87DD-4BC0-B3F4-8D2E3AFD8E40}">
      <dgm:prSet/>
      <dgm:spPr/>
      <dgm:t>
        <a:bodyPr/>
        <a:lstStyle/>
        <a:p>
          <a:endParaRPr lang="en-US"/>
        </a:p>
      </dgm:t>
    </dgm:pt>
    <dgm:pt modelId="{5AC5AD33-7F3D-4B1A-9E2E-A0DE2A1036CB}" type="sibTrans" cxnId="{D1E6E57E-87DD-4BC0-B3F4-8D2E3AFD8E40}">
      <dgm:prSet/>
      <dgm:spPr/>
      <dgm:t>
        <a:bodyPr/>
        <a:lstStyle/>
        <a:p>
          <a:endParaRPr lang="en-US"/>
        </a:p>
      </dgm:t>
    </dgm:pt>
    <dgm:pt modelId="{8D31F4BE-805C-44B6-81F4-325F072DFD2B}" type="pres">
      <dgm:prSet presAssocID="{C32F7875-1B5C-4027-95A0-3A4A439AEDDF}" presName="vert0" presStyleCnt="0">
        <dgm:presLayoutVars>
          <dgm:dir/>
          <dgm:animOne val="branch"/>
          <dgm:animLvl val="lvl"/>
        </dgm:presLayoutVars>
      </dgm:prSet>
      <dgm:spPr/>
    </dgm:pt>
    <dgm:pt modelId="{E00FCDF2-72CA-4221-9E54-8920A0B7479C}" type="pres">
      <dgm:prSet presAssocID="{DBF15DD2-242F-4077-AFF6-D172921B4FE5}" presName="thickLine" presStyleLbl="alignNode1" presStyleIdx="0" presStyleCnt="3"/>
      <dgm:spPr/>
    </dgm:pt>
    <dgm:pt modelId="{9269B94B-F9F5-44EA-BF20-734A7BEAAD35}" type="pres">
      <dgm:prSet presAssocID="{DBF15DD2-242F-4077-AFF6-D172921B4FE5}" presName="horz1" presStyleCnt="0"/>
      <dgm:spPr/>
    </dgm:pt>
    <dgm:pt modelId="{6E9AD796-9F01-4025-A936-7B2A2613A4F8}" type="pres">
      <dgm:prSet presAssocID="{DBF15DD2-242F-4077-AFF6-D172921B4FE5}" presName="tx1" presStyleLbl="revTx" presStyleIdx="0" presStyleCnt="6"/>
      <dgm:spPr/>
    </dgm:pt>
    <dgm:pt modelId="{EBA35A70-3795-4FBF-A9CF-28DE50A1C335}" type="pres">
      <dgm:prSet presAssocID="{DBF15DD2-242F-4077-AFF6-D172921B4FE5}" presName="vert1" presStyleCnt="0"/>
      <dgm:spPr/>
    </dgm:pt>
    <dgm:pt modelId="{25A2331C-E55A-4482-9543-F8BDBBE53D16}" type="pres">
      <dgm:prSet presAssocID="{20B0D62D-EA88-4235-A331-BD903672F1E4}" presName="vertSpace2a" presStyleCnt="0"/>
      <dgm:spPr/>
    </dgm:pt>
    <dgm:pt modelId="{4D70015E-B7F4-4ECE-A95E-56DA970E2034}" type="pres">
      <dgm:prSet presAssocID="{20B0D62D-EA88-4235-A331-BD903672F1E4}" presName="horz2" presStyleCnt="0"/>
      <dgm:spPr/>
    </dgm:pt>
    <dgm:pt modelId="{3F2AB186-297C-4085-B841-104B252EB7BA}" type="pres">
      <dgm:prSet presAssocID="{20B0D62D-EA88-4235-A331-BD903672F1E4}" presName="horzSpace2" presStyleCnt="0"/>
      <dgm:spPr/>
    </dgm:pt>
    <dgm:pt modelId="{D038C80C-3844-426F-91EE-CAAAA0A7F32A}" type="pres">
      <dgm:prSet presAssocID="{20B0D62D-EA88-4235-A331-BD903672F1E4}" presName="tx2" presStyleLbl="revTx" presStyleIdx="1" presStyleCnt="6" custScaleX="102457"/>
      <dgm:spPr/>
    </dgm:pt>
    <dgm:pt modelId="{E493881F-2138-43F2-9C7B-B6407266A465}" type="pres">
      <dgm:prSet presAssocID="{20B0D62D-EA88-4235-A331-BD903672F1E4}" presName="vert2" presStyleCnt="0"/>
      <dgm:spPr/>
    </dgm:pt>
    <dgm:pt modelId="{11F3BAFD-5FC0-4F86-9526-B1813D701881}" type="pres">
      <dgm:prSet presAssocID="{20B0D62D-EA88-4235-A331-BD903672F1E4}" presName="thinLine2b" presStyleLbl="callout" presStyleIdx="0" presStyleCnt="3"/>
      <dgm:spPr/>
    </dgm:pt>
    <dgm:pt modelId="{D2BE8445-5E9D-4D72-A08F-727ABDF304AE}" type="pres">
      <dgm:prSet presAssocID="{20B0D62D-EA88-4235-A331-BD903672F1E4}" presName="vertSpace2b" presStyleCnt="0"/>
      <dgm:spPr/>
    </dgm:pt>
    <dgm:pt modelId="{2F4F663B-8AEB-4848-812F-DD3D27FF7451}" type="pres">
      <dgm:prSet presAssocID="{4A6A4613-0193-4E61-81B3-507E4DF5DCCA}" presName="thickLine" presStyleLbl="alignNode1" presStyleIdx="1" presStyleCnt="3"/>
      <dgm:spPr/>
    </dgm:pt>
    <dgm:pt modelId="{6DA587A6-13B7-4FE6-BF87-1C6FFEE4F971}" type="pres">
      <dgm:prSet presAssocID="{4A6A4613-0193-4E61-81B3-507E4DF5DCCA}" presName="horz1" presStyleCnt="0"/>
      <dgm:spPr/>
    </dgm:pt>
    <dgm:pt modelId="{06CDECF4-3B76-4187-A3F3-D553565C26DB}" type="pres">
      <dgm:prSet presAssocID="{4A6A4613-0193-4E61-81B3-507E4DF5DCCA}" presName="tx1" presStyleLbl="revTx" presStyleIdx="2" presStyleCnt="6"/>
      <dgm:spPr/>
    </dgm:pt>
    <dgm:pt modelId="{A6ECCB32-A5F7-40C5-8813-7834A203B9A4}" type="pres">
      <dgm:prSet presAssocID="{4A6A4613-0193-4E61-81B3-507E4DF5DCCA}" presName="vert1" presStyleCnt="0"/>
      <dgm:spPr/>
    </dgm:pt>
    <dgm:pt modelId="{872ECB94-BA3C-43FB-8C47-9EE2AFE7D3EC}" type="pres">
      <dgm:prSet presAssocID="{6E19DE27-2D0D-44A5-A0AB-FE3186E069FB}" presName="vertSpace2a" presStyleCnt="0"/>
      <dgm:spPr/>
    </dgm:pt>
    <dgm:pt modelId="{8FB3E7DA-CAB9-490C-89CF-FEFE8CB9C49A}" type="pres">
      <dgm:prSet presAssocID="{6E19DE27-2D0D-44A5-A0AB-FE3186E069FB}" presName="horz2" presStyleCnt="0"/>
      <dgm:spPr/>
    </dgm:pt>
    <dgm:pt modelId="{9B246AFE-7336-4E72-8551-62BAA850F5AA}" type="pres">
      <dgm:prSet presAssocID="{6E19DE27-2D0D-44A5-A0AB-FE3186E069FB}" presName="horzSpace2" presStyleCnt="0"/>
      <dgm:spPr/>
    </dgm:pt>
    <dgm:pt modelId="{DDAE5AD6-B05D-4B7D-9D75-F3DC64059CEA}" type="pres">
      <dgm:prSet presAssocID="{6E19DE27-2D0D-44A5-A0AB-FE3186E069FB}" presName="tx2" presStyleLbl="revTx" presStyleIdx="3" presStyleCnt="6"/>
      <dgm:spPr/>
    </dgm:pt>
    <dgm:pt modelId="{8F3CABAF-3758-44C9-91C7-3A54BFDDF9CE}" type="pres">
      <dgm:prSet presAssocID="{6E19DE27-2D0D-44A5-A0AB-FE3186E069FB}" presName="vert2" presStyleCnt="0"/>
      <dgm:spPr/>
    </dgm:pt>
    <dgm:pt modelId="{C17327D0-9977-41F7-BA14-A98E293C0CE3}" type="pres">
      <dgm:prSet presAssocID="{6E19DE27-2D0D-44A5-A0AB-FE3186E069FB}" presName="thinLine2b" presStyleLbl="callout" presStyleIdx="1" presStyleCnt="3"/>
      <dgm:spPr/>
    </dgm:pt>
    <dgm:pt modelId="{E37E75CA-ED94-4D55-8574-7CEB37252494}" type="pres">
      <dgm:prSet presAssocID="{6E19DE27-2D0D-44A5-A0AB-FE3186E069FB}" presName="vertSpace2b" presStyleCnt="0"/>
      <dgm:spPr/>
    </dgm:pt>
    <dgm:pt modelId="{705599DD-1A10-4AF3-8DE9-D7AEF69E94A7}" type="pres">
      <dgm:prSet presAssocID="{ABA77A70-1E62-4957-B853-919BAF394A97}" presName="thickLine" presStyleLbl="alignNode1" presStyleIdx="2" presStyleCnt="3"/>
      <dgm:spPr/>
    </dgm:pt>
    <dgm:pt modelId="{3ECDA793-B7F0-4AAF-8C19-DE19810D38F6}" type="pres">
      <dgm:prSet presAssocID="{ABA77A70-1E62-4957-B853-919BAF394A97}" presName="horz1" presStyleCnt="0"/>
      <dgm:spPr/>
    </dgm:pt>
    <dgm:pt modelId="{27F2775C-919C-4676-B3EE-92DB6DF51C81}" type="pres">
      <dgm:prSet presAssocID="{ABA77A70-1E62-4957-B853-919BAF394A97}" presName="tx1" presStyleLbl="revTx" presStyleIdx="4" presStyleCnt="6"/>
      <dgm:spPr/>
    </dgm:pt>
    <dgm:pt modelId="{F6FD63C8-220A-4353-AC1A-26B9661AAD89}" type="pres">
      <dgm:prSet presAssocID="{ABA77A70-1E62-4957-B853-919BAF394A97}" presName="vert1" presStyleCnt="0"/>
      <dgm:spPr/>
    </dgm:pt>
    <dgm:pt modelId="{3307415A-37F2-4166-8EF0-455DACDA9FB9}" type="pres">
      <dgm:prSet presAssocID="{97F18D92-732B-43D8-873C-BD35C821B09C}" presName="vertSpace2a" presStyleCnt="0"/>
      <dgm:spPr/>
    </dgm:pt>
    <dgm:pt modelId="{196D4EFF-2013-4B93-B38A-C36150942880}" type="pres">
      <dgm:prSet presAssocID="{97F18D92-732B-43D8-873C-BD35C821B09C}" presName="horz2" presStyleCnt="0"/>
      <dgm:spPr/>
    </dgm:pt>
    <dgm:pt modelId="{145FD14E-3FDE-4CFE-87B9-5EAB60250CD6}" type="pres">
      <dgm:prSet presAssocID="{97F18D92-732B-43D8-873C-BD35C821B09C}" presName="horzSpace2" presStyleCnt="0"/>
      <dgm:spPr/>
    </dgm:pt>
    <dgm:pt modelId="{04480DDC-1C44-4BDA-8574-A1367E0C8DF1}" type="pres">
      <dgm:prSet presAssocID="{97F18D92-732B-43D8-873C-BD35C821B09C}" presName="tx2" presStyleLbl="revTx" presStyleIdx="5" presStyleCnt="6"/>
      <dgm:spPr/>
    </dgm:pt>
    <dgm:pt modelId="{C52779E9-1FB4-490B-BE1C-E399305C4355}" type="pres">
      <dgm:prSet presAssocID="{97F18D92-732B-43D8-873C-BD35C821B09C}" presName="vert2" presStyleCnt="0"/>
      <dgm:spPr/>
    </dgm:pt>
    <dgm:pt modelId="{2BC4E496-408F-4FF9-8713-A97942B5B3FA}" type="pres">
      <dgm:prSet presAssocID="{97F18D92-732B-43D8-873C-BD35C821B09C}" presName="thinLine2b" presStyleLbl="callout" presStyleIdx="2" presStyleCnt="3"/>
      <dgm:spPr/>
    </dgm:pt>
    <dgm:pt modelId="{74FD31FD-8184-42D1-8D87-196530E6D978}" type="pres">
      <dgm:prSet presAssocID="{97F18D92-732B-43D8-873C-BD35C821B09C}" presName="vertSpace2b" presStyleCnt="0"/>
      <dgm:spPr/>
    </dgm:pt>
  </dgm:ptLst>
  <dgm:cxnLst>
    <dgm:cxn modelId="{F3399927-750B-46C4-B4DB-79CA1D867371}" type="presOf" srcId="{DBF15DD2-242F-4077-AFF6-D172921B4FE5}" destId="{6E9AD796-9F01-4025-A936-7B2A2613A4F8}" srcOrd="0" destOrd="0" presId="urn:microsoft.com/office/officeart/2008/layout/LinedList"/>
    <dgm:cxn modelId="{E2E00E5D-FF6D-459E-AD1B-84420479DBAF}" srcId="{C32F7875-1B5C-4027-95A0-3A4A439AEDDF}" destId="{ABA77A70-1E62-4957-B853-919BAF394A97}" srcOrd="2" destOrd="0" parTransId="{32248C3F-C3E2-432D-9731-72922F9A33FA}" sibTransId="{55A0D081-487D-4B49-88D9-2EF88DD00E1F}"/>
    <dgm:cxn modelId="{D042C05D-75EA-47DE-A778-4E45DE530481}" srcId="{C32F7875-1B5C-4027-95A0-3A4A439AEDDF}" destId="{4A6A4613-0193-4E61-81B3-507E4DF5DCCA}" srcOrd="1" destOrd="0" parTransId="{F67338BD-11F7-4F12-94BE-DE6C3F375899}" sibTransId="{6FD2EBE4-53F6-4025-91F5-0083696AFF14}"/>
    <dgm:cxn modelId="{CFC66E44-E719-416F-A10C-ADD9A964B13E}" srcId="{DBF15DD2-242F-4077-AFF6-D172921B4FE5}" destId="{20B0D62D-EA88-4235-A331-BD903672F1E4}" srcOrd="0" destOrd="0" parTransId="{86D0A415-967A-4223-8F1C-7E66C511DD7E}" sibTransId="{337FFAEF-1BC1-4394-894F-FBF7499B24C5}"/>
    <dgm:cxn modelId="{BEFB5252-3CE7-426A-B931-ADEE9ED395B4}" type="presOf" srcId="{97F18D92-732B-43D8-873C-BD35C821B09C}" destId="{04480DDC-1C44-4BDA-8574-A1367E0C8DF1}" srcOrd="0" destOrd="0" presId="urn:microsoft.com/office/officeart/2008/layout/LinedList"/>
    <dgm:cxn modelId="{C8284978-5086-4B92-B24A-EDE230C16AC8}" type="presOf" srcId="{C32F7875-1B5C-4027-95A0-3A4A439AEDDF}" destId="{8D31F4BE-805C-44B6-81F4-325F072DFD2B}" srcOrd="0" destOrd="0" presId="urn:microsoft.com/office/officeart/2008/layout/LinedList"/>
    <dgm:cxn modelId="{F2D3297C-68E1-4CB8-A294-24FD6D422C19}" type="presOf" srcId="{6E19DE27-2D0D-44A5-A0AB-FE3186E069FB}" destId="{DDAE5AD6-B05D-4B7D-9D75-F3DC64059CEA}" srcOrd="0" destOrd="0" presId="urn:microsoft.com/office/officeart/2008/layout/LinedList"/>
    <dgm:cxn modelId="{D1E6E57E-87DD-4BC0-B3F4-8D2E3AFD8E40}" srcId="{ABA77A70-1E62-4957-B853-919BAF394A97}" destId="{97F18D92-732B-43D8-873C-BD35C821B09C}" srcOrd="0" destOrd="0" parTransId="{999B473A-A7A4-4401-BC8B-0212747BDE37}" sibTransId="{5AC5AD33-7F3D-4B1A-9E2E-A0DE2A1036CB}"/>
    <dgm:cxn modelId="{E5A8FF7F-24EF-4C4D-AF15-13FE10F909E0}" srcId="{4A6A4613-0193-4E61-81B3-507E4DF5DCCA}" destId="{6E19DE27-2D0D-44A5-A0AB-FE3186E069FB}" srcOrd="0" destOrd="0" parTransId="{70918464-1ADC-4CCE-91DC-2DFD83EE4AEB}" sibTransId="{45037856-8DB9-4E70-A68A-E7B46A1F9989}"/>
    <dgm:cxn modelId="{6A60BE98-15AE-49BD-9933-1E91C419D71A}" type="presOf" srcId="{4A6A4613-0193-4E61-81B3-507E4DF5DCCA}" destId="{06CDECF4-3B76-4187-A3F3-D553565C26DB}" srcOrd="0" destOrd="0" presId="urn:microsoft.com/office/officeart/2008/layout/LinedList"/>
    <dgm:cxn modelId="{3479CFB5-259E-4AD2-990F-5375E0F49958}" type="presOf" srcId="{ABA77A70-1E62-4957-B853-919BAF394A97}" destId="{27F2775C-919C-4676-B3EE-92DB6DF51C81}" srcOrd="0" destOrd="0" presId="urn:microsoft.com/office/officeart/2008/layout/LinedList"/>
    <dgm:cxn modelId="{1A2BEABE-E0AE-402A-8DAD-C46B46038EDB}" srcId="{C32F7875-1B5C-4027-95A0-3A4A439AEDDF}" destId="{DBF15DD2-242F-4077-AFF6-D172921B4FE5}" srcOrd="0" destOrd="0" parTransId="{CD626E94-F55D-4F78-A162-98398D625E62}" sibTransId="{81025106-FAE0-42DB-A7DD-BF763843529B}"/>
    <dgm:cxn modelId="{8025A2C0-EAD2-476B-9EC2-95A3DDC54EDC}" type="presOf" srcId="{20B0D62D-EA88-4235-A331-BD903672F1E4}" destId="{D038C80C-3844-426F-91EE-CAAAA0A7F32A}" srcOrd="0" destOrd="0" presId="urn:microsoft.com/office/officeart/2008/layout/LinedList"/>
    <dgm:cxn modelId="{F03EE9A2-11A1-43C2-8F99-B76D428035A6}" type="presParOf" srcId="{8D31F4BE-805C-44B6-81F4-325F072DFD2B}" destId="{E00FCDF2-72CA-4221-9E54-8920A0B7479C}" srcOrd="0" destOrd="0" presId="urn:microsoft.com/office/officeart/2008/layout/LinedList"/>
    <dgm:cxn modelId="{8007F8A0-3207-4D0A-9E78-3B8C765AD4F2}" type="presParOf" srcId="{8D31F4BE-805C-44B6-81F4-325F072DFD2B}" destId="{9269B94B-F9F5-44EA-BF20-734A7BEAAD35}" srcOrd="1" destOrd="0" presId="urn:microsoft.com/office/officeart/2008/layout/LinedList"/>
    <dgm:cxn modelId="{C238052F-2733-411A-A906-74FA925F7816}" type="presParOf" srcId="{9269B94B-F9F5-44EA-BF20-734A7BEAAD35}" destId="{6E9AD796-9F01-4025-A936-7B2A2613A4F8}" srcOrd="0" destOrd="0" presId="urn:microsoft.com/office/officeart/2008/layout/LinedList"/>
    <dgm:cxn modelId="{EBD0FF8B-FA01-46CD-A679-F35C36F1F432}" type="presParOf" srcId="{9269B94B-F9F5-44EA-BF20-734A7BEAAD35}" destId="{EBA35A70-3795-4FBF-A9CF-28DE50A1C335}" srcOrd="1" destOrd="0" presId="urn:microsoft.com/office/officeart/2008/layout/LinedList"/>
    <dgm:cxn modelId="{D1295414-14E2-4D92-907A-9FEF9D28E11E}" type="presParOf" srcId="{EBA35A70-3795-4FBF-A9CF-28DE50A1C335}" destId="{25A2331C-E55A-4482-9543-F8BDBBE53D16}" srcOrd="0" destOrd="0" presId="urn:microsoft.com/office/officeart/2008/layout/LinedList"/>
    <dgm:cxn modelId="{49CD3D2E-E49D-47A2-A20F-C825557BC745}" type="presParOf" srcId="{EBA35A70-3795-4FBF-A9CF-28DE50A1C335}" destId="{4D70015E-B7F4-4ECE-A95E-56DA970E2034}" srcOrd="1" destOrd="0" presId="urn:microsoft.com/office/officeart/2008/layout/LinedList"/>
    <dgm:cxn modelId="{A2F4F3A9-4285-41F4-9D5A-681EFF67C263}" type="presParOf" srcId="{4D70015E-B7F4-4ECE-A95E-56DA970E2034}" destId="{3F2AB186-297C-4085-B841-104B252EB7BA}" srcOrd="0" destOrd="0" presId="urn:microsoft.com/office/officeart/2008/layout/LinedList"/>
    <dgm:cxn modelId="{6636B5F3-674B-4E1C-8D6B-970AFDCD2AD4}" type="presParOf" srcId="{4D70015E-B7F4-4ECE-A95E-56DA970E2034}" destId="{D038C80C-3844-426F-91EE-CAAAA0A7F32A}" srcOrd="1" destOrd="0" presId="urn:microsoft.com/office/officeart/2008/layout/LinedList"/>
    <dgm:cxn modelId="{B7C758A2-8E40-46BC-802D-E76E92447D5B}" type="presParOf" srcId="{4D70015E-B7F4-4ECE-A95E-56DA970E2034}" destId="{E493881F-2138-43F2-9C7B-B6407266A465}" srcOrd="2" destOrd="0" presId="urn:microsoft.com/office/officeart/2008/layout/LinedList"/>
    <dgm:cxn modelId="{A05C8318-9F17-49ED-BFD5-48B5E307CEB1}" type="presParOf" srcId="{EBA35A70-3795-4FBF-A9CF-28DE50A1C335}" destId="{11F3BAFD-5FC0-4F86-9526-B1813D701881}" srcOrd="2" destOrd="0" presId="urn:microsoft.com/office/officeart/2008/layout/LinedList"/>
    <dgm:cxn modelId="{789A72AF-57D2-460F-AE94-53964D9E4BC3}" type="presParOf" srcId="{EBA35A70-3795-4FBF-A9CF-28DE50A1C335}" destId="{D2BE8445-5E9D-4D72-A08F-727ABDF304AE}" srcOrd="3" destOrd="0" presId="urn:microsoft.com/office/officeart/2008/layout/LinedList"/>
    <dgm:cxn modelId="{0A66BDA8-DB78-4C67-84E7-9761ECB82468}" type="presParOf" srcId="{8D31F4BE-805C-44B6-81F4-325F072DFD2B}" destId="{2F4F663B-8AEB-4848-812F-DD3D27FF7451}" srcOrd="2" destOrd="0" presId="urn:microsoft.com/office/officeart/2008/layout/LinedList"/>
    <dgm:cxn modelId="{30A46FA2-BD29-4556-A8F8-D4F309889028}" type="presParOf" srcId="{8D31F4BE-805C-44B6-81F4-325F072DFD2B}" destId="{6DA587A6-13B7-4FE6-BF87-1C6FFEE4F971}" srcOrd="3" destOrd="0" presId="urn:microsoft.com/office/officeart/2008/layout/LinedList"/>
    <dgm:cxn modelId="{3F05CE12-B193-45F6-AAE6-C1793D0570EF}" type="presParOf" srcId="{6DA587A6-13B7-4FE6-BF87-1C6FFEE4F971}" destId="{06CDECF4-3B76-4187-A3F3-D553565C26DB}" srcOrd="0" destOrd="0" presId="urn:microsoft.com/office/officeart/2008/layout/LinedList"/>
    <dgm:cxn modelId="{8E7270B2-B6E4-4314-9BF3-2FDB4EBC8E9D}" type="presParOf" srcId="{6DA587A6-13B7-4FE6-BF87-1C6FFEE4F971}" destId="{A6ECCB32-A5F7-40C5-8813-7834A203B9A4}" srcOrd="1" destOrd="0" presId="urn:microsoft.com/office/officeart/2008/layout/LinedList"/>
    <dgm:cxn modelId="{1F672A46-5FDE-49AE-8276-5C52402A06FE}" type="presParOf" srcId="{A6ECCB32-A5F7-40C5-8813-7834A203B9A4}" destId="{872ECB94-BA3C-43FB-8C47-9EE2AFE7D3EC}" srcOrd="0" destOrd="0" presId="urn:microsoft.com/office/officeart/2008/layout/LinedList"/>
    <dgm:cxn modelId="{120294E0-8507-40B8-B19E-90EBE89DD048}" type="presParOf" srcId="{A6ECCB32-A5F7-40C5-8813-7834A203B9A4}" destId="{8FB3E7DA-CAB9-490C-89CF-FEFE8CB9C49A}" srcOrd="1" destOrd="0" presId="urn:microsoft.com/office/officeart/2008/layout/LinedList"/>
    <dgm:cxn modelId="{69912548-1C68-4FBB-A77E-99D74F800191}" type="presParOf" srcId="{8FB3E7DA-CAB9-490C-89CF-FEFE8CB9C49A}" destId="{9B246AFE-7336-4E72-8551-62BAA850F5AA}" srcOrd="0" destOrd="0" presId="urn:microsoft.com/office/officeart/2008/layout/LinedList"/>
    <dgm:cxn modelId="{379D0CC6-4E8C-43E6-AB44-846498CBAE42}" type="presParOf" srcId="{8FB3E7DA-CAB9-490C-89CF-FEFE8CB9C49A}" destId="{DDAE5AD6-B05D-4B7D-9D75-F3DC64059CEA}" srcOrd="1" destOrd="0" presId="urn:microsoft.com/office/officeart/2008/layout/LinedList"/>
    <dgm:cxn modelId="{2A71BFF6-B79D-498F-8C37-1E64CBE7B297}" type="presParOf" srcId="{8FB3E7DA-CAB9-490C-89CF-FEFE8CB9C49A}" destId="{8F3CABAF-3758-44C9-91C7-3A54BFDDF9CE}" srcOrd="2" destOrd="0" presId="urn:microsoft.com/office/officeart/2008/layout/LinedList"/>
    <dgm:cxn modelId="{06CFAFB9-5281-4E74-8FFF-F042A8D23D44}" type="presParOf" srcId="{A6ECCB32-A5F7-40C5-8813-7834A203B9A4}" destId="{C17327D0-9977-41F7-BA14-A98E293C0CE3}" srcOrd="2" destOrd="0" presId="urn:microsoft.com/office/officeart/2008/layout/LinedList"/>
    <dgm:cxn modelId="{CC743F20-1528-47A2-AC59-E520086E8840}" type="presParOf" srcId="{A6ECCB32-A5F7-40C5-8813-7834A203B9A4}" destId="{E37E75CA-ED94-4D55-8574-7CEB37252494}" srcOrd="3" destOrd="0" presId="urn:microsoft.com/office/officeart/2008/layout/LinedList"/>
    <dgm:cxn modelId="{7B6AE8BF-FB3A-4713-822A-68DAB98CA67F}" type="presParOf" srcId="{8D31F4BE-805C-44B6-81F4-325F072DFD2B}" destId="{705599DD-1A10-4AF3-8DE9-D7AEF69E94A7}" srcOrd="4" destOrd="0" presId="urn:microsoft.com/office/officeart/2008/layout/LinedList"/>
    <dgm:cxn modelId="{B44A36CA-BFA4-45C4-99F4-C63455C4F930}" type="presParOf" srcId="{8D31F4BE-805C-44B6-81F4-325F072DFD2B}" destId="{3ECDA793-B7F0-4AAF-8C19-DE19810D38F6}" srcOrd="5" destOrd="0" presId="urn:microsoft.com/office/officeart/2008/layout/LinedList"/>
    <dgm:cxn modelId="{8BD73FDF-9778-402C-A97A-D5141A1C3D9C}" type="presParOf" srcId="{3ECDA793-B7F0-4AAF-8C19-DE19810D38F6}" destId="{27F2775C-919C-4676-B3EE-92DB6DF51C81}" srcOrd="0" destOrd="0" presId="urn:microsoft.com/office/officeart/2008/layout/LinedList"/>
    <dgm:cxn modelId="{FEE39BEB-F7DD-4799-B41B-7736E1A0536D}" type="presParOf" srcId="{3ECDA793-B7F0-4AAF-8C19-DE19810D38F6}" destId="{F6FD63C8-220A-4353-AC1A-26B9661AAD89}" srcOrd="1" destOrd="0" presId="urn:microsoft.com/office/officeart/2008/layout/LinedList"/>
    <dgm:cxn modelId="{14F49925-6350-47AF-A99F-7FEF76A5FFAC}" type="presParOf" srcId="{F6FD63C8-220A-4353-AC1A-26B9661AAD89}" destId="{3307415A-37F2-4166-8EF0-455DACDA9FB9}" srcOrd="0" destOrd="0" presId="urn:microsoft.com/office/officeart/2008/layout/LinedList"/>
    <dgm:cxn modelId="{C51F0EC4-76A3-4D6D-93B5-4F0E127A4475}" type="presParOf" srcId="{F6FD63C8-220A-4353-AC1A-26B9661AAD89}" destId="{196D4EFF-2013-4B93-B38A-C36150942880}" srcOrd="1" destOrd="0" presId="urn:microsoft.com/office/officeart/2008/layout/LinedList"/>
    <dgm:cxn modelId="{43FD911A-1436-4A25-808A-C0EDC69A98CF}" type="presParOf" srcId="{196D4EFF-2013-4B93-B38A-C36150942880}" destId="{145FD14E-3FDE-4CFE-87B9-5EAB60250CD6}" srcOrd="0" destOrd="0" presId="urn:microsoft.com/office/officeart/2008/layout/LinedList"/>
    <dgm:cxn modelId="{D2A84AE0-9540-4580-ACA7-9DC4F35565FA}" type="presParOf" srcId="{196D4EFF-2013-4B93-B38A-C36150942880}" destId="{04480DDC-1C44-4BDA-8574-A1367E0C8DF1}" srcOrd="1" destOrd="0" presId="urn:microsoft.com/office/officeart/2008/layout/LinedList"/>
    <dgm:cxn modelId="{BBAFF6A0-DE70-4C5A-B978-70E6B0CF88AC}" type="presParOf" srcId="{196D4EFF-2013-4B93-B38A-C36150942880}" destId="{C52779E9-1FB4-490B-BE1C-E399305C4355}" srcOrd="2" destOrd="0" presId="urn:microsoft.com/office/officeart/2008/layout/LinedList"/>
    <dgm:cxn modelId="{1A4E4BC4-212D-4006-8A0B-4E9BE9E9D596}" type="presParOf" srcId="{F6FD63C8-220A-4353-AC1A-26B9661AAD89}" destId="{2BC4E496-408F-4FF9-8713-A97942B5B3FA}" srcOrd="2" destOrd="0" presId="urn:microsoft.com/office/officeart/2008/layout/LinedList"/>
    <dgm:cxn modelId="{1D1F34EC-580D-460E-A167-B6634B756150}" type="presParOf" srcId="{F6FD63C8-220A-4353-AC1A-26B9661AAD89}" destId="{74FD31FD-8184-42D1-8D87-196530E6D97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4704B-CC5F-405F-BC48-122E0F655E00}">
      <dsp:nvSpPr>
        <dsp:cNvPr id="0" name=""/>
        <dsp:cNvSpPr/>
      </dsp:nvSpPr>
      <dsp:spPr>
        <a:xfrm>
          <a:off x="0" y="2046"/>
          <a:ext cx="9982200" cy="0"/>
        </a:xfrm>
        <a:prstGeom prst="line">
          <a:avLst/>
        </a:prstGeom>
        <a:gradFill rotWithShape="0">
          <a:gsLst>
            <a:gs pos="0">
              <a:schemeClr val="accent4">
                <a:hueOff val="0"/>
                <a:satOff val="0"/>
                <a:lumOff val="0"/>
                <a:alphaOff val="0"/>
                <a:tint val="96000"/>
                <a:satMod val="100000"/>
                <a:lumMod val="104000"/>
              </a:schemeClr>
            </a:gs>
            <a:gs pos="78000">
              <a:schemeClr val="accent4">
                <a:hueOff val="0"/>
                <a:satOff val="0"/>
                <a:lumOff val="0"/>
                <a:alphaOff val="0"/>
                <a:shade val="100000"/>
                <a:satMod val="110000"/>
                <a:lumMod val="100000"/>
              </a:schemeClr>
            </a:gs>
          </a:gsLst>
          <a:lin ang="5400000" scaled="0"/>
        </a:gradFill>
        <a:ln w="9525" cap="flat" cmpd="sng" algn="ctr">
          <a:solidFill>
            <a:schemeClr val="accent4">
              <a:hueOff val="0"/>
              <a:satOff val="0"/>
              <a:lumOff val="0"/>
              <a:alphaOff val="0"/>
            </a:schemeClr>
          </a:solidFill>
          <a:prstDash val="solid"/>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D42B88E-5FB4-401E-AC55-6EA3235C3E18}">
      <dsp:nvSpPr>
        <dsp:cNvPr id="0" name=""/>
        <dsp:cNvSpPr/>
      </dsp:nvSpPr>
      <dsp:spPr>
        <a:xfrm>
          <a:off x="0" y="2046"/>
          <a:ext cx="1996440" cy="1395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Acknowledge receipt of the complaint</a:t>
          </a:r>
          <a:endParaRPr lang="en-US" sz="1700" kern="1200" dirty="0"/>
        </a:p>
      </dsp:txBody>
      <dsp:txXfrm>
        <a:off x="0" y="2046"/>
        <a:ext cx="1996440" cy="1395635"/>
      </dsp:txXfrm>
    </dsp:sp>
    <dsp:sp modelId="{47CA7289-6A46-408D-8114-BA43F1E17F25}">
      <dsp:nvSpPr>
        <dsp:cNvPr id="0" name=""/>
        <dsp:cNvSpPr/>
      </dsp:nvSpPr>
      <dsp:spPr>
        <a:xfrm>
          <a:off x="2146172" y="65422"/>
          <a:ext cx="7836027" cy="126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It is important that you acknowledge the receipt of all complaints, verbal or written. Preferably allocate a complaint reference number and provide the customer with a contact point for further correspondence.</a:t>
          </a:r>
        </a:p>
      </dsp:txBody>
      <dsp:txXfrm>
        <a:off x="2146172" y="65422"/>
        <a:ext cx="7836027" cy="1267520"/>
      </dsp:txXfrm>
    </dsp:sp>
    <dsp:sp modelId="{6301AEAC-C0D0-412D-A053-21E72D6763C3}">
      <dsp:nvSpPr>
        <dsp:cNvPr id="0" name=""/>
        <dsp:cNvSpPr/>
      </dsp:nvSpPr>
      <dsp:spPr>
        <a:xfrm>
          <a:off x="1996439" y="1332943"/>
          <a:ext cx="7985760" cy="0"/>
        </a:xfrm>
        <a:prstGeom prst="line">
          <a:avLst/>
        </a:prstGeom>
        <a:solidFill>
          <a:schemeClr val="accent4">
            <a:hueOff val="0"/>
            <a:satOff val="0"/>
            <a:lumOff val="0"/>
            <a:alphaOff val="0"/>
          </a:schemeClr>
        </a:solidFill>
        <a:ln w="12700" cap="flat" cmpd="sng" algn="ctr">
          <a:solidFill>
            <a:schemeClr val="accent4">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8B258093-D50A-4E47-858D-D61A8F15327D}">
      <dsp:nvSpPr>
        <dsp:cNvPr id="0" name=""/>
        <dsp:cNvSpPr/>
      </dsp:nvSpPr>
      <dsp:spPr>
        <a:xfrm>
          <a:off x="0" y="1397682"/>
          <a:ext cx="9982200" cy="0"/>
        </a:xfrm>
        <a:prstGeom prst="line">
          <a:avLst/>
        </a:prstGeom>
        <a:gradFill rotWithShape="0">
          <a:gsLst>
            <a:gs pos="0">
              <a:schemeClr val="accent4">
                <a:hueOff val="-1258748"/>
                <a:satOff val="-2797"/>
                <a:lumOff val="-2059"/>
                <a:alphaOff val="0"/>
                <a:tint val="96000"/>
                <a:satMod val="100000"/>
                <a:lumMod val="104000"/>
              </a:schemeClr>
            </a:gs>
            <a:gs pos="78000">
              <a:schemeClr val="accent4">
                <a:hueOff val="-1258748"/>
                <a:satOff val="-2797"/>
                <a:lumOff val="-2059"/>
                <a:alphaOff val="0"/>
                <a:shade val="100000"/>
                <a:satMod val="110000"/>
                <a:lumMod val="100000"/>
              </a:schemeClr>
            </a:gs>
          </a:gsLst>
          <a:lin ang="5400000" scaled="0"/>
        </a:gradFill>
        <a:ln w="9525" cap="flat" cmpd="sng" algn="ctr">
          <a:solidFill>
            <a:schemeClr val="accent4">
              <a:hueOff val="-1258748"/>
              <a:satOff val="-2797"/>
              <a:lumOff val="-2059"/>
              <a:alphaOff val="0"/>
            </a:schemeClr>
          </a:solidFill>
          <a:prstDash val="solid"/>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A7E7166-CACA-421E-9E1D-7F06A5307075}">
      <dsp:nvSpPr>
        <dsp:cNvPr id="0" name=""/>
        <dsp:cNvSpPr/>
      </dsp:nvSpPr>
      <dsp:spPr>
        <a:xfrm>
          <a:off x="0" y="1397682"/>
          <a:ext cx="1996440" cy="1395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Accurately record complaint information and make it accessible </a:t>
          </a:r>
          <a:endParaRPr lang="en-US" sz="1700" kern="1200" dirty="0"/>
        </a:p>
      </dsp:txBody>
      <dsp:txXfrm>
        <a:off x="0" y="1397682"/>
        <a:ext cx="1996440" cy="1395635"/>
      </dsp:txXfrm>
    </dsp:sp>
    <dsp:sp modelId="{F8DCF331-79D4-47E6-A726-A14422A46EFC}">
      <dsp:nvSpPr>
        <dsp:cNvPr id="0" name=""/>
        <dsp:cNvSpPr/>
      </dsp:nvSpPr>
      <dsp:spPr>
        <a:xfrm>
          <a:off x="2146172" y="1461058"/>
          <a:ext cx="7836027" cy="126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Make sure that your recorded version of the complaint matches exactly what the customer said. Also make sure that the complaint record is accessible by any branch of the organization that the customer may contact.</a:t>
          </a:r>
        </a:p>
      </dsp:txBody>
      <dsp:txXfrm>
        <a:off x="2146172" y="1461058"/>
        <a:ext cx="7836027" cy="1267520"/>
      </dsp:txXfrm>
    </dsp:sp>
    <dsp:sp modelId="{357E4888-CD9B-431F-AC83-1F9A79F5A26C}">
      <dsp:nvSpPr>
        <dsp:cNvPr id="0" name=""/>
        <dsp:cNvSpPr/>
      </dsp:nvSpPr>
      <dsp:spPr>
        <a:xfrm>
          <a:off x="1996439" y="2728578"/>
          <a:ext cx="7985760" cy="0"/>
        </a:xfrm>
        <a:prstGeom prst="line">
          <a:avLst/>
        </a:prstGeom>
        <a:solidFill>
          <a:schemeClr val="accent4">
            <a:hueOff val="0"/>
            <a:satOff val="0"/>
            <a:lumOff val="0"/>
            <a:alphaOff val="0"/>
          </a:schemeClr>
        </a:solidFill>
        <a:ln w="12700" cap="flat" cmpd="sng" algn="ctr">
          <a:solidFill>
            <a:schemeClr val="accent4">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D3D89592-BA7E-4A70-B72C-3EEFE758EEC4}">
      <dsp:nvSpPr>
        <dsp:cNvPr id="0" name=""/>
        <dsp:cNvSpPr/>
      </dsp:nvSpPr>
      <dsp:spPr>
        <a:xfrm>
          <a:off x="0" y="2793317"/>
          <a:ext cx="9982200" cy="0"/>
        </a:xfrm>
        <a:prstGeom prst="line">
          <a:avLst/>
        </a:prstGeom>
        <a:gradFill rotWithShape="0">
          <a:gsLst>
            <a:gs pos="0">
              <a:schemeClr val="accent4">
                <a:hueOff val="-2517496"/>
                <a:satOff val="-5593"/>
                <a:lumOff val="-4118"/>
                <a:alphaOff val="0"/>
                <a:tint val="96000"/>
                <a:satMod val="100000"/>
                <a:lumMod val="104000"/>
              </a:schemeClr>
            </a:gs>
            <a:gs pos="78000">
              <a:schemeClr val="accent4">
                <a:hueOff val="-2517496"/>
                <a:satOff val="-5593"/>
                <a:lumOff val="-4118"/>
                <a:alphaOff val="0"/>
                <a:shade val="100000"/>
                <a:satMod val="110000"/>
                <a:lumMod val="100000"/>
              </a:schemeClr>
            </a:gs>
          </a:gsLst>
          <a:lin ang="5400000" scaled="0"/>
        </a:gradFill>
        <a:ln w="9525" cap="flat" cmpd="sng" algn="ctr">
          <a:solidFill>
            <a:schemeClr val="accent4">
              <a:hueOff val="-2517496"/>
              <a:satOff val="-5593"/>
              <a:lumOff val="-4118"/>
              <a:alphaOff val="0"/>
            </a:schemeClr>
          </a:solidFill>
          <a:prstDash val="solid"/>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353D12A1-32E5-4564-8821-4500E3523CBD}">
      <dsp:nvSpPr>
        <dsp:cNvPr id="0" name=""/>
        <dsp:cNvSpPr/>
      </dsp:nvSpPr>
      <dsp:spPr>
        <a:xfrm>
          <a:off x="0" y="2793317"/>
          <a:ext cx="1996440" cy="1395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Attach timeframes for resolution of complaint</a:t>
          </a:r>
        </a:p>
      </dsp:txBody>
      <dsp:txXfrm>
        <a:off x="0" y="2793317"/>
        <a:ext cx="1996440" cy="1395635"/>
      </dsp:txXfrm>
    </dsp:sp>
    <dsp:sp modelId="{5C468CBC-BAFE-41B9-B85B-A6E71CB1A745}">
      <dsp:nvSpPr>
        <dsp:cNvPr id="0" name=""/>
        <dsp:cNvSpPr/>
      </dsp:nvSpPr>
      <dsp:spPr>
        <a:xfrm>
          <a:off x="2146172" y="2856693"/>
          <a:ext cx="7836027" cy="126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The company should attempt to resolve complaints on first contact, but if this is not possible, then a complaint should be finalized within a specific number of days </a:t>
          </a:r>
          <a:r>
            <a:rPr lang="en-US" sz="2000" kern="1200" dirty="0" err="1"/>
            <a:t>eg</a:t>
          </a:r>
          <a:r>
            <a:rPr lang="en-US" sz="2000" kern="1200" dirty="0"/>
            <a:t>. 30 days.</a:t>
          </a:r>
          <a:endParaRPr lang="en-US" sz="2000" b="1" kern="1200" dirty="0"/>
        </a:p>
      </dsp:txBody>
      <dsp:txXfrm>
        <a:off x="2146172" y="2856693"/>
        <a:ext cx="7836027" cy="1267520"/>
      </dsp:txXfrm>
    </dsp:sp>
    <dsp:sp modelId="{ADD4EB1A-DD4B-48BA-9BA0-F979DE92D69B}">
      <dsp:nvSpPr>
        <dsp:cNvPr id="0" name=""/>
        <dsp:cNvSpPr/>
      </dsp:nvSpPr>
      <dsp:spPr>
        <a:xfrm>
          <a:off x="1996439" y="4124214"/>
          <a:ext cx="7985760" cy="0"/>
        </a:xfrm>
        <a:prstGeom prst="line">
          <a:avLst/>
        </a:prstGeom>
        <a:solidFill>
          <a:schemeClr val="accent4">
            <a:hueOff val="0"/>
            <a:satOff val="0"/>
            <a:lumOff val="0"/>
            <a:alphaOff val="0"/>
          </a:schemeClr>
        </a:solidFill>
        <a:ln w="12700" cap="flat" cmpd="sng" algn="ctr">
          <a:solidFill>
            <a:schemeClr val="accent4">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FCDF2-72CA-4221-9E54-8920A0B7479C}">
      <dsp:nvSpPr>
        <dsp:cNvPr id="0" name=""/>
        <dsp:cNvSpPr/>
      </dsp:nvSpPr>
      <dsp:spPr>
        <a:xfrm>
          <a:off x="0" y="2184"/>
          <a:ext cx="976448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9AD796-9F01-4025-A936-7B2A2613A4F8}">
      <dsp:nvSpPr>
        <dsp:cNvPr id="0" name=""/>
        <dsp:cNvSpPr/>
      </dsp:nvSpPr>
      <dsp:spPr>
        <a:xfrm>
          <a:off x="0" y="2184"/>
          <a:ext cx="1914754" cy="1489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Customers must be informed about any delays in resolving a complaint</a:t>
          </a:r>
          <a:endParaRPr lang="en-US" sz="1600" kern="1200" dirty="0"/>
        </a:p>
      </dsp:txBody>
      <dsp:txXfrm>
        <a:off x="0" y="2184"/>
        <a:ext cx="1914754" cy="1489886"/>
      </dsp:txXfrm>
    </dsp:sp>
    <dsp:sp modelId="{D038C80C-3844-426F-91EE-CAAAA0A7F32A}">
      <dsp:nvSpPr>
        <dsp:cNvPr id="0" name=""/>
        <dsp:cNvSpPr/>
      </dsp:nvSpPr>
      <dsp:spPr>
        <a:xfrm>
          <a:off x="2058361" y="69840"/>
          <a:ext cx="7700065" cy="1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As soon as you realizes that they are unable to resolve a complaint within the given timeframe, contact the customer, and inform advising him/ her of the delay and set a new timeline</a:t>
          </a:r>
        </a:p>
      </dsp:txBody>
      <dsp:txXfrm>
        <a:off x="2058361" y="69840"/>
        <a:ext cx="7700065" cy="1353119"/>
      </dsp:txXfrm>
    </dsp:sp>
    <dsp:sp modelId="{11F3BAFD-5FC0-4F86-9526-B1813D701881}">
      <dsp:nvSpPr>
        <dsp:cNvPr id="0" name=""/>
        <dsp:cNvSpPr/>
      </dsp:nvSpPr>
      <dsp:spPr>
        <a:xfrm>
          <a:off x="1914754" y="1422960"/>
          <a:ext cx="765901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4F663B-8AEB-4848-812F-DD3D27FF7451}">
      <dsp:nvSpPr>
        <dsp:cNvPr id="0" name=""/>
        <dsp:cNvSpPr/>
      </dsp:nvSpPr>
      <dsp:spPr>
        <a:xfrm>
          <a:off x="0" y="1492071"/>
          <a:ext cx="976448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CDECF4-3B76-4187-A3F3-D553565C26DB}">
      <dsp:nvSpPr>
        <dsp:cNvPr id="0" name=""/>
        <dsp:cNvSpPr/>
      </dsp:nvSpPr>
      <dsp:spPr>
        <a:xfrm>
          <a:off x="0" y="1492071"/>
          <a:ext cx="1952897" cy="1489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Make staff aware of complaint handling procedures</a:t>
          </a:r>
          <a:endParaRPr lang="en-US" sz="1600" kern="1200" dirty="0"/>
        </a:p>
      </dsp:txBody>
      <dsp:txXfrm>
        <a:off x="0" y="1492071"/>
        <a:ext cx="1952897" cy="1489886"/>
      </dsp:txXfrm>
    </dsp:sp>
    <dsp:sp modelId="{DDAE5AD6-B05D-4B7D-9D75-F3DC64059CEA}">
      <dsp:nvSpPr>
        <dsp:cNvPr id="0" name=""/>
        <dsp:cNvSpPr/>
      </dsp:nvSpPr>
      <dsp:spPr>
        <a:xfrm>
          <a:off x="2099364" y="1559727"/>
          <a:ext cx="7665121" cy="1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The complaint handling procedures should be known to all employees and be part of regular training</a:t>
          </a:r>
        </a:p>
      </dsp:txBody>
      <dsp:txXfrm>
        <a:off x="2099364" y="1559727"/>
        <a:ext cx="7665121" cy="1353119"/>
      </dsp:txXfrm>
    </dsp:sp>
    <dsp:sp modelId="{C17327D0-9977-41F7-BA14-A98E293C0CE3}">
      <dsp:nvSpPr>
        <dsp:cNvPr id="0" name=""/>
        <dsp:cNvSpPr/>
      </dsp:nvSpPr>
      <dsp:spPr>
        <a:xfrm>
          <a:off x="1952897" y="2912846"/>
          <a:ext cx="781158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5599DD-1A10-4AF3-8DE9-D7AEF69E94A7}">
      <dsp:nvSpPr>
        <dsp:cNvPr id="0" name=""/>
        <dsp:cNvSpPr/>
      </dsp:nvSpPr>
      <dsp:spPr>
        <a:xfrm>
          <a:off x="0" y="2981957"/>
          <a:ext cx="976448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F2775C-919C-4676-B3EE-92DB6DF51C81}">
      <dsp:nvSpPr>
        <dsp:cNvPr id="0" name=""/>
        <dsp:cNvSpPr/>
      </dsp:nvSpPr>
      <dsp:spPr>
        <a:xfrm>
          <a:off x="0" y="2981957"/>
          <a:ext cx="1952897" cy="1489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Inform Customers Of Complaint Handling Procedures</a:t>
          </a:r>
          <a:endParaRPr lang="en-US" sz="1600" kern="1200" dirty="0"/>
        </a:p>
      </dsp:txBody>
      <dsp:txXfrm>
        <a:off x="0" y="2981957"/>
        <a:ext cx="1952897" cy="1489886"/>
      </dsp:txXfrm>
    </dsp:sp>
    <dsp:sp modelId="{04480DDC-1C44-4BDA-8574-A1367E0C8DF1}">
      <dsp:nvSpPr>
        <dsp:cNvPr id="0" name=""/>
        <dsp:cNvSpPr/>
      </dsp:nvSpPr>
      <dsp:spPr>
        <a:xfrm>
          <a:off x="2099364" y="3049613"/>
          <a:ext cx="7665121" cy="1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Posting your complaint handling procedures on your office premises is a good way to inform customers. Also these procedures may be incorporated in the </a:t>
          </a:r>
          <a:r>
            <a:rPr lang="en-US" sz="2100" kern="1200" dirty="0" err="1"/>
            <a:t>organisation’s</a:t>
          </a:r>
          <a:r>
            <a:rPr lang="en-US" sz="2100" kern="1200" dirty="0"/>
            <a:t> brochure </a:t>
          </a:r>
        </a:p>
      </dsp:txBody>
      <dsp:txXfrm>
        <a:off x="2099364" y="3049613"/>
        <a:ext cx="7665121" cy="1353119"/>
      </dsp:txXfrm>
    </dsp:sp>
    <dsp:sp modelId="{2BC4E496-408F-4FF9-8713-A97942B5B3FA}">
      <dsp:nvSpPr>
        <dsp:cNvPr id="0" name=""/>
        <dsp:cNvSpPr/>
      </dsp:nvSpPr>
      <dsp:spPr>
        <a:xfrm>
          <a:off x="1952897" y="4402733"/>
          <a:ext cx="781158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2A9D4-8052-479D-B74E-864297DFB8A0}" type="datetimeFigureOut">
              <a:rPr lang="en-JM" smtClean="0"/>
              <a:t>27/4/2025</a:t>
            </a:fld>
            <a:endParaRPr lang="en-J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89755-97A0-4E11-97E5-E4A733B4F20E}" type="slidenum">
              <a:rPr lang="en-JM" smtClean="0"/>
              <a:t>‹#›</a:t>
            </a:fld>
            <a:endParaRPr lang="en-JM"/>
          </a:p>
        </p:txBody>
      </p:sp>
    </p:spTree>
    <p:extLst>
      <p:ext uri="{BB962C8B-B14F-4D97-AF65-F5344CB8AC3E}">
        <p14:creationId xmlns:p14="http://schemas.microsoft.com/office/powerpoint/2010/main" val="170184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4D123E-8EB0-4D1D-8CFD-E40F8C00BFBE}" type="slidenum">
              <a:rPr lang="en-GB"/>
              <a:pPr/>
              <a:t>28</a:t>
            </a:fld>
            <a:endParaRPr lang="en-GB"/>
          </a:p>
        </p:txBody>
      </p:sp>
      <p:sp>
        <p:nvSpPr>
          <p:cNvPr id="24578" name="Rectangle 2"/>
          <p:cNvSpPr>
            <a:spLocks noGrp="1" noRot="1" noChangeAspect="1" noChangeArrowheads="1" noTextEdit="1"/>
          </p:cNvSpPr>
          <p:nvPr>
            <p:ph type="sldImg"/>
          </p:nvPr>
        </p:nvSpPr>
        <p:spPr>
          <a:ln cap="flat"/>
        </p:spPr>
      </p:sp>
      <p:sp>
        <p:nvSpPr>
          <p:cNvPr id="2457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83044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buFont typeface="Wingdings" pitchFamily="2" charset="2"/>
              <a:buChar char="Ø"/>
            </a:pPr>
            <a:endParaRPr lang="en-PH"/>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itchFamily="-106" charset="0"/>
                <a:ea typeface="ＭＳ Ｐゴシック" pitchFamily="-106" charset="-128"/>
              </a:defRPr>
            </a:lvl1pPr>
            <a:lvl2pPr marL="742950" indent="-285750">
              <a:defRPr sz="2400">
                <a:solidFill>
                  <a:schemeClr val="tx1"/>
                </a:solidFill>
                <a:latin typeface="Helvetica" pitchFamily="-106" charset="0"/>
                <a:ea typeface="ＭＳ Ｐゴシック" pitchFamily="-106" charset="-128"/>
              </a:defRPr>
            </a:lvl2pPr>
            <a:lvl3pPr marL="1143000" indent="-228600">
              <a:defRPr sz="2400">
                <a:solidFill>
                  <a:schemeClr val="tx1"/>
                </a:solidFill>
                <a:latin typeface="Helvetica" pitchFamily="-106" charset="0"/>
                <a:ea typeface="ＭＳ Ｐゴシック" pitchFamily="-106" charset="-128"/>
              </a:defRPr>
            </a:lvl3pPr>
            <a:lvl4pPr marL="1600200" indent="-228600">
              <a:defRPr sz="2400">
                <a:solidFill>
                  <a:schemeClr val="tx1"/>
                </a:solidFill>
                <a:latin typeface="Helvetica" pitchFamily="-106" charset="0"/>
                <a:ea typeface="ＭＳ Ｐゴシック" pitchFamily="-106" charset="-128"/>
              </a:defRPr>
            </a:lvl4pPr>
            <a:lvl5pPr marL="2057400" indent="-228600">
              <a:defRPr sz="2400">
                <a:solidFill>
                  <a:schemeClr val="tx1"/>
                </a:solidFill>
                <a:latin typeface="Helvetica" pitchFamily="-106" charset="0"/>
                <a:ea typeface="ＭＳ Ｐゴシック" pitchFamily="-106" charset="-128"/>
              </a:defRPr>
            </a:lvl5pPr>
            <a:lvl6pPr marL="25146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6pPr>
            <a:lvl7pPr marL="29718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7pPr>
            <a:lvl8pPr marL="34290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8pPr>
            <a:lvl9pPr marL="38862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9pPr>
          </a:lstStyle>
          <a:p>
            <a:fld id="{E117E09C-FB83-48CF-B093-9A39DD93500C}" type="slidenum">
              <a:rPr lang="en-PH" sz="1200"/>
              <a:pPr/>
              <a:t>29</a:t>
            </a:fld>
            <a:endParaRPr lang="en-PH" sz="1200"/>
          </a:p>
        </p:txBody>
      </p:sp>
    </p:spTree>
    <p:extLst>
      <p:ext uri="{BB962C8B-B14F-4D97-AF65-F5344CB8AC3E}">
        <p14:creationId xmlns:p14="http://schemas.microsoft.com/office/powerpoint/2010/main" val="3309522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PH"/>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itchFamily="-106" charset="0"/>
                <a:ea typeface="ＭＳ Ｐゴシック" pitchFamily="-106" charset="-128"/>
              </a:defRPr>
            </a:lvl1pPr>
            <a:lvl2pPr marL="742950" indent="-285750">
              <a:defRPr sz="2400">
                <a:solidFill>
                  <a:schemeClr val="tx1"/>
                </a:solidFill>
                <a:latin typeface="Helvetica" pitchFamily="-106" charset="0"/>
                <a:ea typeface="ＭＳ Ｐゴシック" pitchFamily="-106" charset="-128"/>
              </a:defRPr>
            </a:lvl2pPr>
            <a:lvl3pPr marL="1143000" indent="-228600">
              <a:defRPr sz="2400">
                <a:solidFill>
                  <a:schemeClr val="tx1"/>
                </a:solidFill>
                <a:latin typeface="Helvetica" pitchFamily="-106" charset="0"/>
                <a:ea typeface="ＭＳ Ｐゴシック" pitchFamily="-106" charset="-128"/>
              </a:defRPr>
            </a:lvl3pPr>
            <a:lvl4pPr marL="1600200" indent="-228600">
              <a:defRPr sz="2400">
                <a:solidFill>
                  <a:schemeClr val="tx1"/>
                </a:solidFill>
                <a:latin typeface="Helvetica" pitchFamily="-106" charset="0"/>
                <a:ea typeface="ＭＳ Ｐゴシック" pitchFamily="-106" charset="-128"/>
              </a:defRPr>
            </a:lvl4pPr>
            <a:lvl5pPr marL="2057400" indent="-228600">
              <a:defRPr sz="2400">
                <a:solidFill>
                  <a:schemeClr val="tx1"/>
                </a:solidFill>
                <a:latin typeface="Helvetica" pitchFamily="-106" charset="0"/>
                <a:ea typeface="ＭＳ Ｐゴシック" pitchFamily="-106" charset="-128"/>
              </a:defRPr>
            </a:lvl5pPr>
            <a:lvl6pPr marL="25146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6pPr>
            <a:lvl7pPr marL="29718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7pPr>
            <a:lvl8pPr marL="34290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8pPr>
            <a:lvl9pPr marL="38862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9pPr>
          </a:lstStyle>
          <a:p>
            <a:fld id="{944749AF-F53F-40FC-A23F-8E0F6A80C36A}" type="slidenum">
              <a:rPr lang="en-PH" sz="1200"/>
              <a:pPr/>
              <a:t>30</a:t>
            </a:fld>
            <a:endParaRPr lang="en-PH" sz="1200"/>
          </a:p>
        </p:txBody>
      </p:sp>
    </p:spTree>
    <p:extLst>
      <p:ext uri="{BB962C8B-B14F-4D97-AF65-F5344CB8AC3E}">
        <p14:creationId xmlns:p14="http://schemas.microsoft.com/office/powerpoint/2010/main" val="218579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buFont typeface="Wingdings" pitchFamily="2" charset="2"/>
              <a:buChar char="Ø"/>
            </a:pPr>
            <a:endParaRPr lang="en-PH"/>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itchFamily="-106" charset="0"/>
                <a:ea typeface="ＭＳ Ｐゴシック" pitchFamily="-106" charset="-128"/>
              </a:defRPr>
            </a:lvl1pPr>
            <a:lvl2pPr marL="742950" indent="-285750">
              <a:defRPr sz="2400">
                <a:solidFill>
                  <a:schemeClr val="tx1"/>
                </a:solidFill>
                <a:latin typeface="Helvetica" pitchFamily="-106" charset="0"/>
                <a:ea typeface="ＭＳ Ｐゴシック" pitchFamily="-106" charset="-128"/>
              </a:defRPr>
            </a:lvl2pPr>
            <a:lvl3pPr marL="1143000" indent="-228600">
              <a:defRPr sz="2400">
                <a:solidFill>
                  <a:schemeClr val="tx1"/>
                </a:solidFill>
                <a:latin typeface="Helvetica" pitchFamily="-106" charset="0"/>
                <a:ea typeface="ＭＳ Ｐゴシック" pitchFamily="-106" charset="-128"/>
              </a:defRPr>
            </a:lvl3pPr>
            <a:lvl4pPr marL="1600200" indent="-228600">
              <a:defRPr sz="2400">
                <a:solidFill>
                  <a:schemeClr val="tx1"/>
                </a:solidFill>
                <a:latin typeface="Helvetica" pitchFamily="-106" charset="0"/>
                <a:ea typeface="ＭＳ Ｐゴシック" pitchFamily="-106" charset="-128"/>
              </a:defRPr>
            </a:lvl4pPr>
            <a:lvl5pPr marL="2057400" indent="-228600">
              <a:defRPr sz="2400">
                <a:solidFill>
                  <a:schemeClr val="tx1"/>
                </a:solidFill>
                <a:latin typeface="Helvetica" pitchFamily="-106" charset="0"/>
                <a:ea typeface="ＭＳ Ｐゴシック" pitchFamily="-106" charset="-128"/>
              </a:defRPr>
            </a:lvl5pPr>
            <a:lvl6pPr marL="25146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6pPr>
            <a:lvl7pPr marL="29718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7pPr>
            <a:lvl8pPr marL="34290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8pPr>
            <a:lvl9pPr marL="3886200" indent="-228600" eaLnBrk="0" fontAlgn="base" hangingPunct="0">
              <a:spcBef>
                <a:spcPct val="0"/>
              </a:spcBef>
              <a:spcAft>
                <a:spcPct val="0"/>
              </a:spcAft>
              <a:defRPr sz="2400">
                <a:solidFill>
                  <a:schemeClr val="tx1"/>
                </a:solidFill>
                <a:latin typeface="Helvetica" pitchFamily="-106" charset="0"/>
                <a:ea typeface="ＭＳ Ｐゴシック" pitchFamily="-106" charset="-128"/>
              </a:defRPr>
            </a:lvl9pPr>
          </a:lstStyle>
          <a:p>
            <a:fld id="{2232E235-0774-4335-8A97-F6D1A6175187}" type="slidenum">
              <a:rPr lang="en-PH" sz="1200"/>
              <a:pPr/>
              <a:t>31</a:t>
            </a:fld>
            <a:endParaRPr lang="en-PH" sz="1200"/>
          </a:p>
        </p:txBody>
      </p:sp>
    </p:spTree>
    <p:extLst>
      <p:ext uri="{BB962C8B-B14F-4D97-AF65-F5344CB8AC3E}">
        <p14:creationId xmlns:p14="http://schemas.microsoft.com/office/powerpoint/2010/main" val="3600140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4/27/2025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4/27/2025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www.businessdictionary.com/definition/empowerment.html" TargetMode="External"/><Relationship Id="rId2" Type="http://schemas.openxmlformats.org/officeDocument/2006/relationships/hyperlink" Target="http://www.slideshare.net/cavendishcustomers/7-communications-and-problem-solving-in-customer-service?qid=3bd7560d-4e08-4316-9784-12b479b7d182&amp;v=&amp;b=&amp;from_search=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7943" y="1455063"/>
            <a:ext cx="9971964" cy="826584"/>
          </a:xfrm>
        </p:spPr>
        <p:txBody>
          <a:bodyPr>
            <a:normAutofit fontScale="90000"/>
          </a:bodyPr>
          <a:lstStyle/>
          <a:p>
            <a:pPr algn="r"/>
            <a:r>
              <a:rPr lang="en-US" dirty="0"/>
              <a:t>CUSTOMER SERVICE: Unit 5</a:t>
            </a:r>
          </a:p>
        </p:txBody>
      </p:sp>
      <p:pic>
        <p:nvPicPr>
          <p:cNvPr id="3076" name="Picture 4" descr="Image result for hotel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6877" y="2379717"/>
            <a:ext cx="5078381" cy="25877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124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OBJECTIVES</a:t>
            </a:r>
          </a:p>
        </p:txBody>
      </p:sp>
      <p:sp>
        <p:nvSpPr>
          <p:cNvPr id="3" name="Content Placeholder 2"/>
          <p:cNvSpPr>
            <a:spLocks noGrp="1"/>
          </p:cNvSpPr>
          <p:nvPr>
            <p:ph idx="1"/>
          </p:nvPr>
        </p:nvSpPr>
        <p:spPr>
          <a:xfrm>
            <a:off x="1248092" y="1748020"/>
            <a:ext cx="8915400" cy="4198036"/>
          </a:xfrm>
        </p:spPr>
        <p:txBody>
          <a:bodyPr>
            <a:noAutofit/>
          </a:bodyPr>
          <a:lstStyle/>
          <a:p>
            <a:pPr marL="0" indent="0">
              <a:buNone/>
            </a:pPr>
            <a:r>
              <a:rPr lang="en-US" sz="2400" b="1" dirty="0"/>
              <a:t>Unit 5 – Problem Solving and Conflict Resolution</a:t>
            </a:r>
          </a:p>
          <a:p>
            <a:r>
              <a:rPr lang="en-US" dirty="0"/>
              <a:t>Seven deadly sins</a:t>
            </a:r>
          </a:p>
          <a:p>
            <a:r>
              <a:rPr lang="en-US" dirty="0"/>
              <a:t>Role of problem solving</a:t>
            </a:r>
          </a:p>
          <a:p>
            <a:r>
              <a:rPr lang="en-US" dirty="0"/>
              <a:t>Types of customers</a:t>
            </a:r>
          </a:p>
          <a:p>
            <a:r>
              <a:rPr lang="en-US" dirty="0"/>
              <a:t>Problem solving</a:t>
            </a:r>
          </a:p>
          <a:p>
            <a:r>
              <a:rPr lang="en-US" dirty="0"/>
              <a:t>Negotiation skills</a:t>
            </a:r>
          </a:p>
          <a:p>
            <a:r>
              <a:rPr lang="en-US" dirty="0"/>
              <a:t>Empowerment</a:t>
            </a:r>
          </a:p>
          <a:p>
            <a:endParaRPr lang="en-US" dirty="0"/>
          </a:p>
        </p:txBody>
      </p:sp>
    </p:spTree>
    <p:extLst>
      <p:ext uri="{BB962C8B-B14F-4D97-AF65-F5344CB8AC3E}">
        <p14:creationId xmlns:p14="http://schemas.microsoft.com/office/powerpoint/2010/main" val="391303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SEVEN DEADLY SINS OF SERVICE</a:t>
            </a:r>
            <a:endParaRPr lang="en-JM" dirty="0"/>
          </a:p>
        </p:txBody>
      </p:sp>
      <p:sp>
        <p:nvSpPr>
          <p:cNvPr id="3" name="Content Placeholder 2"/>
          <p:cNvSpPr>
            <a:spLocks noGrp="1"/>
          </p:cNvSpPr>
          <p:nvPr>
            <p:ph idx="1"/>
          </p:nvPr>
        </p:nvSpPr>
        <p:spPr>
          <a:xfrm>
            <a:off x="685800" y="2194560"/>
            <a:ext cx="10820400" cy="4511040"/>
          </a:xfrm>
        </p:spPr>
        <p:txBody>
          <a:bodyPr>
            <a:normAutofit/>
          </a:bodyPr>
          <a:lstStyle/>
          <a:p>
            <a:pPr algn="just"/>
            <a:r>
              <a:rPr lang="en-US" b="1" i="1" dirty="0"/>
              <a:t>L</a:t>
            </a:r>
            <a:r>
              <a:rPr lang="en-US" b="1" dirty="0"/>
              <a:t>eave someone expecting a reply </a:t>
            </a:r>
            <a:r>
              <a:rPr lang="en-US" dirty="0"/>
              <a:t>– when we tell someone we will call them or send something, we must follow through and do it. Even if we don’t have an answer or anything useful to say we can call the customer back to say we have no new information. </a:t>
            </a:r>
          </a:p>
          <a:p>
            <a:pPr algn="just"/>
            <a:r>
              <a:rPr lang="en-US" b="1" dirty="0"/>
              <a:t>Argue with a customer </a:t>
            </a:r>
            <a:r>
              <a:rPr lang="en-US" dirty="0"/>
              <a:t>– the customer is always right. Even when the customer is completely wrong, the customer service provider does not get any points for proving it. </a:t>
            </a:r>
          </a:p>
          <a:p>
            <a:pPr algn="just"/>
            <a:r>
              <a:rPr lang="en-US" b="1" dirty="0"/>
              <a:t>Present a dirty unprofessional look</a:t>
            </a:r>
            <a:r>
              <a:rPr lang="en-US" dirty="0"/>
              <a:t> –  dirty facilities or unprofessional looking employees undermines the credibility of the organization. </a:t>
            </a:r>
          </a:p>
          <a:p>
            <a:pPr algn="just"/>
            <a:r>
              <a:rPr lang="en-US" b="1" dirty="0"/>
              <a:t>Give conflicting or incorrect information </a:t>
            </a:r>
            <a:r>
              <a:rPr lang="en-US" dirty="0"/>
              <a:t>– it is frustrating to hear two conflicting pieces of information from two different people in the same organization. Customers expect each employee to be up to date and knowledgeable about their products and services. </a:t>
            </a:r>
          </a:p>
        </p:txBody>
      </p:sp>
    </p:spTree>
    <p:extLst>
      <p:ext uri="{BB962C8B-B14F-4D97-AF65-F5344CB8AC3E}">
        <p14:creationId xmlns:p14="http://schemas.microsoft.com/office/powerpoint/2010/main" val="2931626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SEVEN DEADLY SINS OF SERVICE</a:t>
            </a:r>
            <a:endParaRPr lang="en-JM" dirty="0"/>
          </a:p>
        </p:txBody>
      </p:sp>
      <p:sp>
        <p:nvSpPr>
          <p:cNvPr id="3" name="Content Placeholder 2"/>
          <p:cNvSpPr>
            <a:spLocks noGrp="1"/>
          </p:cNvSpPr>
          <p:nvPr>
            <p:ph idx="1"/>
          </p:nvPr>
        </p:nvSpPr>
        <p:spPr/>
        <p:txBody>
          <a:bodyPr>
            <a:normAutofit/>
          </a:bodyPr>
          <a:lstStyle/>
          <a:p>
            <a:pPr algn="just"/>
            <a:r>
              <a:rPr lang="en-US" b="1" dirty="0"/>
              <a:t>Argue with fellow worker in front of a customer </a:t>
            </a:r>
            <a:r>
              <a:rPr lang="en-US" dirty="0"/>
              <a:t>– there is a time and place for everything. Disagreements should be left for when the customer leaves the establishment. </a:t>
            </a:r>
          </a:p>
          <a:p>
            <a:pPr algn="just"/>
            <a:r>
              <a:rPr lang="en-US" b="1" dirty="0"/>
              <a:t>Imply that customers’ needs are unimportant or trivial </a:t>
            </a:r>
            <a:r>
              <a:rPr lang="en-US" dirty="0"/>
              <a:t>– customers want to feel that they are important and their needs unique, therefore they should not be treated as an imposition or trivialize their needs. </a:t>
            </a:r>
          </a:p>
          <a:p>
            <a:pPr algn="just"/>
            <a:r>
              <a:rPr lang="en-US" b="1" dirty="0"/>
              <a:t>Passing the buck </a:t>
            </a:r>
            <a:r>
              <a:rPr lang="en-US" dirty="0"/>
              <a:t>– customers should not be sent through a maze of red tape, customer service representatives therefore need to be knowledgeable about who in the organization has the authority to help and send the customer directly to that person. </a:t>
            </a:r>
          </a:p>
          <a:p>
            <a:pPr algn="just"/>
            <a:endParaRPr lang="en-US" dirty="0"/>
          </a:p>
        </p:txBody>
      </p:sp>
    </p:spTree>
    <p:extLst>
      <p:ext uri="{BB962C8B-B14F-4D97-AF65-F5344CB8AC3E}">
        <p14:creationId xmlns:p14="http://schemas.microsoft.com/office/powerpoint/2010/main" val="1576150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CUSTOMERS</a:t>
            </a:r>
            <a:endParaRPr lang="en-JM" dirty="0"/>
          </a:p>
        </p:txBody>
      </p:sp>
      <p:sp>
        <p:nvSpPr>
          <p:cNvPr id="3" name="Content Placeholder 2"/>
          <p:cNvSpPr>
            <a:spLocks noGrp="1"/>
          </p:cNvSpPr>
          <p:nvPr>
            <p:ph idx="1"/>
          </p:nvPr>
        </p:nvSpPr>
        <p:spPr/>
        <p:txBody>
          <a:bodyPr/>
          <a:lstStyle/>
          <a:p>
            <a:pPr marL="0" indent="0">
              <a:buNone/>
            </a:pPr>
            <a:r>
              <a:rPr lang="en-US" sz="2400" b="1" dirty="0"/>
              <a:t>Types of customers. – See Handout – Discussion</a:t>
            </a:r>
          </a:p>
          <a:p>
            <a:r>
              <a:rPr lang="en-US" dirty="0"/>
              <a:t>Disgusted</a:t>
            </a:r>
          </a:p>
          <a:p>
            <a:r>
              <a:rPr lang="en-US" dirty="0"/>
              <a:t>Whining</a:t>
            </a:r>
          </a:p>
          <a:p>
            <a:r>
              <a:rPr lang="en-US" dirty="0"/>
              <a:t>Assertive/Aggressive</a:t>
            </a:r>
          </a:p>
          <a:p>
            <a:r>
              <a:rPr lang="en-US" dirty="0"/>
              <a:t>Disappointed</a:t>
            </a:r>
          </a:p>
          <a:p>
            <a:r>
              <a:rPr lang="en-US" dirty="0"/>
              <a:t>Hurried</a:t>
            </a:r>
          </a:p>
          <a:p>
            <a:r>
              <a:rPr lang="en-US" dirty="0"/>
              <a:t>Angry</a:t>
            </a:r>
            <a:endParaRPr lang="en-JM" dirty="0"/>
          </a:p>
        </p:txBody>
      </p:sp>
    </p:spTree>
    <p:extLst>
      <p:ext uri="{BB962C8B-B14F-4D97-AF65-F5344CB8AC3E}">
        <p14:creationId xmlns:p14="http://schemas.microsoft.com/office/powerpoint/2010/main" val="296109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ARGUMENTATIVE</a:t>
            </a:r>
            <a:endParaRPr lang="en-JM" dirty="0"/>
          </a:p>
        </p:txBody>
      </p:sp>
      <p:sp>
        <p:nvSpPr>
          <p:cNvPr id="3" name="Content Placeholder 2"/>
          <p:cNvSpPr>
            <a:spLocks noGrp="1"/>
          </p:cNvSpPr>
          <p:nvPr>
            <p:ph sz="half" idx="1"/>
          </p:nvPr>
        </p:nvSpPr>
        <p:spPr>
          <a:xfrm>
            <a:off x="685800" y="2194559"/>
            <a:ext cx="5334000" cy="4663441"/>
          </a:xfrm>
        </p:spPr>
        <p:txBody>
          <a:bodyPr>
            <a:normAutofit/>
          </a:bodyPr>
          <a:lstStyle/>
          <a:p>
            <a:pPr marL="0" indent="0">
              <a:buNone/>
            </a:pPr>
            <a:r>
              <a:rPr lang="en-US" altLang="en-US" dirty="0"/>
              <a:t>The customer does the following:</a:t>
            </a:r>
          </a:p>
          <a:p>
            <a:pPr marL="0" indent="0">
              <a:buNone/>
            </a:pPr>
            <a:endParaRPr lang="en-US" altLang="en-US" dirty="0"/>
          </a:p>
          <a:p>
            <a:pPr lvl="1"/>
            <a:r>
              <a:rPr lang="en-US" altLang="en-US" sz="2200" dirty="0"/>
              <a:t>Questions</a:t>
            </a:r>
          </a:p>
          <a:p>
            <a:pPr lvl="1"/>
            <a:r>
              <a:rPr lang="en-US" altLang="en-US" sz="2200" dirty="0"/>
              <a:t>Disagrees</a:t>
            </a:r>
          </a:p>
          <a:p>
            <a:pPr lvl="1"/>
            <a:r>
              <a:rPr lang="en-US" altLang="en-US" sz="2200" dirty="0"/>
              <a:t>Take issues which an employee makes</a:t>
            </a:r>
          </a:p>
          <a:p>
            <a:pPr lvl="1"/>
            <a:r>
              <a:rPr lang="en-US" altLang="en-US" sz="2200" dirty="0"/>
              <a:t>Always looking for errors or mistakes</a:t>
            </a:r>
          </a:p>
          <a:p>
            <a:pPr lvl="1"/>
            <a:r>
              <a:rPr lang="en-US" altLang="en-US" sz="2200" dirty="0"/>
              <a:t>Quick tempered</a:t>
            </a:r>
          </a:p>
          <a:p>
            <a:pPr lvl="1"/>
            <a:r>
              <a:rPr lang="en-US" altLang="en-US" sz="2200" dirty="0"/>
              <a:t>Typically slow in making decisions</a:t>
            </a:r>
          </a:p>
          <a:p>
            <a:pPr lvl="1"/>
            <a:r>
              <a:rPr lang="en-US" altLang="en-US" sz="2200" dirty="0"/>
              <a:t>Customer needs more information</a:t>
            </a:r>
          </a:p>
          <a:p>
            <a:pPr lvl="1"/>
            <a:endParaRPr lang="en-US" altLang="en-US" sz="2200" dirty="0"/>
          </a:p>
          <a:p>
            <a:endParaRPr lang="en-JM" dirty="0"/>
          </a:p>
        </p:txBody>
      </p:sp>
      <p:sp>
        <p:nvSpPr>
          <p:cNvPr id="4" name="Content Placeholder 3"/>
          <p:cNvSpPr>
            <a:spLocks noGrp="1"/>
          </p:cNvSpPr>
          <p:nvPr>
            <p:ph sz="half" idx="2"/>
          </p:nvPr>
        </p:nvSpPr>
        <p:spPr/>
        <p:txBody>
          <a:bodyPr>
            <a:normAutofit/>
          </a:bodyPr>
          <a:lstStyle/>
          <a:p>
            <a:pPr marL="0" indent="0">
              <a:buNone/>
            </a:pPr>
            <a:r>
              <a:rPr lang="en-US" altLang="en-US" dirty="0"/>
              <a:t>You should:</a:t>
            </a:r>
          </a:p>
          <a:p>
            <a:endParaRPr lang="en-US" altLang="en-US" dirty="0"/>
          </a:p>
          <a:p>
            <a:r>
              <a:rPr lang="en-US" altLang="en-US" dirty="0"/>
              <a:t>Practice self-control</a:t>
            </a:r>
          </a:p>
          <a:p>
            <a:r>
              <a:rPr lang="en-US" altLang="en-US" dirty="0"/>
              <a:t>Use merchandise knowledge</a:t>
            </a:r>
          </a:p>
          <a:p>
            <a:r>
              <a:rPr lang="en-US" altLang="en-US" dirty="0"/>
              <a:t>Sell benefits, features</a:t>
            </a:r>
          </a:p>
          <a:p>
            <a:r>
              <a:rPr lang="en-US" altLang="en-US" dirty="0"/>
              <a:t>Do not push a decision</a:t>
            </a:r>
          </a:p>
          <a:p>
            <a:r>
              <a:rPr lang="en-US" altLang="en-US" dirty="0"/>
              <a:t>Give logical explanations</a:t>
            </a:r>
          </a:p>
          <a:p>
            <a:endParaRPr lang="en-JM" dirty="0"/>
          </a:p>
        </p:txBody>
      </p:sp>
    </p:spTree>
    <p:extLst>
      <p:ext uri="{BB962C8B-B14F-4D97-AF65-F5344CB8AC3E}">
        <p14:creationId xmlns:p14="http://schemas.microsoft.com/office/powerpoint/2010/main" val="1217700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COMPLAINING/HARD TO PLEASE</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 customer:</a:t>
            </a:r>
          </a:p>
          <a:p>
            <a:endParaRPr lang="en-US" altLang="en-US" dirty="0"/>
          </a:p>
          <a:p>
            <a:pPr lvl="1"/>
            <a:r>
              <a:rPr lang="en-US" altLang="en-US" sz="2200" dirty="0"/>
              <a:t>Thinks everything is wrong</a:t>
            </a:r>
          </a:p>
          <a:p>
            <a:pPr lvl="1"/>
            <a:r>
              <a:rPr lang="en-US" altLang="en-US" sz="2200" dirty="0"/>
              <a:t>No matter what the employee does it is wrong</a:t>
            </a:r>
          </a:p>
          <a:p>
            <a:pPr lvl="1"/>
            <a:r>
              <a:rPr lang="en-US" altLang="en-US" sz="2200" dirty="0"/>
              <a:t>Tries to get employee to take side against the company</a:t>
            </a:r>
          </a:p>
          <a:p>
            <a:pPr lvl="1"/>
            <a:r>
              <a:rPr lang="en-US" altLang="en-US" sz="2200" dirty="0"/>
              <a:t>Passes judgment on everything</a:t>
            </a:r>
          </a:p>
          <a:p>
            <a:endParaRPr lang="en-JM" dirty="0"/>
          </a:p>
        </p:txBody>
      </p:sp>
      <p:sp>
        <p:nvSpPr>
          <p:cNvPr id="4" name="Content Placeholder 3"/>
          <p:cNvSpPr>
            <a:spLocks noGrp="1"/>
          </p:cNvSpPr>
          <p:nvPr>
            <p:ph sz="half" idx="2"/>
          </p:nvPr>
        </p:nvSpPr>
        <p:spPr/>
        <p:txBody>
          <a:bodyPr>
            <a:normAutofit/>
          </a:bodyPr>
          <a:lstStyle/>
          <a:p>
            <a:pPr marL="0" indent="0">
              <a:buNone/>
            </a:pPr>
            <a:r>
              <a:rPr lang="en-US" altLang="en-US" dirty="0"/>
              <a:t>You should:</a:t>
            </a:r>
          </a:p>
          <a:p>
            <a:endParaRPr lang="en-US" altLang="en-US" dirty="0"/>
          </a:p>
          <a:p>
            <a:r>
              <a:rPr lang="en-US" altLang="en-US" dirty="0"/>
              <a:t>Listen</a:t>
            </a:r>
          </a:p>
          <a:p>
            <a:r>
              <a:rPr lang="en-US" altLang="en-US" dirty="0"/>
              <a:t>Stress Product Knowledge</a:t>
            </a:r>
          </a:p>
          <a:p>
            <a:r>
              <a:rPr lang="en-US" altLang="en-US" dirty="0"/>
              <a:t>Let them feel they have made the decision</a:t>
            </a:r>
          </a:p>
          <a:p>
            <a:r>
              <a:rPr lang="en-US" altLang="en-US" dirty="0"/>
              <a:t>Don’t push the sale!</a:t>
            </a:r>
          </a:p>
          <a:p>
            <a:endParaRPr lang="en-US" altLang="en-US" dirty="0"/>
          </a:p>
          <a:p>
            <a:endParaRPr lang="en-US" altLang="en-US" dirty="0"/>
          </a:p>
        </p:txBody>
      </p:sp>
    </p:spTree>
    <p:extLst>
      <p:ext uri="{BB962C8B-B14F-4D97-AF65-F5344CB8AC3E}">
        <p14:creationId xmlns:p14="http://schemas.microsoft.com/office/powerpoint/2010/main" val="414595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IRRITABLE/MOODY</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 customer is:</a:t>
            </a:r>
          </a:p>
          <a:p>
            <a:pPr marL="0" indent="0">
              <a:spcBef>
                <a:spcPts val="0"/>
              </a:spcBef>
              <a:buNone/>
            </a:pPr>
            <a:endParaRPr lang="en-US" altLang="en-US" dirty="0"/>
          </a:p>
          <a:p>
            <a:pPr lvl="1"/>
            <a:r>
              <a:rPr lang="en-US" altLang="en-US" sz="2200" dirty="0"/>
              <a:t>Irritable</a:t>
            </a:r>
          </a:p>
          <a:p>
            <a:pPr lvl="1"/>
            <a:r>
              <a:rPr lang="en-US" altLang="en-US" sz="2200" dirty="0"/>
              <a:t>Moody</a:t>
            </a:r>
          </a:p>
          <a:p>
            <a:pPr lvl="1"/>
            <a:r>
              <a:rPr lang="en-US" altLang="en-US" sz="2200" dirty="0"/>
              <a:t>Unpredictable</a:t>
            </a:r>
          </a:p>
          <a:p>
            <a:pPr lvl="1"/>
            <a:r>
              <a:rPr lang="en-US" altLang="en-US" sz="2200" dirty="0"/>
              <a:t>Smiling and happy one day but hardly speaking the next</a:t>
            </a:r>
          </a:p>
          <a:p>
            <a:pPr lvl="1"/>
            <a:endParaRPr lang="en-US" altLang="en-US" sz="2200" dirty="0"/>
          </a:p>
        </p:txBody>
      </p:sp>
      <p:sp>
        <p:nvSpPr>
          <p:cNvPr id="4" name="Content Placeholder 3"/>
          <p:cNvSpPr>
            <a:spLocks noGrp="1"/>
          </p:cNvSpPr>
          <p:nvPr>
            <p:ph sz="half" idx="2"/>
          </p:nvPr>
        </p:nvSpPr>
        <p:spPr/>
        <p:txBody>
          <a:bodyPr>
            <a:normAutofit/>
          </a:bodyPr>
          <a:lstStyle/>
          <a:p>
            <a:pPr marL="0" indent="0">
              <a:spcBef>
                <a:spcPts val="0"/>
              </a:spcBef>
              <a:buNone/>
            </a:pPr>
            <a:r>
              <a:rPr lang="en-US" altLang="en-US" dirty="0"/>
              <a:t>You should:</a:t>
            </a:r>
          </a:p>
          <a:p>
            <a:pPr marL="0" indent="0">
              <a:spcBef>
                <a:spcPts val="0"/>
              </a:spcBef>
              <a:buNone/>
            </a:pPr>
            <a:endParaRPr lang="en-US" altLang="en-US" dirty="0"/>
          </a:p>
          <a:p>
            <a:pPr>
              <a:spcBef>
                <a:spcPts val="0"/>
              </a:spcBef>
            </a:pPr>
            <a:r>
              <a:rPr lang="en-US" altLang="en-US" dirty="0"/>
              <a:t>Offer a place to rest if possible</a:t>
            </a:r>
          </a:p>
          <a:p>
            <a:pPr>
              <a:spcBef>
                <a:spcPts val="0"/>
              </a:spcBef>
            </a:pPr>
            <a:r>
              <a:rPr lang="en-US" altLang="en-US" dirty="0"/>
              <a:t>Lower your voice</a:t>
            </a:r>
          </a:p>
          <a:p>
            <a:pPr>
              <a:spcBef>
                <a:spcPts val="0"/>
              </a:spcBef>
            </a:pPr>
            <a:r>
              <a:rPr lang="en-US" altLang="en-US" dirty="0"/>
              <a:t>Slow one’s physical action</a:t>
            </a:r>
          </a:p>
          <a:p>
            <a:pPr>
              <a:spcBef>
                <a:spcPts val="0"/>
              </a:spcBef>
            </a:pPr>
            <a:r>
              <a:rPr lang="en-US" altLang="en-US" dirty="0"/>
              <a:t>Do not argue</a:t>
            </a:r>
          </a:p>
          <a:p>
            <a:pPr>
              <a:spcBef>
                <a:spcPts val="0"/>
              </a:spcBef>
            </a:pPr>
            <a:r>
              <a:rPr lang="en-US" altLang="en-US" dirty="0"/>
              <a:t>Practice empathy, consideration</a:t>
            </a:r>
          </a:p>
          <a:p>
            <a:pPr>
              <a:spcBef>
                <a:spcPts val="0"/>
              </a:spcBef>
            </a:pPr>
            <a:r>
              <a:rPr lang="en-US" altLang="en-US" dirty="0"/>
              <a:t>Listen</a:t>
            </a:r>
          </a:p>
        </p:txBody>
      </p:sp>
    </p:spTree>
    <p:extLst>
      <p:ext uri="{BB962C8B-B14F-4D97-AF65-F5344CB8AC3E}">
        <p14:creationId xmlns:p14="http://schemas.microsoft.com/office/powerpoint/2010/main" val="158116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INSULTING/SNOBBISH</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These customers are typically:</a:t>
            </a:r>
          </a:p>
          <a:p>
            <a:pPr marL="0" indent="0">
              <a:spcBef>
                <a:spcPts val="0"/>
              </a:spcBef>
              <a:buNone/>
            </a:pPr>
            <a:endParaRPr lang="en-US" altLang="en-US" dirty="0"/>
          </a:p>
          <a:p>
            <a:pPr lvl="1"/>
            <a:r>
              <a:rPr lang="en-US" altLang="en-US" sz="2200" dirty="0"/>
              <a:t>Rude</a:t>
            </a:r>
          </a:p>
          <a:p>
            <a:pPr lvl="1"/>
            <a:r>
              <a:rPr lang="en-US" altLang="en-US" sz="2200" dirty="0"/>
              <a:t>Loud</a:t>
            </a:r>
          </a:p>
          <a:p>
            <a:pPr lvl="1"/>
            <a:r>
              <a:rPr lang="en-US" altLang="en-US" sz="2200" dirty="0"/>
              <a:t>Rough</a:t>
            </a:r>
          </a:p>
          <a:p>
            <a:pPr lvl="1"/>
            <a:r>
              <a:rPr lang="en-US" altLang="en-US" sz="2200" dirty="0"/>
              <a:t>May bluff and swear</a:t>
            </a:r>
          </a:p>
          <a:p>
            <a:pPr lvl="1"/>
            <a:r>
              <a:rPr lang="en-US" altLang="en-US" sz="2200" dirty="0"/>
              <a:t>Are always ready to take advantage of a situation</a:t>
            </a:r>
          </a:p>
        </p:txBody>
      </p:sp>
      <p:sp>
        <p:nvSpPr>
          <p:cNvPr id="5" name="Content Placeholder 4"/>
          <p:cNvSpPr>
            <a:spLocks noGrp="1"/>
          </p:cNvSpPr>
          <p:nvPr>
            <p:ph sz="half" idx="2"/>
          </p:nvPr>
        </p:nvSpPr>
        <p:spPr/>
        <p:txBody>
          <a:bodyPr/>
          <a:lstStyle/>
          <a:p>
            <a:pPr marL="0" indent="0">
              <a:spcBef>
                <a:spcPts val="0"/>
              </a:spcBef>
              <a:buNone/>
            </a:pPr>
            <a:r>
              <a:rPr lang="en-US" altLang="en-US" dirty="0"/>
              <a:t>You should:</a:t>
            </a:r>
          </a:p>
          <a:p>
            <a:pPr marL="0" indent="0">
              <a:spcBef>
                <a:spcPts val="0"/>
              </a:spcBef>
              <a:buNone/>
            </a:pPr>
            <a:endParaRPr lang="en-US" altLang="en-US" dirty="0"/>
          </a:p>
          <a:p>
            <a:pPr>
              <a:spcBef>
                <a:spcPts val="0"/>
              </a:spcBef>
            </a:pPr>
            <a:r>
              <a:rPr lang="en-US" altLang="en-US" dirty="0"/>
              <a:t>Do not be offended by this customer</a:t>
            </a:r>
          </a:p>
          <a:p>
            <a:pPr>
              <a:spcBef>
                <a:spcPts val="0"/>
              </a:spcBef>
            </a:pPr>
            <a:r>
              <a:rPr lang="en-US" altLang="en-US" dirty="0"/>
              <a:t>Quiet dignity is needed by a salesperson</a:t>
            </a:r>
          </a:p>
          <a:p>
            <a:pPr>
              <a:spcBef>
                <a:spcPts val="0"/>
              </a:spcBef>
            </a:pPr>
            <a:r>
              <a:rPr lang="en-US" altLang="en-US" dirty="0"/>
              <a:t>Be very pleasant</a:t>
            </a:r>
          </a:p>
          <a:p>
            <a:pPr>
              <a:spcBef>
                <a:spcPts val="0"/>
              </a:spcBef>
            </a:pPr>
            <a:r>
              <a:rPr lang="en-US" altLang="en-US" dirty="0"/>
              <a:t>Appeal to exclusiveness</a:t>
            </a:r>
          </a:p>
          <a:p>
            <a:pPr>
              <a:spcBef>
                <a:spcPts val="0"/>
              </a:spcBef>
            </a:pPr>
            <a:r>
              <a:rPr lang="en-US" altLang="en-US" dirty="0"/>
              <a:t>Make them feel special</a:t>
            </a:r>
          </a:p>
          <a:p>
            <a:endParaRPr lang="en-JM" dirty="0"/>
          </a:p>
        </p:txBody>
      </p:sp>
    </p:spTree>
    <p:extLst>
      <p:ext uri="{BB962C8B-B14F-4D97-AF65-F5344CB8AC3E}">
        <p14:creationId xmlns:p14="http://schemas.microsoft.com/office/powerpoint/2010/main" val="3422654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IMPATIENT</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These customers:</a:t>
            </a:r>
          </a:p>
          <a:p>
            <a:endParaRPr lang="en-US" altLang="en-US" dirty="0"/>
          </a:p>
          <a:p>
            <a:pPr lvl="1"/>
            <a:r>
              <a:rPr lang="en-US" altLang="en-US" sz="2200" dirty="0"/>
              <a:t>Expect immediate service without regard</a:t>
            </a:r>
          </a:p>
          <a:p>
            <a:pPr lvl="1"/>
            <a:r>
              <a:rPr lang="en-US" altLang="en-US" sz="2200" dirty="0"/>
              <a:t>Indicate through actions, body language, and facial expressions that they cannot wait</a:t>
            </a:r>
          </a:p>
          <a:p>
            <a:endParaRPr lang="en-JM" dirty="0"/>
          </a:p>
        </p:txBody>
      </p:sp>
      <p:sp>
        <p:nvSpPr>
          <p:cNvPr id="4" name="Content Placeholder 3"/>
          <p:cNvSpPr>
            <a:spLocks noGrp="1"/>
          </p:cNvSpPr>
          <p:nvPr>
            <p:ph sz="half" idx="2"/>
          </p:nvPr>
        </p:nvSpPr>
        <p:spPr/>
        <p:txBody>
          <a:bodyPr/>
          <a:lstStyle/>
          <a:p>
            <a:pPr marL="0" indent="0">
              <a:spcBef>
                <a:spcPts val="0"/>
              </a:spcBef>
              <a:buNone/>
            </a:pPr>
            <a:r>
              <a:rPr lang="en-US" altLang="en-US" dirty="0"/>
              <a:t>You should:</a:t>
            </a:r>
          </a:p>
          <a:p>
            <a:pPr>
              <a:spcBef>
                <a:spcPts val="0"/>
              </a:spcBef>
            </a:pPr>
            <a:endParaRPr lang="en-US" altLang="en-US" dirty="0"/>
          </a:p>
          <a:p>
            <a:pPr>
              <a:spcBef>
                <a:spcPts val="0"/>
              </a:spcBef>
            </a:pPr>
            <a:r>
              <a:rPr lang="en-US" altLang="en-US" dirty="0"/>
              <a:t>Acknowledge that they need help</a:t>
            </a:r>
          </a:p>
          <a:p>
            <a:pPr>
              <a:spcBef>
                <a:spcPts val="0"/>
              </a:spcBef>
            </a:pPr>
            <a:r>
              <a:rPr lang="en-US" altLang="en-US" dirty="0"/>
              <a:t>Calm them down</a:t>
            </a:r>
          </a:p>
          <a:p>
            <a:pPr>
              <a:spcBef>
                <a:spcPts val="0"/>
              </a:spcBef>
            </a:pPr>
            <a:r>
              <a:rPr lang="en-US" altLang="en-US" dirty="0"/>
              <a:t>Get another salesperson to help them</a:t>
            </a:r>
          </a:p>
          <a:p>
            <a:pPr>
              <a:spcBef>
                <a:spcPts val="0"/>
              </a:spcBef>
            </a:pPr>
            <a:r>
              <a:rPr lang="en-US" altLang="en-US" dirty="0"/>
              <a:t>Suggest an alternative option</a:t>
            </a:r>
          </a:p>
          <a:p>
            <a:pPr>
              <a:spcBef>
                <a:spcPts val="0"/>
              </a:spcBef>
            </a:pPr>
            <a:r>
              <a:rPr lang="en-US" altLang="en-US" dirty="0"/>
              <a:t>Bottom Line = Get them in and out quickly!</a:t>
            </a:r>
          </a:p>
          <a:p>
            <a:pPr>
              <a:spcBef>
                <a:spcPts val="0"/>
              </a:spcBef>
            </a:pPr>
            <a:endParaRPr lang="en-US" altLang="en-US" dirty="0"/>
          </a:p>
          <a:p>
            <a:pPr>
              <a:spcBef>
                <a:spcPts val="0"/>
              </a:spcBef>
            </a:pPr>
            <a:endParaRPr lang="en-US" altLang="en-US" dirty="0"/>
          </a:p>
          <a:p>
            <a:pPr>
              <a:spcBef>
                <a:spcPts val="0"/>
              </a:spcBef>
            </a:pPr>
            <a:endParaRPr lang="en-JM" dirty="0"/>
          </a:p>
        </p:txBody>
      </p:sp>
    </p:spTree>
    <p:extLst>
      <p:ext uri="{BB962C8B-B14F-4D97-AF65-F5344CB8AC3E}">
        <p14:creationId xmlns:p14="http://schemas.microsoft.com/office/powerpoint/2010/main" val="90841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LEAVE –ME – ALONE/JUST LOOKING</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These customers usually</a:t>
            </a:r>
          </a:p>
          <a:p>
            <a:pPr marL="0" indent="0">
              <a:buNone/>
            </a:pPr>
            <a:endParaRPr lang="en-US" altLang="en-US" dirty="0"/>
          </a:p>
          <a:p>
            <a:pPr lvl="1"/>
            <a:r>
              <a:rPr lang="en-US" altLang="en-US" sz="2200" dirty="0"/>
              <a:t>Let salespeople know right away they don’t need help</a:t>
            </a:r>
          </a:p>
          <a:p>
            <a:pPr lvl="1"/>
            <a:r>
              <a:rPr lang="en-US" altLang="en-US" sz="2200" dirty="0"/>
              <a:t>Prefer making their own decisions</a:t>
            </a:r>
          </a:p>
          <a:p>
            <a:pPr lvl="1"/>
            <a:r>
              <a:rPr lang="en-US" altLang="en-US" sz="2200" dirty="0"/>
              <a:t>May lack information which is needed to make buying decisions</a:t>
            </a:r>
          </a:p>
          <a:p>
            <a:endParaRPr lang="en-JM" dirty="0"/>
          </a:p>
        </p:txBody>
      </p:sp>
      <p:sp>
        <p:nvSpPr>
          <p:cNvPr id="4" name="Content Placeholder 3"/>
          <p:cNvSpPr>
            <a:spLocks noGrp="1"/>
          </p:cNvSpPr>
          <p:nvPr>
            <p:ph sz="half" idx="2"/>
          </p:nvPr>
        </p:nvSpPr>
        <p:spPr/>
        <p:txBody>
          <a:bodyPr/>
          <a:lstStyle/>
          <a:p>
            <a:r>
              <a:rPr lang="en-US" altLang="en-US" dirty="0"/>
              <a:t>You  should:</a:t>
            </a:r>
          </a:p>
          <a:p>
            <a:endParaRPr lang="en-US" altLang="en-US" dirty="0"/>
          </a:p>
          <a:p>
            <a:r>
              <a:rPr lang="en-US" altLang="en-US" dirty="0"/>
              <a:t>Do not pressure or ride this customer</a:t>
            </a:r>
          </a:p>
          <a:p>
            <a:r>
              <a:rPr lang="en-US" altLang="en-US" dirty="0"/>
              <a:t>Stand at a distance</a:t>
            </a:r>
          </a:p>
          <a:p>
            <a:r>
              <a:rPr lang="en-US" altLang="en-US" dirty="0"/>
              <a:t>Watch for shoplifting</a:t>
            </a:r>
          </a:p>
          <a:p>
            <a:r>
              <a:rPr lang="en-US" altLang="en-US" dirty="0"/>
              <a:t>Inform customer that you will be near if he/she needs help</a:t>
            </a:r>
          </a:p>
          <a:p>
            <a:endParaRPr lang="en-JM" dirty="0"/>
          </a:p>
        </p:txBody>
      </p:sp>
    </p:spTree>
    <p:extLst>
      <p:ext uri="{BB962C8B-B14F-4D97-AF65-F5344CB8AC3E}">
        <p14:creationId xmlns:p14="http://schemas.microsoft.com/office/powerpoint/2010/main" val="2408745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DOMINEERING/SUPERIOR/ KNOW IT ALL CUSTOMERS</a:t>
            </a:r>
            <a:endParaRPr lang="en-JM" dirty="0"/>
          </a:p>
        </p:txBody>
      </p:sp>
      <p:sp>
        <p:nvSpPr>
          <p:cNvPr id="3" name="Content Placeholder 2"/>
          <p:cNvSpPr>
            <a:spLocks noGrp="1"/>
          </p:cNvSpPr>
          <p:nvPr>
            <p:ph sz="half" idx="1"/>
          </p:nvPr>
        </p:nvSpPr>
        <p:spPr/>
        <p:txBody>
          <a:bodyPr>
            <a:normAutofit/>
          </a:bodyPr>
          <a:lstStyle/>
          <a:p>
            <a:pPr marL="0" indent="0">
              <a:buNone/>
            </a:pPr>
            <a:r>
              <a:rPr lang="en-US" altLang="en-US" dirty="0"/>
              <a:t>These difficult customers can be:</a:t>
            </a:r>
          </a:p>
          <a:p>
            <a:pPr marL="0" indent="0">
              <a:spcBef>
                <a:spcPts val="0"/>
              </a:spcBef>
              <a:buNone/>
            </a:pPr>
            <a:endParaRPr lang="en-US" altLang="en-US" dirty="0"/>
          </a:p>
          <a:p>
            <a:pPr lvl="1"/>
            <a:r>
              <a:rPr lang="en-US" altLang="en-US" sz="2200" dirty="0"/>
              <a:t>Overbearing</a:t>
            </a:r>
          </a:p>
          <a:p>
            <a:pPr lvl="1"/>
            <a:r>
              <a:rPr lang="en-US" altLang="en-US" sz="2200" dirty="0"/>
              <a:t>Have all the answers and opinion on the subject</a:t>
            </a:r>
          </a:p>
          <a:p>
            <a:pPr lvl="1"/>
            <a:r>
              <a:rPr lang="en-US" altLang="en-US" sz="2200" dirty="0"/>
              <a:t>Overly self-confident</a:t>
            </a:r>
          </a:p>
          <a:p>
            <a:pPr lvl="1"/>
            <a:r>
              <a:rPr lang="en-US" altLang="en-US" sz="2200" dirty="0"/>
              <a:t>Very talkative</a:t>
            </a:r>
          </a:p>
          <a:p>
            <a:pPr lvl="1"/>
            <a:r>
              <a:rPr lang="en-US" altLang="en-US" sz="2200" dirty="0"/>
              <a:t>Pushy</a:t>
            </a:r>
          </a:p>
          <a:p>
            <a:pPr lvl="1"/>
            <a:r>
              <a:rPr lang="en-US" altLang="en-US" sz="2200" dirty="0"/>
              <a:t>Think that they are always right</a:t>
            </a:r>
          </a:p>
          <a:p>
            <a:endParaRPr lang="en-JM" dirty="0"/>
          </a:p>
        </p:txBody>
      </p:sp>
      <p:sp>
        <p:nvSpPr>
          <p:cNvPr id="4" name="Content Placeholder 3"/>
          <p:cNvSpPr>
            <a:spLocks noGrp="1"/>
          </p:cNvSpPr>
          <p:nvPr>
            <p:ph sz="half" idx="2"/>
          </p:nvPr>
        </p:nvSpPr>
        <p:spPr/>
        <p:txBody>
          <a:bodyPr/>
          <a:lstStyle/>
          <a:p>
            <a:pPr marL="0" indent="0">
              <a:spcBef>
                <a:spcPts val="0"/>
              </a:spcBef>
              <a:buNone/>
            </a:pPr>
            <a:r>
              <a:rPr lang="en-US" altLang="en-US" dirty="0"/>
              <a:t>You should:</a:t>
            </a:r>
          </a:p>
          <a:p>
            <a:pPr marL="0" indent="0">
              <a:spcBef>
                <a:spcPts val="0"/>
              </a:spcBef>
              <a:buNone/>
            </a:pPr>
            <a:endParaRPr lang="en-US" altLang="en-US" dirty="0"/>
          </a:p>
          <a:p>
            <a:pPr>
              <a:spcBef>
                <a:spcPts val="600"/>
              </a:spcBef>
            </a:pPr>
            <a:r>
              <a:rPr lang="en-US" altLang="en-US" dirty="0"/>
              <a:t>Let customer do the talking</a:t>
            </a:r>
          </a:p>
          <a:p>
            <a:pPr>
              <a:spcBef>
                <a:spcPts val="600"/>
              </a:spcBef>
            </a:pPr>
            <a:r>
              <a:rPr lang="en-US" altLang="en-US" dirty="0"/>
              <a:t>Will sell himself/herself if handled properly</a:t>
            </a:r>
          </a:p>
          <a:p>
            <a:pPr>
              <a:spcBef>
                <a:spcPts val="600"/>
              </a:spcBef>
            </a:pPr>
            <a:r>
              <a:rPr lang="en-US" altLang="en-US" dirty="0"/>
              <a:t>Let customer’s opinion stand, if acceptable</a:t>
            </a:r>
          </a:p>
          <a:p>
            <a:pPr>
              <a:spcBef>
                <a:spcPts val="600"/>
              </a:spcBef>
            </a:pPr>
            <a:r>
              <a:rPr lang="en-US" altLang="en-US" dirty="0"/>
              <a:t>Don’t argue with customer</a:t>
            </a:r>
          </a:p>
          <a:p>
            <a:pPr marL="0" indent="0">
              <a:spcBef>
                <a:spcPts val="0"/>
              </a:spcBef>
              <a:buNone/>
            </a:pPr>
            <a:endParaRPr lang="en-JM" dirty="0"/>
          </a:p>
        </p:txBody>
      </p:sp>
    </p:spTree>
    <p:extLst>
      <p:ext uri="{BB962C8B-B14F-4D97-AF65-F5344CB8AC3E}">
        <p14:creationId xmlns:p14="http://schemas.microsoft.com/office/powerpoint/2010/main" val="2679410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Cut-the-Price/Thrifty Customers</a:t>
            </a:r>
            <a:endParaRPr lang="en-JM" dirty="0"/>
          </a:p>
        </p:txBody>
      </p:sp>
      <p:sp>
        <p:nvSpPr>
          <p:cNvPr id="3" name="Content Placeholder 2"/>
          <p:cNvSpPr>
            <a:spLocks noGrp="1"/>
          </p:cNvSpPr>
          <p:nvPr>
            <p:ph sz="half" idx="1"/>
          </p:nvPr>
        </p:nvSpPr>
        <p:spPr/>
        <p:txBody>
          <a:bodyPr/>
          <a:lstStyle/>
          <a:p>
            <a:pPr marL="0" indent="0">
              <a:buNone/>
            </a:pPr>
            <a:r>
              <a:rPr lang="en-US" altLang="en-US" dirty="0"/>
              <a:t>This customer…</a:t>
            </a:r>
          </a:p>
          <a:p>
            <a:pPr marL="0" indent="0">
              <a:buNone/>
            </a:pPr>
            <a:endParaRPr lang="en-US" altLang="en-US" dirty="0"/>
          </a:p>
          <a:p>
            <a:r>
              <a:rPr lang="en-US" altLang="en-US" dirty="0"/>
              <a:t>Focus is on saving money</a:t>
            </a:r>
          </a:p>
          <a:p>
            <a:r>
              <a:rPr lang="en-US" altLang="en-US" dirty="0"/>
              <a:t>Looking for the best deal</a:t>
            </a:r>
          </a:p>
          <a:p>
            <a:r>
              <a:rPr lang="en-US" altLang="en-US" dirty="0"/>
              <a:t>Want to feel they are getting a good deal</a:t>
            </a:r>
          </a:p>
          <a:p>
            <a:r>
              <a:rPr lang="en-US" altLang="en-US" dirty="0"/>
              <a:t>Some like to bargain </a:t>
            </a:r>
          </a:p>
          <a:p>
            <a:r>
              <a:rPr lang="en-US" altLang="en-US" dirty="0"/>
              <a:t>Often will try to find fault with product to get to lower price</a:t>
            </a:r>
          </a:p>
          <a:p>
            <a:endParaRPr lang="en-JM" dirty="0"/>
          </a:p>
        </p:txBody>
      </p:sp>
      <p:sp>
        <p:nvSpPr>
          <p:cNvPr id="4" name="Content Placeholder 3"/>
          <p:cNvSpPr>
            <a:spLocks noGrp="1"/>
          </p:cNvSpPr>
          <p:nvPr>
            <p:ph sz="half" idx="2"/>
          </p:nvPr>
        </p:nvSpPr>
        <p:spPr/>
        <p:txBody>
          <a:bodyPr/>
          <a:lstStyle/>
          <a:p>
            <a:pPr marL="0" indent="0">
              <a:buNone/>
            </a:pPr>
            <a:r>
              <a:rPr lang="en-US" altLang="en-US" dirty="0"/>
              <a:t>Service provider…</a:t>
            </a:r>
          </a:p>
          <a:p>
            <a:endParaRPr lang="en-US" altLang="en-US" dirty="0"/>
          </a:p>
          <a:p>
            <a:r>
              <a:rPr lang="en-US" altLang="en-US" dirty="0"/>
              <a:t>Explain store policy</a:t>
            </a:r>
          </a:p>
          <a:p>
            <a:r>
              <a:rPr lang="en-US" altLang="en-US" dirty="0"/>
              <a:t>Guarantee</a:t>
            </a:r>
          </a:p>
          <a:p>
            <a:r>
              <a:rPr lang="en-US" altLang="en-US" dirty="0"/>
              <a:t>Store Services</a:t>
            </a:r>
          </a:p>
          <a:p>
            <a:r>
              <a:rPr lang="en-US" altLang="en-US" dirty="0"/>
              <a:t>One price to all customers</a:t>
            </a:r>
          </a:p>
          <a:p>
            <a:r>
              <a:rPr lang="en-US" altLang="en-US" dirty="0"/>
              <a:t>Fair trade items</a:t>
            </a:r>
          </a:p>
          <a:p>
            <a:r>
              <a:rPr lang="en-US" altLang="en-US" dirty="0"/>
              <a:t>Be friendly and firm</a:t>
            </a:r>
          </a:p>
          <a:p>
            <a:endParaRPr lang="en-JM" dirty="0"/>
          </a:p>
        </p:txBody>
      </p:sp>
    </p:spTree>
    <p:extLst>
      <p:ext uri="{BB962C8B-B14F-4D97-AF65-F5344CB8AC3E}">
        <p14:creationId xmlns:p14="http://schemas.microsoft.com/office/powerpoint/2010/main" val="165357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SLOW/METHODICAL</a:t>
            </a:r>
            <a:endParaRPr lang="en-JM" dirty="0"/>
          </a:p>
        </p:txBody>
      </p:sp>
      <p:sp>
        <p:nvSpPr>
          <p:cNvPr id="3" name="Content Placeholder 2"/>
          <p:cNvSpPr>
            <a:spLocks noGrp="1"/>
          </p:cNvSpPr>
          <p:nvPr>
            <p:ph idx="1"/>
          </p:nvPr>
        </p:nvSpPr>
        <p:spPr/>
        <p:txBody>
          <a:bodyPr>
            <a:noAutofit/>
          </a:bodyPr>
          <a:lstStyle/>
          <a:p>
            <a:pPr marL="0" indent="0">
              <a:buNone/>
            </a:pPr>
            <a:r>
              <a:rPr lang="en-US" altLang="en-US" dirty="0"/>
              <a:t>These customers:</a:t>
            </a:r>
          </a:p>
          <a:p>
            <a:endParaRPr lang="en-US" altLang="en-US" dirty="0"/>
          </a:p>
          <a:p>
            <a:pPr lvl="1"/>
            <a:r>
              <a:rPr lang="en-US" altLang="en-US" sz="2200" dirty="0"/>
              <a:t>Are easy to handle but take lots of time</a:t>
            </a:r>
          </a:p>
          <a:p>
            <a:pPr lvl="1"/>
            <a:r>
              <a:rPr lang="en-US" altLang="en-US" sz="2200" dirty="0"/>
              <a:t>Silent customer</a:t>
            </a:r>
          </a:p>
          <a:p>
            <a:pPr lvl="2"/>
            <a:r>
              <a:rPr lang="en-US" altLang="en-US" sz="2200" dirty="0"/>
              <a:t>Shy, insecure</a:t>
            </a:r>
          </a:p>
          <a:p>
            <a:pPr lvl="2"/>
            <a:r>
              <a:rPr lang="en-US" altLang="en-US" sz="2200" dirty="0"/>
              <a:t>Reluctant to ask questions</a:t>
            </a:r>
          </a:p>
          <a:p>
            <a:pPr lvl="1"/>
            <a:r>
              <a:rPr lang="en-US" altLang="en-US" sz="2200" dirty="0"/>
              <a:t>Indecisive</a:t>
            </a:r>
          </a:p>
          <a:p>
            <a:pPr lvl="2"/>
            <a:r>
              <a:rPr lang="en-US" altLang="en-US" sz="2200" dirty="0"/>
              <a:t>Insecure</a:t>
            </a:r>
          </a:p>
          <a:p>
            <a:pPr lvl="2"/>
            <a:r>
              <a:rPr lang="en-US" altLang="en-US" sz="2200" dirty="0"/>
              <a:t>Make several visits</a:t>
            </a:r>
          </a:p>
          <a:p>
            <a:pPr lvl="2"/>
            <a:r>
              <a:rPr lang="en-US" altLang="en-US" sz="2200" dirty="0"/>
              <a:t>May lack knowledge</a:t>
            </a:r>
          </a:p>
          <a:p>
            <a:pPr lvl="2"/>
            <a:r>
              <a:rPr lang="en-US" altLang="en-US" sz="2200" dirty="0"/>
              <a:t>Changes mind often</a:t>
            </a:r>
          </a:p>
        </p:txBody>
      </p:sp>
    </p:spTree>
    <p:extLst>
      <p:ext uri="{BB962C8B-B14F-4D97-AF65-F5344CB8AC3E}">
        <p14:creationId xmlns:p14="http://schemas.microsoft.com/office/powerpoint/2010/main" val="4194584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DISHONEST</a:t>
            </a:r>
            <a:endParaRPr lang="en-JM" dirty="0"/>
          </a:p>
        </p:txBody>
      </p:sp>
      <p:sp>
        <p:nvSpPr>
          <p:cNvPr id="3" name="Content Placeholder 2"/>
          <p:cNvSpPr>
            <a:spLocks noGrp="1"/>
          </p:cNvSpPr>
          <p:nvPr>
            <p:ph idx="1"/>
          </p:nvPr>
        </p:nvSpPr>
        <p:spPr/>
        <p:txBody>
          <a:bodyPr>
            <a:normAutofit/>
          </a:bodyPr>
          <a:lstStyle/>
          <a:p>
            <a:pPr marL="0" indent="0">
              <a:buNone/>
            </a:pPr>
            <a:r>
              <a:rPr lang="en-US" altLang="en-US" dirty="0"/>
              <a:t>These customers:</a:t>
            </a:r>
          </a:p>
          <a:p>
            <a:pPr marL="0" indent="0">
              <a:buNone/>
            </a:pPr>
            <a:endParaRPr lang="en-US" altLang="en-US" dirty="0"/>
          </a:p>
          <a:p>
            <a:pPr lvl="1"/>
            <a:r>
              <a:rPr lang="en-US" altLang="en-US" sz="2200" dirty="0"/>
              <a:t>Hard to identify</a:t>
            </a:r>
          </a:p>
          <a:p>
            <a:pPr lvl="1"/>
            <a:r>
              <a:rPr lang="en-US" altLang="en-US" sz="2200" dirty="0"/>
              <a:t>Always trying to take advantage of employees</a:t>
            </a:r>
          </a:p>
          <a:p>
            <a:pPr lvl="1"/>
            <a:r>
              <a:rPr lang="en-US" altLang="en-US" sz="2200" dirty="0"/>
              <a:t>Do not pay for products</a:t>
            </a:r>
          </a:p>
          <a:p>
            <a:pPr lvl="1"/>
            <a:r>
              <a:rPr lang="en-US" altLang="en-US" sz="2200" dirty="0"/>
              <a:t>Purchase goods – use them – and return them</a:t>
            </a:r>
          </a:p>
          <a:p>
            <a:pPr lvl="1"/>
            <a:r>
              <a:rPr lang="en-US" altLang="en-US" sz="2200" dirty="0"/>
              <a:t>Switch or alter prices</a:t>
            </a:r>
          </a:p>
          <a:p>
            <a:pPr lvl="1"/>
            <a:r>
              <a:rPr lang="en-US" altLang="en-US" sz="2200" dirty="0"/>
              <a:t>Damage goods and then ask for discounts</a:t>
            </a:r>
          </a:p>
          <a:p>
            <a:endParaRPr lang="en-JM" dirty="0"/>
          </a:p>
        </p:txBody>
      </p:sp>
    </p:spTree>
    <p:extLst>
      <p:ext uri="{BB962C8B-B14F-4D97-AF65-F5344CB8AC3E}">
        <p14:creationId xmlns:p14="http://schemas.microsoft.com/office/powerpoint/2010/main" val="2473428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Creativity and Problem Solving</a:t>
            </a:r>
            <a:endParaRPr lang="en-JM" dirty="0"/>
          </a:p>
        </p:txBody>
      </p:sp>
      <p:sp>
        <p:nvSpPr>
          <p:cNvPr id="3" name="Content Placeholder 2"/>
          <p:cNvSpPr>
            <a:spLocks noGrp="1"/>
          </p:cNvSpPr>
          <p:nvPr>
            <p:ph idx="1"/>
          </p:nvPr>
        </p:nvSpPr>
        <p:spPr/>
        <p:txBody>
          <a:bodyPr>
            <a:normAutofit/>
          </a:bodyPr>
          <a:lstStyle/>
          <a:p>
            <a:pPr algn="just"/>
            <a:r>
              <a:rPr lang="en-US" b="1" dirty="0"/>
              <a:t>Creativity</a:t>
            </a:r>
            <a:r>
              <a:rPr lang="en-US" dirty="0"/>
              <a:t> is the ability to transcend traditional ideas, rules, patterns, relationships, or the like, and to create meaningful new ideas, forms, methods, interpretations, etc.; originality, progressiveness, or imagination.</a:t>
            </a:r>
          </a:p>
          <a:p>
            <a:pPr algn="just"/>
            <a:r>
              <a:rPr lang="en-US" b="1" dirty="0"/>
              <a:t>Problem solving </a:t>
            </a:r>
            <a:r>
              <a:rPr lang="en-US" dirty="0"/>
              <a:t>is the process of working through details of a problem to reach a solution.</a:t>
            </a:r>
          </a:p>
          <a:p>
            <a:pPr algn="just"/>
            <a:r>
              <a:rPr lang="en-US" dirty="0"/>
              <a:t>Problem solving is the act of defining a problem; determining the cause of the problem; identifying, prioritizing and selecting alternatives for a solution; and implementing a solution.</a:t>
            </a:r>
          </a:p>
          <a:p>
            <a:pPr algn="just"/>
            <a:endParaRPr lang="en-JM" dirty="0"/>
          </a:p>
        </p:txBody>
      </p:sp>
    </p:spTree>
    <p:extLst>
      <p:ext uri="{BB962C8B-B14F-4D97-AF65-F5344CB8AC3E}">
        <p14:creationId xmlns:p14="http://schemas.microsoft.com/office/powerpoint/2010/main" val="2844017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Creativity and Problem Solving</a:t>
            </a:r>
            <a:endParaRPr lang="en-JM" dirty="0"/>
          </a:p>
        </p:txBody>
      </p:sp>
      <p:sp>
        <p:nvSpPr>
          <p:cNvPr id="3" name="Content Placeholder 2"/>
          <p:cNvSpPr>
            <a:spLocks noGrp="1"/>
          </p:cNvSpPr>
          <p:nvPr>
            <p:ph idx="1"/>
          </p:nvPr>
        </p:nvSpPr>
        <p:spPr/>
        <p:txBody>
          <a:bodyPr/>
          <a:lstStyle/>
          <a:p>
            <a:pPr algn="just"/>
            <a:r>
              <a:rPr lang="en-US" dirty="0"/>
              <a:t>Creative problem solving suggests that through an open approach to finding solutions, an appropriate and innovative result may be discovered.</a:t>
            </a:r>
          </a:p>
          <a:p>
            <a:pPr algn="just"/>
            <a:r>
              <a:rPr lang="en-US" dirty="0"/>
              <a:t>Customers appreciate creativity. </a:t>
            </a:r>
          </a:p>
          <a:p>
            <a:pPr algn="just"/>
            <a:r>
              <a:rPr lang="en-US" dirty="0"/>
              <a:t>By offering suggestions to customers and to management about innovative ways of solving challenges, customer service providers can share their creativity with others. </a:t>
            </a:r>
          </a:p>
          <a:p>
            <a:pPr algn="just"/>
            <a:r>
              <a:rPr lang="en-US" dirty="0"/>
              <a:t>Problems are opportunities. Criticism provides an opportunity to obtain information. A customer complaint is really a request for action. </a:t>
            </a:r>
          </a:p>
          <a:p>
            <a:pPr algn="just"/>
            <a:r>
              <a:rPr lang="en-US" b="1" dirty="0"/>
              <a:t>Conflict</a:t>
            </a:r>
            <a:r>
              <a:rPr lang="en-US" dirty="0"/>
              <a:t> can be described as a “hostile encounter that occurs as a result of opposing needs or wishes”. </a:t>
            </a:r>
            <a:endParaRPr lang="en-JM" dirty="0"/>
          </a:p>
        </p:txBody>
      </p:sp>
    </p:spTree>
    <p:extLst>
      <p:ext uri="{BB962C8B-B14F-4D97-AF65-F5344CB8AC3E}">
        <p14:creationId xmlns:p14="http://schemas.microsoft.com/office/powerpoint/2010/main" val="2374275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a:bodyPr>
          <a:lstStyle/>
          <a:p>
            <a:r>
              <a:rPr lang="en-US" altLang="en-US" dirty="0"/>
              <a:t>Conflict is productive</a:t>
            </a:r>
          </a:p>
        </p:txBody>
      </p:sp>
      <p:sp>
        <p:nvSpPr>
          <p:cNvPr id="92163" name="Rectangle 3"/>
          <p:cNvSpPr>
            <a:spLocks noGrp="1" noChangeArrowheads="1"/>
          </p:cNvSpPr>
          <p:nvPr>
            <p:ph type="body" idx="1"/>
          </p:nvPr>
        </p:nvSpPr>
        <p:spPr>
          <a:xfrm>
            <a:off x="685800" y="2194560"/>
            <a:ext cx="10820400" cy="4445726"/>
          </a:xfrm>
        </p:spPr>
        <p:txBody>
          <a:bodyPr>
            <a:noAutofit/>
          </a:bodyPr>
          <a:lstStyle/>
          <a:p>
            <a:pPr marL="0" indent="0">
              <a:lnSpc>
                <a:spcPct val="90000"/>
              </a:lnSpc>
              <a:buNone/>
            </a:pPr>
            <a:r>
              <a:rPr lang="en-US" altLang="en-US" dirty="0"/>
              <a:t>When:</a:t>
            </a:r>
          </a:p>
          <a:p>
            <a:pPr>
              <a:lnSpc>
                <a:spcPct val="90000"/>
              </a:lnSpc>
            </a:pPr>
            <a:r>
              <a:rPr lang="en-US" altLang="en-US" dirty="0"/>
              <a:t>Used to create and innovate</a:t>
            </a:r>
          </a:p>
          <a:p>
            <a:pPr>
              <a:lnSpc>
                <a:spcPct val="90000"/>
              </a:lnSpc>
            </a:pPr>
            <a:r>
              <a:rPr lang="en-US" altLang="en-US" dirty="0"/>
              <a:t>The organization develops dispute resolving systems and procedures</a:t>
            </a:r>
          </a:p>
          <a:p>
            <a:pPr>
              <a:lnSpc>
                <a:spcPct val="90000"/>
              </a:lnSpc>
            </a:pPr>
            <a:r>
              <a:rPr lang="en-US" altLang="en-US" dirty="0"/>
              <a:t>We see it as value neutral rather than negative</a:t>
            </a:r>
          </a:p>
          <a:p>
            <a:pPr>
              <a:lnSpc>
                <a:spcPct val="90000"/>
              </a:lnSpc>
            </a:pPr>
            <a:r>
              <a:rPr lang="en-US" altLang="en-US" dirty="0"/>
              <a:t>We use the opportunity for growth</a:t>
            </a:r>
          </a:p>
          <a:p>
            <a:pPr>
              <a:lnSpc>
                <a:spcPct val="90000"/>
              </a:lnSpc>
            </a:pPr>
            <a:r>
              <a:rPr lang="en-US" altLang="en-US" dirty="0"/>
              <a:t>We share new information</a:t>
            </a:r>
          </a:p>
          <a:p>
            <a:r>
              <a:rPr lang="en-US" altLang="en-US" dirty="0"/>
              <a:t>There are new solutions which includes everyone’s perspective</a:t>
            </a:r>
          </a:p>
          <a:p>
            <a:r>
              <a:rPr lang="en-US" altLang="en-US" dirty="0"/>
              <a:t>We separate the people from the problem</a:t>
            </a:r>
          </a:p>
          <a:p>
            <a:r>
              <a:rPr lang="en-US" altLang="en-US" dirty="0"/>
              <a:t>We discover our “hot button” triggers and find effective ways to cool down our reactions</a:t>
            </a:r>
          </a:p>
          <a:p>
            <a:r>
              <a:rPr lang="en-US" altLang="en-US" dirty="0"/>
              <a:t>We learn problem solving skills</a:t>
            </a:r>
          </a:p>
          <a:p>
            <a:pPr>
              <a:lnSpc>
                <a:spcPct val="90000"/>
              </a:lnSpc>
            </a:pPr>
            <a:endParaRPr lang="en-US" altLang="en-US" dirty="0"/>
          </a:p>
          <a:p>
            <a:pPr>
              <a:lnSpc>
                <a:spcPct val="90000"/>
              </a:lnSpc>
            </a:pPr>
            <a:endParaRPr lang="en-US" altLang="en-US" dirty="0"/>
          </a:p>
        </p:txBody>
      </p:sp>
    </p:spTree>
    <p:extLst>
      <p:ext uri="{BB962C8B-B14F-4D97-AF65-F5344CB8AC3E}">
        <p14:creationId xmlns:p14="http://schemas.microsoft.com/office/powerpoint/2010/main" val="2730197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SOLVING PROCESS</a:t>
            </a:r>
            <a:endParaRPr lang="en-JM" dirty="0"/>
          </a:p>
        </p:txBody>
      </p:sp>
      <p:sp>
        <p:nvSpPr>
          <p:cNvPr id="3" name="Content Placeholder 2"/>
          <p:cNvSpPr>
            <a:spLocks noGrp="1"/>
          </p:cNvSpPr>
          <p:nvPr>
            <p:ph idx="1"/>
          </p:nvPr>
        </p:nvSpPr>
        <p:spPr/>
        <p:txBody>
          <a:bodyPr/>
          <a:lstStyle/>
          <a:p>
            <a:r>
              <a:rPr lang="en-JM" dirty="0"/>
              <a:t>Identify the problem </a:t>
            </a:r>
          </a:p>
          <a:p>
            <a:r>
              <a:rPr lang="en-US" dirty="0"/>
              <a:t>Understand the problem’s unique characteristic and the possible outcomes </a:t>
            </a:r>
          </a:p>
          <a:p>
            <a:r>
              <a:rPr lang="en-US" dirty="0"/>
              <a:t>Define the requirements of a possible solution considering the company’s policies </a:t>
            </a:r>
          </a:p>
          <a:p>
            <a:r>
              <a:rPr lang="en-JM" dirty="0"/>
              <a:t>Identify possible solutions </a:t>
            </a:r>
          </a:p>
          <a:p>
            <a:r>
              <a:rPr lang="en-JM" dirty="0"/>
              <a:t>Select the best solution </a:t>
            </a:r>
          </a:p>
          <a:p>
            <a:r>
              <a:rPr lang="en-JM" dirty="0"/>
              <a:t>Implement the solution </a:t>
            </a:r>
          </a:p>
          <a:p>
            <a:r>
              <a:rPr lang="en-US" dirty="0"/>
              <a:t>Observe and evaluate the solution’s impact </a:t>
            </a:r>
          </a:p>
          <a:p>
            <a:endParaRPr lang="en-JM" dirty="0"/>
          </a:p>
        </p:txBody>
      </p:sp>
    </p:spTree>
    <p:extLst>
      <p:ext uri="{BB962C8B-B14F-4D97-AF65-F5344CB8AC3E}">
        <p14:creationId xmlns:p14="http://schemas.microsoft.com/office/powerpoint/2010/main" val="196568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7D705-B8FD-FD9F-06AC-8EEB100B8F22}"/>
              </a:ext>
            </a:extLst>
          </p:cNvPr>
          <p:cNvSpPr>
            <a:spLocks noGrp="1"/>
          </p:cNvSpPr>
          <p:nvPr>
            <p:ph type="title"/>
          </p:nvPr>
        </p:nvSpPr>
        <p:spPr/>
        <p:txBody>
          <a:bodyPr/>
          <a:lstStyle/>
          <a:p>
            <a:r>
              <a:rPr lang="en-US" dirty="0"/>
              <a:t>Problem Solving Process</a:t>
            </a:r>
          </a:p>
        </p:txBody>
      </p:sp>
    </p:spTree>
    <p:extLst>
      <p:ext uri="{BB962C8B-B14F-4D97-AF65-F5344CB8AC3E}">
        <p14:creationId xmlns:p14="http://schemas.microsoft.com/office/powerpoint/2010/main" val="3492253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Solving Strategies</a:t>
            </a:r>
            <a:endParaRPr lang="en-JM" dirty="0"/>
          </a:p>
        </p:txBody>
      </p:sp>
      <p:sp>
        <p:nvSpPr>
          <p:cNvPr id="3" name="Content Placeholder 2"/>
          <p:cNvSpPr>
            <a:spLocks noGrp="1"/>
          </p:cNvSpPr>
          <p:nvPr>
            <p:ph idx="1"/>
          </p:nvPr>
        </p:nvSpPr>
        <p:spPr/>
        <p:txBody>
          <a:bodyPr>
            <a:normAutofit/>
          </a:bodyPr>
          <a:lstStyle/>
          <a:p>
            <a:pPr algn="just"/>
            <a:r>
              <a:rPr lang="en-US" dirty="0"/>
              <a:t>Brainstorming: a problem solving strategy that can be used by groups of two or more.</a:t>
            </a:r>
          </a:p>
          <a:p>
            <a:pPr algn="just"/>
            <a:r>
              <a:rPr lang="en-US" dirty="0"/>
              <a:t>Diagramming: a strategy for problem solving that provides a visual representation of the problem and the facts related to it.</a:t>
            </a:r>
          </a:p>
          <a:p>
            <a:pPr lvl="1" algn="just"/>
            <a:r>
              <a:rPr lang="en-US" sz="2200" dirty="0"/>
              <a:t>Pro/con sheets: a simple approach to diagramming a problem that involves recording the arguments for and against a solution. </a:t>
            </a:r>
          </a:p>
          <a:p>
            <a:pPr lvl="1" algn="just"/>
            <a:r>
              <a:rPr lang="en-US" sz="2200" dirty="0"/>
              <a:t>Flowcharts: a diagramming approach to problem solving that charts each step of a process to assist in determining why a problem is occurring. </a:t>
            </a:r>
          </a:p>
          <a:p>
            <a:pPr algn="just"/>
            <a:endParaRPr lang="en-JM" dirty="0"/>
          </a:p>
        </p:txBody>
      </p:sp>
    </p:spTree>
    <p:extLst>
      <p:ext uri="{BB962C8B-B14F-4D97-AF65-F5344CB8AC3E}">
        <p14:creationId xmlns:p14="http://schemas.microsoft.com/office/powerpoint/2010/main" val="452236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PROBLEM SOLVING</a:t>
            </a:r>
            <a:endParaRPr lang="en-JM" dirty="0"/>
          </a:p>
        </p:txBody>
      </p:sp>
      <p:sp>
        <p:nvSpPr>
          <p:cNvPr id="3" name="Content Placeholder 2"/>
          <p:cNvSpPr>
            <a:spLocks noGrp="1"/>
          </p:cNvSpPr>
          <p:nvPr>
            <p:ph idx="1"/>
          </p:nvPr>
        </p:nvSpPr>
        <p:spPr/>
        <p:txBody>
          <a:bodyPr/>
          <a:lstStyle/>
          <a:p>
            <a:r>
              <a:rPr lang="en-JM" dirty="0"/>
              <a:t>Resistance to change</a:t>
            </a:r>
          </a:p>
          <a:p>
            <a:r>
              <a:rPr lang="en-JM" dirty="0"/>
              <a:t>Habits</a:t>
            </a:r>
          </a:p>
          <a:p>
            <a:r>
              <a:rPr lang="en-JM" dirty="0"/>
              <a:t>Individual insecurity</a:t>
            </a:r>
          </a:p>
          <a:p>
            <a:r>
              <a:rPr lang="en-JM" dirty="0"/>
              <a:t>Past history</a:t>
            </a:r>
          </a:p>
          <a:p>
            <a:r>
              <a:rPr lang="en-JM" dirty="0"/>
              <a:t>Fear of success or failure</a:t>
            </a:r>
          </a:p>
          <a:p>
            <a:r>
              <a:rPr lang="en-JM" dirty="0"/>
              <a:t>Jumping to conclusions</a:t>
            </a:r>
          </a:p>
          <a:p>
            <a:r>
              <a:rPr lang="en-JM" dirty="0"/>
              <a:t>Perceptions</a:t>
            </a:r>
          </a:p>
        </p:txBody>
      </p:sp>
    </p:spTree>
    <p:extLst>
      <p:ext uri="{BB962C8B-B14F-4D97-AF65-F5344CB8AC3E}">
        <p14:creationId xmlns:p14="http://schemas.microsoft.com/office/powerpoint/2010/main" val="1149661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complaint</a:t>
            </a:r>
            <a:endParaRPr lang="en-JM" dirty="0"/>
          </a:p>
        </p:txBody>
      </p:sp>
      <p:sp>
        <p:nvSpPr>
          <p:cNvPr id="3" name="Content Placeholder 2"/>
          <p:cNvSpPr>
            <a:spLocks noGrp="1"/>
          </p:cNvSpPr>
          <p:nvPr>
            <p:ph idx="1"/>
          </p:nvPr>
        </p:nvSpPr>
        <p:spPr/>
        <p:txBody>
          <a:bodyPr>
            <a:normAutofit/>
          </a:bodyPr>
          <a:lstStyle/>
          <a:p>
            <a:pPr marL="0" indent="0">
              <a:buNone/>
            </a:pPr>
            <a:r>
              <a:rPr lang="en-US" dirty="0"/>
              <a:t>An expression of dissatisfaction made to an organization, related to its products or services, or the complaints-handling process itself, where a response or resolution is explicitly or implicitly expected</a:t>
            </a:r>
          </a:p>
          <a:p>
            <a:endParaRPr lang="en-JM" dirty="0"/>
          </a:p>
        </p:txBody>
      </p:sp>
    </p:spTree>
    <p:extLst>
      <p:ext uri="{BB962C8B-B14F-4D97-AF65-F5344CB8AC3E}">
        <p14:creationId xmlns:p14="http://schemas.microsoft.com/office/powerpoint/2010/main" val="4266675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Complaints are gifts</a:t>
            </a:r>
            <a:endParaRPr lang="en-JM" dirty="0"/>
          </a:p>
        </p:txBody>
      </p:sp>
      <p:sp>
        <p:nvSpPr>
          <p:cNvPr id="3" name="Content Placeholder 2"/>
          <p:cNvSpPr>
            <a:spLocks noGrp="1"/>
          </p:cNvSpPr>
          <p:nvPr>
            <p:ph idx="1"/>
          </p:nvPr>
        </p:nvSpPr>
        <p:spPr/>
        <p:txBody>
          <a:bodyPr>
            <a:normAutofit fontScale="92500"/>
          </a:bodyPr>
          <a:lstStyle/>
          <a:p>
            <a:pPr marL="0" indent="0" algn="just">
              <a:buNone/>
            </a:pPr>
            <a:r>
              <a:rPr lang="en-US" sz="2400" dirty="0"/>
              <a:t>Complaints are gift packages waiting to be opened because they:</a:t>
            </a:r>
          </a:p>
          <a:p>
            <a:pPr marL="644843" lvl="1" indent="-342900" algn="just"/>
            <a:r>
              <a:rPr lang="en-US" sz="2400" dirty="0"/>
              <a:t>Are given freely</a:t>
            </a:r>
          </a:p>
          <a:p>
            <a:pPr marL="644843" lvl="1" indent="-342900" algn="just"/>
            <a:r>
              <a:rPr lang="en-US" sz="2400" dirty="0"/>
              <a:t>Are not solicited by the recipient organization</a:t>
            </a:r>
          </a:p>
          <a:p>
            <a:pPr marL="644843" lvl="1" indent="-342900" algn="just"/>
            <a:r>
              <a:rPr lang="en-US" sz="2400" dirty="0"/>
              <a:t>Are unexpected…they come as a surprise (usually)</a:t>
            </a:r>
          </a:p>
          <a:p>
            <a:pPr marL="644843" lvl="1" indent="-342900" algn="just"/>
            <a:r>
              <a:rPr lang="en-US" sz="2400" dirty="0"/>
              <a:t>Hold the key to happiness for the recipient organization if they are well handled</a:t>
            </a:r>
          </a:p>
          <a:p>
            <a:pPr marL="0" indent="0" algn="just">
              <a:buNone/>
            </a:pPr>
            <a:r>
              <a:rPr lang="en-US" sz="2400" dirty="0"/>
              <a:t>A complaint gives you:</a:t>
            </a:r>
          </a:p>
          <a:p>
            <a:pPr marL="644843" lvl="1" indent="-342900" algn="just"/>
            <a:r>
              <a:rPr lang="en-US" sz="2400" dirty="0"/>
              <a:t>Free direct communication from the customer about service failures, competitors offerings etc. without the added cost of conducting a survey</a:t>
            </a:r>
          </a:p>
          <a:p>
            <a:pPr marL="644843" lvl="1" indent="-342900" algn="just"/>
            <a:r>
              <a:rPr lang="en-US" sz="2400" dirty="0"/>
              <a:t>Readily available market research: they define what customers want</a:t>
            </a:r>
          </a:p>
          <a:p>
            <a:pPr marL="911543" lvl="1" indent="-609600"/>
            <a:endParaRPr lang="en-US" sz="2400" dirty="0"/>
          </a:p>
        </p:txBody>
      </p:sp>
    </p:spTree>
    <p:extLst>
      <p:ext uri="{BB962C8B-B14F-4D97-AF65-F5344CB8AC3E}">
        <p14:creationId xmlns:p14="http://schemas.microsoft.com/office/powerpoint/2010/main" val="2925161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Complaints are gifts</a:t>
            </a:r>
            <a:endParaRPr lang="en-JM" dirty="0"/>
          </a:p>
        </p:txBody>
      </p:sp>
      <p:sp>
        <p:nvSpPr>
          <p:cNvPr id="3" name="Content Placeholder 2"/>
          <p:cNvSpPr>
            <a:spLocks noGrp="1"/>
          </p:cNvSpPr>
          <p:nvPr>
            <p:ph idx="1"/>
          </p:nvPr>
        </p:nvSpPr>
        <p:spPr>
          <a:xfrm>
            <a:off x="685800" y="2183674"/>
            <a:ext cx="10820400" cy="4024125"/>
          </a:xfrm>
        </p:spPr>
        <p:txBody>
          <a:bodyPr>
            <a:normAutofit/>
          </a:bodyPr>
          <a:lstStyle/>
          <a:p>
            <a:pPr marL="301943" lvl="1" indent="0">
              <a:buNone/>
            </a:pPr>
            <a:r>
              <a:rPr lang="en-US" sz="2200" dirty="0"/>
              <a:t>A complaint gives you the opportunity to:</a:t>
            </a:r>
          </a:p>
          <a:p>
            <a:pPr marL="924243" lvl="2" indent="-342900"/>
            <a:r>
              <a:rPr lang="en-US" sz="2200" dirty="0"/>
              <a:t>Increase customer trust</a:t>
            </a:r>
          </a:p>
          <a:p>
            <a:pPr marL="924243" lvl="2" indent="-342900"/>
            <a:r>
              <a:rPr lang="en-US" sz="2200" dirty="0"/>
              <a:t>Build long term relationships -</a:t>
            </a:r>
          </a:p>
          <a:p>
            <a:pPr marL="1211580" lvl="3" indent="-342900"/>
            <a:r>
              <a:rPr lang="en-US" sz="2200" dirty="0"/>
              <a:t>customers will use your services again if they believe complaints are welcomed and addressed</a:t>
            </a:r>
          </a:p>
          <a:p>
            <a:pPr marL="924243" lvl="2" indent="-342900"/>
            <a:r>
              <a:rPr lang="en-US" sz="2200" dirty="0"/>
              <a:t>Rectify service failures</a:t>
            </a:r>
          </a:p>
          <a:p>
            <a:pPr marL="924243" lvl="2" indent="-342900"/>
            <a:r>
              <a:rPr lang="en-US" sz="2200" dirty="0"/>
              <a:t>Engage customers as advocates</a:t>
            </a:r>
          </a:p>
        </p:txBody>
      </p:sp>
    </p:spTree>
    <p:extLst>
      <p:ext uri="{BB962C8B-B14F-4D97-AF65-F5344CB8AC3E}">
        <p14:creationId xmlns:p14="http://schemas.microsoft.com/office/powerpoint/2010/main" val="395991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customer’s needs</a:t>
            </a:r>
            <a:endParaRPr lang="en-JM" dirty="0"/>
          </a:p>
        </p:txBody>
      </p:sp>
      <p:sp>
        <p:nvSpPr>
          <p:cNvPr id="3" name="Content Placeholder 2"/>
          <p:cNvSpPr>
            <a:spLocks noGrp="1"/>
          </p:cNvSpPr>
          <p:nvPr>
            <p:ph idx="1"/>
          </p:nvPr>
        </p:nvSpPr>
        <p:spPr/>
        <p:txBody>
          <a:bodyPr/>
          <a:lstStyle/>
          <a:p>
            <a:pPr algn="just">
              <a:lnSpc>
                <a:spcPct val="80000"/>
              </a:lnSpc>
            </a:pPr>
            <a:r>
              <a:rPr lang="en-US" dirty="0"/>
              <a:t>Needs relating to the complaint</a:t>
            </a:r>
          </a:p>
          <a:p>
            <a:pPr lvl="1" algn="just">
              <a:lnSpc>
                <a:spcPct val="80000"/>
              </a:lnSpc>
            </a:pPr>
            <a:r>
              <a:rPr lang="en-US" sz="2200" dirty="0"/>
              <a:t>To have their concern dealt with quickly, fairly and properly</a:t>
            </a:r>
          </a:p>
          <a:p>
            <a:pPr lvl="1" algn="just">
              <a:lnSpc>
                <a:spcPct val="80000"/>
              </a:lnSpc>
            </a:pPr>
            <a:r>
              <a:rPr lang="en-US" sz="2200" dirty="0"/>
              <a:t>To be given what they have been denied and perhaps an apology</a:t>
            </a:r>
          </a:p>
          <a:p>
            <a:pPr lvl="1" algn="just">
              <a:lnSpc>
                <a:spcPct val="80000"/>
              </a:lnSpc>
            </a:pPr>
            <a:r>
              <a:rPr lang="en-US" sz="2200" dirty="0"/>
              <a:t>To have action taken to rectify a problem or address a concern</a:t>
            </a:r>
          </a:p>
          <a:p>
            <a:pPr marL="1079500" lvl="2" indent="-342900" algn="just">
              <a:lnSpc>
                <a:spcPct val="80000"/>
              </a:lnSpc>
            </a:pPr>
            <a:r>
              <a:rPr lang="en-US" sz="2200" dirty="0"/>
              <a:t>a resultant process change</a:t>
            </a:r>
          </a:p>
          <a:p>
            <a:pPr lvl="2" algn="just">
              <a:lnSpc>
                <a:spcPct val="80000"/>
              </a:lnSpc>
            </a:pPr>
            <a:endParaRPr lang="en-US" sz="2200" dirty="0"/>
          </a:p>
          <a:p>
            <a:pPr algn="just">
              <a:lnSpc>
                <a:spcPct val="80000"/>
              </a:lnSpc>
            </a:pPr>
            <a:r>
              <a:rPr lang="en-US" dirty="0"/>
              <a:t>Needs as individuals</a:t>
            </a:r>
          </a:p>
          <a:p>
            <a:pPr lvl="1" algn="just">
              <a:lnSpc>
                <a:spcPct val="80000"/>
              </a:lnSpc>
            </a:pPr>
            <a:r>
              <a:rPr lang="en-US" sz="2200" dirty="0"/>
              <a:t>To be heard</a:t>
            </a:r>
          </a:p>
          <a:p>
            <a:pPr lvl="1" algn="just">
              <a:lnSpc>
                <a:spcPct val="80000"/>
              </a:lnSpc>
            </a:pPr>
            <a:r>
              <a:rPr lang="en-US" sz="2200" dirty="0"/>
              <a:t>To be understood</a:t>
            </a:r>
          </a:p>
          <a:p>
            <a:pPr lvl="1" algn="just">
              <a:lnSpc>
                <a:spcPct val="80000"/>
              </a:lnSpc>
            </a:pPr>
            <a:r>
              <a:rPr lang="en-US" sz="2200" dirty="0"/>
              <a:t>To be respected</a:t>
            </a:r>
          </a:p>
        </p:txBody>
      </p:sp>
    </p:spTree>
    <p:extLst>
      <p:ext uri="{BB962C8B-B14F-4D97-AF65-F5344CB8AC3E}">
        <p14:creationId xmlns:p14="http://schemas.microsoft.com/office/powerpoint/2010/main" val="3018765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complaints</a:t>
            </a:r>
            <a:endParaRPr lang="en-JM" dirty="0"/>
          </a:p>
        </p:txBody>
      </p:sp>
      <p:sp>
        <p:nvSpPr>
          <p:cNvPr id="3" name="Content Placeholder 2"/>
          <p:cNvSpPr>
            <a:spLocks noGrp="1"/>
          </p:cNvSpPr>
          <p:nvPr>
            <p:ph idx="1"/>
          </p:nvPr>
        </p:nvSpPr>
        <p:spPr/>
        <p:txBody>
          <a:bodyPr>
            <a:noAutofit/>
          </a:bodyPr>
          <a:lstStyle/>
          <a:p>
            <a:pPr marL="155257" indent="0">
              <a:buNone/>
            </a:pPr>
            <a:r>
              <a:rPr lang="en-US" dirty="0"/>
              <a:t>In making complaints, some customers portray the following characteristics</a:t>
            </a:r>
          </a:p>
          <a:p>
            <a:pPr lvl="1"/>
            <a:r>
              <a:rPr lang="en-US" sz="2200" dirty="0"/>
              <a:t>Lack of gracious social skills to communicate properly</a:t>
            </a:r>
          </a:p>
          <a:p>
            <a:pPr lvl="1"/>
            <a:r>
              <a:rPr lang="en-US" sz="2200" dirty="0"/>
              <a:t>Nervousness</a:t>
            </a:r>
          </a:p>
          <a:p>
            <a:pPr lvl="1"/>
            <a:r>
              <a:rPr lang="en-US" sz="2200" dirty="0"/>
              <a:t>Harshness</a:t>
            </a:r>
          </a:p>
          <a:p>
            <a:pPr lvl="1"/>
            <a:r>
              <a:rPr lang="en-US" sz="2200" dirty="0"/>
              <a:t>Very Emotional</a:t>
            </a:r>
          </a:p>
          <a:p>
            <a:pPr lvl="1"/>
            <a:r>
              <a:rPr lang="en-US" sz="2200" dirty="0"/>
              <a:t>Lack understanding of you or your organization’s limitations </a:t>
            </a:r>
          </a:p>
          <a:p>
            <a:pPr lvl="1"/>
            <a:r>
              <a:rPr lang="en-US" sz="2200" dirty="0"/>
              <a:t>Rudeness</a:t>
            </a:r>
          </a:p>
          <a:p>
            <a:pPr lvl="1"/>
            <a:r>
              <a:rPr lang="en-US" sz="2200" dirty="0"/>
              <a:t>Unreasonableness</a:t>
            </a:r>
          </a:p>
          <a:p>
            <a:pPr marL="457200" lvl="1" indent="0">
              <a:buNone/>
            </a:pPr>
            <a:endParaRPr lang="en-US" sz="2200" dirty="0"/>
          </a:p>
          <a:p>
            <a:pPr marL="333057" indent="0" algn="just">
              <a:buNone/>
            </a:pPr>
            <a:r>
              <a:rPr lang="en-US" dirty="0"/>
              <a:t>We need to learn to expect such </a:t>
            </a:r>
            <a:r>
              <a:rPr lang="en-US" dirty="0" err="1"/>
              <a:t>behaviour</a:t>
            </a:r>
            <a:r>
              <a:rPr lang="en-US" dirty="0"/>
              <a:t> and remember however that a complaint is evidence that, in the customer’s view, we have not met their expectations.</a:t>
            </a:r>
          </a:p>
          <a:p>
            <a:pPr marL="914400" lvl="2" indent="0" algn="ctr">
              <a:buNone/>
            </a:pPr>
            <a:endParaRPr lang="en-US" sz="2200" dirty="0"/>
          </a:p>
          <a:p>
            <a:pPr marL="457200" lvl="1" indent="0" algn="ctr">
              <a:buNone/>
            </a:pPr>
            <a:endParaRPr lang="en-US" sz="2200" dirty="0"/>
          </a:p>
          <a:p>
            <a:pPr marL="914400" lvl="2" indent="0" algn="ctr">
              <a:buNone/>
            </a:pPr>
            <a:endParaRPr lang="en-US" sz="2200" dirty="0"/>
          </a:p>
          <a:p>
            <a:pPr marL="0" indent="0">
              <a:buNone/>
            </a:pPr>
            <a:endParaRPr lang="en-US" dirty="0"/>
          </a:p>
          <a:p>
            <a:pPr marL="0" indent="0">
              <a:buNone/>
            </a:pPr>
            <a:endParaRPr lang="en-US" dirty="0"/>
          </a:p>
          <a:p>
            <a:pPr marL="0" indent="0">
              <a:buNone/>
            </a:pPr>
            <a:endParaRPr lang="en-US" dirty="0"/>
          </a:p>
          <a:p>
            <a:pPr marL="0" indent="0">
              <a:buNone/>
            </a:pPr>
            <a:endParaRPr lang="en-JM" dirty="0"/>
          </a:p>
        </p:txBody>
      </p:sp>
    </p:spTree>
    <p:extLst>
      <p:ext uri="{BB962C8B-B14F-4D97-AF65-F5344CB8AC3E}">
        <p14:creationId xmlns:p14="http://schemas.microsoft.com/office/powerpoint/2010/main" val="496107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09799" y="533400"/>
            <a:ext cx="8817429" cy="1219200"/>
          </a:xfrm>
          <a:noFill/>
          <a:ln/>
        </p:spPr>
        <p:txBody>
          <a:bodyPr>
            <a:normAutofit/>
          </a:bodyPr>
          <a:lstStyle/>
          <a:p>
            <a:r>
              <a:rPr lang="en-US" dirty="0"/>
              <a:t>How to Handle Complaints</a:t>
            </a:r>
            <a:endParaRPr lang="en-GB" dirty="0"/>
          </a:p>
        </p:txBody>
      </p:sp>
      <p:sp>
        <p:nvSpPr>
          <p:cNvPr id="23555" name="Rectangle 3"/>
          <p:cNvSpPr>
            <a:spLocks noGrp="1" noChangeArrowheads="1"/>
          </p:cNvSpPr>
          <p:nvPr>
            <p:ph sz="quarter" idx="4294967295"/>
          </p:nvPr>
        </p:nvSpPr>
        <p:spPr>
          <a:xfrm>
            <a:off x="1016000" y="2286000"/>
            <a:ext cx="4495800" cy="3867150"/>
          </a:xfrm>
          <a:prstGeom prst="rect">
            <a:avLst/>
          </a:prstGeom>
          <a:noFill/>
          <a:ln/>
        </p:spPr>
        <p:txBody>
          <a:bodyPr/>
          <a:lstStyle/>
          <a:p>
            <a:r>
              <a:rPr lang="en-GB" dirty="0"/>
              <a:t>Listen</a:t>
            </a:r>
          </a:p>
          <a:p>
            <a:r>
              <a:rPr lang="en-GB" dirty="0"/>
              <a:t>Repeat</a:t>
            </a:r>
          </a:p>
          <a:p>
            <a:r>
              <a:rPr lang="en-GB" dirty="0"/>
              <a:t>Apologise</a:t>
            </a:r>
          </a:p>
          <a:p>
            <a:r>
              <a:rPr lang="en-GB" dirty="0"/>
              <a:t>Acknowledge</a:t>
            </a:r>
          </a:p>
          <a:p>
            <a:r>
              <a:rPr lang="en-GB" dirty="0"/>
              <a:t>Explain action</a:t>
            </a:r>
          </a:p>
          <a:p>
            <a:r>
              <a:rPr lang="en-GB" dirty="0"/>
              <a:t>Thank</a:t>
            </a:r>
          </a:p>
          <a:p>
            <a:r>
              <a:rPr lang="en-GB" dirty="0"/>
              <a:t>Follow up</a:t>
            </a:r>
          </a:p>
        </p:txBody>
      </p:sp>
      <p:sp>
        <p:nvSpPr>
          <p:cNvPr id="23556" name="Rectangle 4"/>
          <p:cNvSpPr>
            <a:spLocks noGrp="1" noChangeArrowheads="1"/>
          </p:cNvSpPr>
          <p:nvPr>
            <p:ph sz="quarter" idx="4294967295"/>
          </p:nvPr>
        </p:nvSpPr>
        <p:spPr>
          <a:xfrm>
            <a:off x="6426200" y="2286000"/>
            <a:ext cx="3810000" cy="4038600"/>
          </a:xfrm>
          <a:prstGeom prst="rect">
            <a:avLst/>
          </a:prstGeom>
          <a:noFill/>
          <a:ln/>
        </p:spPr>
        <p:txBody>
          <a:bodyPr/>
          <a:lstStyle/>
          <a:p>
            <a:r>
              <a:rPr lang="en-GB" dirty="0"/>
              <a:t>Remember not to take it personally</a:t>
            </a:r>
          </a:p>
          <a:p>
            <a:r>
              <a:rPr lang="en-GB" dirty="0"/>
              <a:t>Remain calm</a:t>
            </a:r>
          </a:p>
          <a:p>
            <a:r>
              <a:rPr lang="en-GB" dirty="0"/>
              <a:t>Focus on the problem and not person</a:t>
            </a:r>
          </a:p>
          <a:p>
            <a:r>
              <a:rPr lang="en-GB" dirty="0"/>
              <a:t>Turn unhappy people into happy customers</a:t>
            </a:r>
          </a:p>
        </p:txBody>
      </p:sp>
    </p:spTree>
    <p:extLst>
      <p:ext uri="{BB962C8B-B14F-4D97-AF65-F5344CB8AC3E}">
        <p14:creationId xmlns:p14="http://schemas.microsoft.com/office/powerpoint/2010/main" val="6464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5">
                                            <p:bg/>
                                          </p:spTgt>
                                        </p:tgtEl>
                                        <p:attrNameLst>
                                          <p:attrName>style.visibility</p:attrName>
                                        </p:attrNameLst>
                                      </p:cBhvr>
                                      <p:to>
                                        <p:strVal val="visible"/>
                                      </p:to>
                                    </p:set>
                                    <p:anim calcmode="lin" valueType="num">
                                      <p:cBhvr additive="base">
                                        <p:cTn id="7" dur="500" fill="hold"/>
                                        <p:tgtEl>
                                          <p:spTgt spid="23555">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xEl>
                                              <p:pRg st="0" end="0"/>
                                            </p:txEl>
                                          </p:spTgt>
                                        </p:tgtEl>
                                        <p:attrNameLst>
                                          <p:attrName>style.visibility</p:attrName>
                                        </p:attrNameLst>
                                      </p:cBhvr>
                                      <p:to>
                                        <p:strVal val="visible"/>
                                      </p:to>
                                    </p:set>
                                    <p:anim calcmode="lin" valueType="num">
                                      <p:cBhvr additive="base">
                                        <p:cTn id="13"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5">
                                            <p:txEl>
                                              <p:pRg st="1" end="1"/>
                                            </p:txEl>
                                          </p:spTgt>
                                        </p:tgtEl>
                                        <p:attrNameLst>
                                          <p:attrName>style.visibility</p:attrName>
                                        </p:attrNameLst>
                                      </p:cBhvr>
                                      <p:to>
                                        <p:strVal val="visible"/>
                                      </p:to>
                                    </p:set>
                                    <p:anim calcmode="lin" valueType="num">
                                      <p:cBhvr additive="base">
                                        <p:cTn id="19"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5">
                                            <p:txEl>
                                              <p:pRg st="2" end="2"/>
                                            </p:txEl>
                                          </p:spTgt>
                                        </p:tgtEl>
                                        <p:attrNameLst>
                                          <p:attrName>style.visibility</p:attrName>
                                        </p:attrNameLst>
                                      </p:cBhvr>
                                      <p:to>
                                        <p:strVal val="visible"/>
                                      </p:to>
                                    </p:set>
                                    <p:anim calcmode="lin" valueType="num">
                                      <p:cBhvr additive="base">
                                        <p:cTn id="25"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55">
                                            <p:txEl>
                                              <p:pRg st="3" end="3"/>
                                            </p:txEl>
                                          </p:spTgt>
                                        </p:tgtEl>
                                        <p:attrNameLst>
                                          <p:attrName>style.visibility</p:attrName>
                                        </p:attrNameLst>
                                      </p:cBhvr>
                                      <p:to>
                                        <p:strVal val="visible"/>
                                      </p:to>
                                    </p:set>
                                    <p:anim calcmode="lin" valueType="num">
                                      <p:cBhvr additive="base">
                                        <p:cTn id="31"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3555">
                                            <p:txEl>
                                              <p:pRg st="4" end="4"/>
                                            </p:txEl>
                                          </p:spTgt>
                                        </p:tgtEl>
                                        <p:attrNameLst>
                                          <p:attrName>style.visibility</p:attrName>
                                        </p:attrNameLst>
                                      </p:cBhvr>
                                      <p:to>
                                        <p:strVal val="visible"/>
                                      </p:to>
                                    </p:set>
                                    <p:anim calcmode="lin" valueType="num">
                                      <p:cBhvr additive="base">
                                        <p:cTn id="37"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3555">
                                            <p:txEl>
                                              <p:pRg st="5" end="5"/>
                                            </p:txEl>
                                          </p:spTgt>
                                        </p:tgtEl>
                                        <p:attrNameLst>
                                          <p:attrName>style.visibility</p:attrName>
                                        </p:attrNameLst>
                                      </p:cBhvr>
                                      <p:to>
                                        <p:strVal val="visible"/>
                                      </p:to>
                                    </p:set>
                                    <p:anim calcmode="lin" valueType="num">
                                      <p:cBhvr additive="base">
                                        <p:cTn id="43"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5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3555">
                                            <p:txEl>
                                              <p:pRg st="6" end="6"/>
                                            </p:txEl>
                                          </p:spTgt>
                                        </p:tgtEl>
                                        <p:attrNameLst>
                                          <p:attrName>style.visibility</p:attrName>
                                        </p:attrNameLst>
                                      </p:cBhvr>
                                      <p:to>
                                        <p:strVal val="visible"/>
                                      </p:to>
                                    </p:set>
                                    <p:anim calcmode="lin" valueType="num">
                                      <p:cBhvr additive="base">
                                        <p:cTn id="49" dur="5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35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3556">
                                            <p:bg/>
                                          </p:spTgt>
                                        </p:tgtEl>
                                        <p:attrNameLst>
                                          <p:attrName>style.visibility</p:attrName>
                                        </p:attrNameLst>
                                      </p:cBhvr>
                                      <p:to>
                                        <p:strVal val="visible"/>
                                      </p:to>
                                    </p:set>
                                    <p:anim calcmode="lin" valueType="num">
                                      <p:cBhvr additive="base">
                                        <p:cTn id="55" dur="500" fill="hold"/>
                                        <p:tgtEl>
                                          <p:spTgt spid="23556">
                                            <p:bg/>
                                          </p:spTgt>
                                        </p:tgtEl>
                                        <p:attrNameLst>
                                          <p:attrName>ppt_x</p:attrName>
                                        </p:attrNameLst>
                                      </p:cBhvr>
                                      <p:tavLst>
                                        <p:tav tm="0">
                                          <p:val>
                                            <p:strVal val="#ppt_x"/>
                                          </p:val>
                                        </p:tav>
                                        <p:tav tm="100000">
                                          <p:val>
                                            <p:strVal val="#ppt_x"/>
                                          </p:val>
                                        </p:tav>
                                      </p:tavLst>
                                    </p:anim>
                                    <p:anim calcmode="lin" valueType="num">
                                      <p:cBhvr additive="base">
                                        <p:cTn id="56" dur="500" fill="hold"/>
                                        <p:tgtEl>
                                          <p:spTgt spid="23556">
                                            <p:bg/>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3556">
                                            <p:txEl>
                                              <p:pRg st="0" end="0"/>
                                            </p:txEl>
                                          </p:spTgt>
                                        </p:tgtEl>
                                        <p:attrNameLst>
                                          <p:attrName>style.visibility</p:attrName>
                                        </p:attrNameLst>
                                      </p:cBhvr>
                                      <p:to>
                                        <p:strVal val="visible"/>
                                      </p:to>
                                    </p:set>
                                    <p:anim calcmode="lin" valueType="num">
                                      <p:cBhvr additive="base">
                                        <p:cTn id="61"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3556">
                                            <p:txEl>
                                              <p:pRg st="1" end="1"/>
                                            </p:txEl>
                                          </p:spTgt>
                                        </p:tgtEl>
                                        <p:attrNameLst>
                                          <p:attrName>style.visibility</p:attrName>
                                        </p:attrNameLst>
                                      </p:cBhvr>
                                      <p:to>
                                        <p:strVal val="visible"/>
                                      </p:to>
                                    </p:set>
                                    <p:anim calcmode="lin" valueType="num">
                                      <p:cBhvr additive="base">
                                        <p:cTn id="67"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3556">
                                            <p:txEl>
                                              <p:pRg st="2" end="2"/>
                                            </p:txEl>
                                          </p:spTgt>
                                        </p:tgtEl>
                                        <p:attrNameLst>
                                          <p:attrName>style.visibility</p:attrName>
                                        </p:attrNameLst>
                                      </p:cBhvr>
                                      <p:to>
                                        <p:strVal val="visible"/>
                                      </p:to>
                                    </p:set>
                                    <p:anim calcmode="lin" valueType="num">
                                      <p:cBhvr additive="base">
                                        <p:cTn id="73"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3556">
                                            <p:txEl>
                                              <p:pRg st="3" end="3"/>
                                            </p:txEl>
                                          </p:spTgt>
                                        </p:tgtEl>
                                        <p:attrNameLst>
                                          <p:attrName>style.visibility</p:attrName>
                                        </p:attrNameLst>
                                      </p:cBhvr>
                                      <p:to>
                                        <p:strVal val="visible"/>
                                      </p:to>
                                    </p:set>
                                    <p:anim calcmode="lin" valueType="num">
                                      <p:cBhvr additive="base">
                                        <p:cTn id="79"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nimBg="1"/>
      <p:bldP spid="23556"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1143000" y="2209800"/>
            <a:ext cx="9144000" cy="4343400"/>
          </a:xfrm>
        </p:spPr>
        <p:txBody>
          <a:bodyPr>
            <a:normAutofit/>
          </a:bodyPr>
          <a:lstStyle/>
          <a:p>
            <a:pPr algn="just" eaLnBrk="1" hangingPunct="1">
              <a:lnSpc>
                <a:spcPct val="90000"/>
              </a:lnSpc>
            </a:pPr>
            <a:r>
              <a:rPr lang="en-US" dirty="0"/>
              <a:t>Address customers by name</a:t>
            </a:r>
          </a:p>
          <a:p>
            <a:pPr algn="just" eaLnBrk="1" hangingPunct="1">
              <a:lnSpc>
                <a:spcPct val="90000"/>
              </a:lnSpc>
            </a:pPr>
            <a:r>
              <a:rPr lang="en-US" dirty="0"/>
              <a:t>All communication should be in the first person. </a:t>
            </a:r>
          </a:p>
          <a:p>
            <a:pPr lvl="1" algn="just">
              <a:lnSpc>
                <a:spcPct val="90000"/>
              </a:lnSpc>
            </a:pPr>
            <a:r>
              <a:rPr lang="en-US" sz="2200" dirty="0"/>
              <a:t>Use “I am sorry” not “we” </a:t>
            </a:r>
          </a:p>
          <a:p>
            <a:pPr algn="just" eaLnBrk="1" hangingPunct="1">
              <a:lnSpc>
                <a:spcPct val="90000"/>
              </a:lnSpc>
            </a:pPr>
            <a:r>
              <a:rPr lang="en-US" dirty="0"/>
              <a:t>Don’t make excuses or blame others in your organization</a:t>
            </a:r>
          </a:p>
          <a:p>
            <a:pPr algn="just" eaLnBrk="1" hangingPunct="1">
              <a:lnSpc>
                <a:spcPct val="90000"/>
              </a:lnSpc>
            </a:pPr>
            <a:r>
              <a:rPr lang="en-US" dirty="0"/>
              <a:t>Give the customer your full attention and establish eye contact</a:t>
            </a:r>
          </a:p>
          <a:p>
            <a:pPr algn="just" eaLnBrk="1" hangingPunct="1">
              <a:lnSpc>
                <a:spcPct val="90000"/>
              </a:lnSpc>
            </a:pPr>
            <a:r>
              <a:rPr lang="en-US" dirty="0"/>
              <a:t>Paraphrase their complaint in your own words to determine whether you have correctly understood the situation.</a:t>
            </a:r>
          </a:p>
        </p:txBody>
      </p:sp>
      <p:sp>
        <p:nvSpPr>
          <p:cNvPr id="6146" name="Rectangle 2"/>
          <p:cNvSpPr>
            <a:spLocks noGrp="1" noChangeArrowheads="1"/>
          </p:cNvSpPr>
          <p:nvPr>
            <p:ph type="title"/>
          </p:nvPr>
        </p:nvSpPr>
        <p:spPr/>
        <p:txBody>
          <a:bodyPr>
            <a:normAutofit/>
          </a:bodyPr>
          <a:lstStyle/>
          <a:p>
            <a:pPr eaLnBrk="1" hangingPunct="1"/>
            <a:r>
              <a:rPr lang="en-US" dirty="0"/>
              <a:t>How to Handle Complaints</a:t>
            </a:r>
          </a:p>
        </p:txBody>
      </p:sp>
    </p:spTree>
    <p:extLst>
      <p:ext uri="{BB962C8B-B14F-4D97-AF65-F5344CB8AC3E}">
        <p14:creationId xmlns:p14="http://schemas.microsoft.com/office/powerpoint/2010/main" val="4163431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anim calcmode="lin" valueType="num">
                                      <p:cBhvr additive="base">
                                        <p:cTn id="11"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anim calcmode="lin" valueType="num">
                                      <p:cBhvr additive="base">
                                        <p:cTn id="15"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14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anim calcmode="lin" valueType="num">
                                      <p:cBhvr additive="base">
                                        <p:cTn id="19"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anim calcmode="lin" valueType="num">
                                      <p:cBhvr additive="base">
                                        <p:cTn id="23"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14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 calcmode="lin" valueType="num">
                                      <p:cBhvr additive="base">
                                        <p:cTn id="27"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14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1055914" y="2514601"/>
            <a:ext cx="10450286" cy="3611563"/>
          </a:xfrm>
        </p:spPr>
        <p:txBody>
          <a:bodyPr>
            <a:noAutofit/>
          </a:bodyPr>
          <a:lstStyle/>
          <a:p>
            <a:pPr eaLnBrk="1" hangingPunct="1"/>
            <a:r>
              <a:rPr lang="en-US" dirty="0"/>
              <a:t>If you don’t know the answer to their problem, don’t lie.</a:t>
            </a:r>
          </a:p>
          <a:p>
            <a:pPr eaLnBrk="1" hangingPunct="1"/>
            <a:r>
              <a:rPr lang="en-US" dirty="0"/>
              <a:t>Call back when you say you will, even if for some reason, you haven’t been able to obtain a satisfactory answer by then</a:t>
            </a:r>
          </a:p>
          <a:p>
            <a:pPr eaLnBrk="1" hangingPunct="1"/>
            <a:r>
              <a:rPr lang="en-US" dirty="0"/>
              <a:t>Make the customer part of the solution, </a:t>
            </a:r>
            <a:r>
              <a:rPr lang="en-US" sz="2200" dirty="0"/>
              <a:t>not part of the problem</a:t>
            </a:r>
          </a:p>
          <a:p>
            <a:r>
              <a:rPr lang="en-US" dirty="0"/>
              <a:t>Don’t be defensive</a:t>
            </a:r>
          </a:p>
          <a:p>
            <a:r>
              <a:rPr lang="en-US" dirty="0"/>
              <a:t>Be composed at all times</a:t>
            </a:r>
          </a:p>
          <a:p>
            <a:r>
              <a:rPr lang="en-US" dirty="0"/>
              <a:t>Don’t take criticisms personally</a:t>
            </a:r>
          </a:p>
          <a:p>
            <a:r>
              <a:rPr lang="en-US" dirty="0"/>
              <a:t>Offer an apology even if the disservice is not your fault</a:t>
            </a:r>
          </a:p>
          <a:p>
            <a:r>
              <a:rPr lang="en-US" dirty="0"/>
              <a:t>Show empathy by using such phrases as: “I can understand how you feel”, “I appreciate what you’re saying.”</a:t>
            </a:r>
          </a:p>
          <a:p>
            <a:endParaRPr lang="en-US" dirty="0"/>
          </a:p>
          <a:p>
            <a:pPr eaLnBrk="1" hangingPunct="1">
              <a:buFontTx/>
              <a:buNone/>
            </a:pPr>
            <a:endParaRPr lang="en-US" dirty="0"/>
          </a:p>
        </p:txBody>
      </p:sp>
      <p:sp>
        <p:nvSpPr>
          <p:cNvPr id="7170" name="Rectangle 2"/>
          <p:cNvSpPr>
            <a:spLocks noGrp="1" noChangeArrowheads="1"/>
          </p:cNvSpPr>
          <p:nvPr>
            <p:ph type="title"/>
          </p:nvPr>
        </p:nvSpPr>
        <p:spPr/>
        <p:txBody>
          <a:bodyPr>
            <a:normAutofit/>
          </a:bodyPr>
          <a:lstStyle/>
          <a:p>
            <a:pPr eaLnBrk="1" hangingPunct="1"/>
            <a:r>
              <a:rPr lang="en-US" dirty="0"/>
              <a:t>How to Handle Complaints</a:t>
            </a:r>
          </a:p>
        </p:txBody>
      </p:sp>
    </p:spTree>
    <p:extLst>
      <p:ext uri="{BB962C8B-B14F-4D97-AF65-F5344CB8AC3E}">
        <p14:creationId xmlns:p14="http://schemas.microsoft.com/office/powerpoint/2010/main" val="1604352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anim calcmode="lin" valueType="num">
                                      <p:cBhvr>
                                        <p:cTn id="11" dur="1000" fill="hold"/>
                                        <p:tgtEl>
                                          <p:spTgt spid="7171">
                                            <p:txEl>
                                              <p:pRg st="1" end="1"/>
                                            </p:txEl>
                                          </p:spTgt>
                                        </p:tgtEl>
                                        <p:attrNameLst>
                                          <p:attrName>ppt_w</p:attrName>
                                        </p:attrNameLst>
                                      </p:cBhvr>
                                      <p:tavLst>
                                        <p:tav tm="0">
                                          <p:val>
                                            <p:fltVal val="0"/>
                                          </p:val>
                                        </p:tav>
                                        <p:tav tm="100000">
                                          <p:val>
                                            <p:strVal val="#ppt_w"/>
                                          </p:val>
                                        </p:tav>
                                      </p:tavLst>
                                    </p:anim>
                                    <p:anim calcmode="lin" valueType="num">
                                      <p:cBhvr>
                                        <p:cTn id="12" dur="1000" fill="hold"/>
                                        <p:tgtEl>
                                          <p:spTgt spid="7171">
                                            <p:txEl>
                                              <p:pRg st="1" end="1"/>
                                            </p:txEl>
                                          </p:spTgt>
                                        </p:tgtEl>
                                        <p:attrNameLst>
                                          <p:attrName>ppt_h</p:attrName>
                                        </p:attrNameLst>
                                      </p:cBhvr>
                                      <p:tavLst>
                                        <p:tav tm="0">
                                          <p:val>
                                            <p:fltVal val="0"/>
                                          </p:val>
                                        </p:tav>
                                        <p:tav tm="100000">
                                          <p:val>
                                            <p:strVal val="#ppt_h"/>
                                          </p:val>
                                        </p:tav>
                                      </p:tavLst>
                                    </p:anim>
                                    <p:anim calcmode="lin" valueType="num">
                                      <p:cBhvr>
                                        <p:cTn id="13" dur="1000" fill="hold"/>
                                        <p:tgtEl>
                                          <p:spTgt spid="7171">
                                            <p:txEl>
                                              <p:pRg st="1" end="1"/>
                                            </p:txEl>
                                          </p:spTgt>
                                        </p:tgtEl>
                                        <p:attrNameLst>
                                          <p:attrName>style.rotation</p:attrName>
                                        </p:attrNameLst>
                                      </p:cBhvr>
                                      <p:tavLst>
                                        <p:tav tm="0">
                                          <p:val>
                                            <p:fltVal val="90"/>
                                          </p:val>
                                        </p:tav>
                                        <p:tav tm="100000">
                                          <p:val>
                                            <p:fltVal val="0"/>
                                          </p:val>
                                        </p:tav>
                                      </p:tavLst>
                                    </p:anim>
                                    <p:animEffect transition="in" filter="fade">
                                      <p:cBhvr>
                                        <p:cTn id="14" dur="1000"/>
                                        <p:tgtEl>
                                          <p:spTgt spid="7171">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p:cTn id="19" dur="1000" fill="hold"/>
                                        <p:tgtEl>
                                          <p:spTgt spid="7171">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7171">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7171">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71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7171">
                                            <p:txEl>
                                              <p:pRg st="3" end="3"/>
                                            </p:txEl>
                                          </p:spTgt>
                                        </p:tgtEl>
                                        <p:attrNameLst>
                                          <p:attrName>style.visibility</p:attrName>
                                        </p:attrNameLst>
                                      </p:cBhvr>
                                      <p:to>
                                        <p:strVal val="visible"/>
                                      </p:to>
                                    </p:set>
                                    <p:anim calcmode="lin" valueType="num">
                                      <p:cBhvr>
                                        <p:cTn id="27" dur="1000" fill="hold"/>
                                        <p:tgtEl>
                                          <p:spTgt spid="7171">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7171">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7171">
                                            <p:txEl>
                                              <p:pRg st="3" end="3"/>
                                            </p:txEl>
                                          </p:spTgt>
                                        </p:tgtEl>
                                        <p:attrNameLst>
                                          <p:attrName>style.rotation</p:attrName>
                                        </p:attrNameLst>
                                      </p:cBhvr>
                                      <p:tavLst>
                                        <p:tav tm="0">
                                          <p:val>
                                            <p:fltVal val="90"/>
                                          </p:val>
                                        </p:tav>
                                        <p:tav tm="100000">
                                          <p:val>
                                            <p:fltVal val="0"/>
                                          </p:val>
                                        </p:tav>
                                      </p:tavLst>
                                    </p:anim>
                                    <p:animEffect transition="in" filter="fade">
                                      <p:cBhvr>
                                        <p:cTn id="30" dur="1000"/>
                                        <p:tgtEl>
                                          <p:spTgt spid="717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7171">
                                            <p:txEl>
                                              <p:pRg st="4" end="4"/>
                                            </p:txEl>
                                          </p:spTgt>
                                        </p:tgtEl>
                                        <p:attrNameLst>
                                          <p:attrName>style.visibility</p:attrName>
                                        </p:attrNameLst>
                                      </p:cBhvr>
                                      <p:to>
                                        <p:strVal val="visible"/>
                                      </p:to>
                                    </p:set>
                                    <p:anim calcmode="lin" valueType="num">
                                      <p:cBhvr>
                                        <p:cTn id="35" dur="1000" fill="hold"/>
                                        <p:tgtEl>
                                          <p:spTgt spid="7171">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7171">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7171">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7171">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171">
                                            <p:txEl>
                                              <p:pRg st="5" end="5"/>
                                            </p:txEl>
                                          </p:spTgt>
                                        </p:tgtEl>
                                        <p:attrNameLst>
                                          <p:attrName>style.visibility</p:attrName>
                                        </p:attrNameLst>
                                      </p:cBhvr>
                                      <p:to>
                                        <p:strVal val="visible"/>
                                      </p:to>
                                    </p:set>
                                    <p:anim calcmode="lin" valueType="num">
                                      <p:cBhvr>
                                        <p:cTn id="43" dur="1000" fill="hold"/>
                                        <p:tgtEl>
                                          <p:spTgt spid="7171">
                                            <p:txEl>
                                              <p:pRg st="5" end="5"/>
                                            </p:txEl>
                                          </p:spTgt>
                                        </p:tgtEl>
                                        <p:attrNameLst>
                                          <p:attrName>ppt_w</p:attrName>
                                        </p:attrNameLst>
                                      </p:cBhvr>
                                      <p:tavLst>
                                        <p:tav tm="0">
                                          <p:val>
                                            <p:fltVal val="0"/>
                                          </p:val>
                                        </p:tav>
                                        <p:tav tm="100000">
                                          <p:val>
                                            <p:strVal val="#ppt_w"/>
                                          </p:val>
                                        </p:tav>
                                      </p:tavLst>
                                    </p:anim>
                                    <p:anim calcmode="lin" valueType="num">
                                      <p:cBhvr>
                                        <p:cTn id="44" dur="1000" fill="hold"/>
                                        <p:tgtEl>
                                          <p:spTgt spid="7171">
                                            <p:txEl>
                                              <p:pRg st="5" end="5"/>
                                            </p:txEl>
                                          </p:spTgt>
                                        </p:tgtEl>
                                        <p:attrNameLst>
                                          <p:attrName>ppt_h</p:attrName>
                                        </p:attrNameLst>
                                      </p:cBhvr>
                                      <p:tavLst>
                                        <p:tav tm="0">
                                          <p:val>
                                            <p:fltVal val="0"/>
                                          </p:val>
                                        </p:tav>
                                        <p:tav tm="100000">
                                          <p:val>
                                            <p:strVal val="#ppt_h"/>
                                          </p:val>
                                        </p:tav>
                                      </p:tavLst>
                                    </p:anim>
                                    <p:anim calcmode="lin" valueType="num">
                                      <p:cBhvr>
                                        <p:cTn id="45" dur="1000" fill="hold"/>
                                        <p:tgtEl>
                                          <p:spTgt spid="7171">
                                            <p:txEl>
                                              <p:pRg st="5" end="5"/>
                                            </p:txEl>
                                          </p:spTgt>
                                        </p:tgtEl>
                                        <p:attrNameLst>
                                          <p:attrName>style.rotation</p:attrName>
                                        </p:attrNameLst>
                                      </p:cBhvr>
                                      <p:tavLst>
                                        <p:tav tm="0">
                                          <p:val>
                                            <p:fltVal val="90"/>
                                          </p:val>
                                        </p:tav>
                                        <p:tav tm="100000">
                                          <p:val>
                                            <p:fltVal val="0"/>
                                          </p:val>
                                        </p:tav>
                                      </p:tavLst>
                                    </p:anim>
                                    <p:animEffect transition="in" filter="fade">
                                      <p:cBhvr>
                                        <p:cTn id="46" dur="1000"/>
                                        <p:tgtEl>
                                          <p:spTgt spid="7171">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7171">
                                            <p:txEl>
                                              <p:pRg st="6" end="6"/>
                                            </p:txEl>
                                          </p:spTgt>
                                        </p:tgtEl>
                                        <p:attrNameLst>
                                          <p:attrName>style.visibility</p:attrName>
                                        </p:attrNameLst>
                                      </p:cBhvr>
                                      <p:to>
                                        <p:strVal val="visible"/>
                                      </p:to>
                                    </p:set>
                                    <p:anim calcmode="lin" valueType="num">
                                      <p:cBhvr>
                                        <p:cTn id="51" dur="1000" fill="hold"/>
                                        <p:tgtEl>
                                          <p:spTgt spid="7171">
                                            <p:txEl>
                                              <p:pRg st="6" end="6"/>
                                            </p:txEl>
                                          </p:spTgt>
                                        </p:tgtEl>
                                        <p:attrNameLst>
                                          <p:attrName>ppt_w</p:attrName>
                                        </p:attrNameLst>
                                      </p:cBhvr>
                                      <p:tavLst>
                                        <p:tav tm="0">
                                          <p:val>
                                            <p:fltVal val="0"/>
                                          </p:val>
                                        </p:tav>
                                        <p:tav tm="100000">
                                          <p:val>
                                            <p:strVal val="#ppt_w"/>
                                          </p:val>
                                        </p:tav>
                                      </p:tavLst>
                                    </p:anim>
                                    <p:anim calcmode="lin" valueType="num">
                                      <p:cBhvr>
                                        <p:cTn id="52" dur="1000" fill="hold"/>
                                        <p:tgtEl>
                                          <p:spTgt spid="7171">
                                            <p:txEl>
                                              <p:pRg st="6" end="6"/>
                                            </p:txEl>
                                          </p:spTgt>
                                        </p:tgtEl>
                                        <p:attrNameLst>
                                          <p:attrName>ppt_h</p:attrName>
                                        </p:attrNameLst>
                                      </p:cBhvr>
                                      <p:tavLst>
                                        <p:tav tm="0">
                                          <p:val>
                                            <p:fltVal val="0"/>
                                          </p:val>
                                        </p:tav>
                                        <p:tav tm="100000">
                                          <p:val>
                                            <p:strVal val="#ppt_h"/>
                                          </p:val>
                                        </p:tav>
                                      </p:tavLst>
                                    </p:anim>
                                    <p:anim calcmode="lin" valueType="num">
                                      <p:cBhvr>
                                        <p:cTn id="53" dur="1000" fill="hold"/>
                                        <p:tgtEl>
                                          <p:spTgt spid="7171">
                                            <p:txEl>
                                              <p:pRg st="6" end="6"/>
                                            </p:txEl>
                                          </p:spTgt>
                                        </p:tgtEl>
                                        <p:attrNameLst>
                                          <p:attrName>style.rotation</p:attrName>
                                        </p:attrNameLst>
                                      </p:cBhvr>
                                      <p:tavLst>
                                        <p:tav tm="0">
                                          <p:val>
                                            <p:fltVal val="90"/>
                                          </p:val>
                                        </p:tav>
                                        <p:tav tm="100000">
                                          <p:val>
                                            <p:fltVal val="0"/>
                                          </p:val>
                                        </p:tav>
                                      </p:tavLst>
                                    </p:anim>
                                    <p:animEffect transition="in" filter="fade">
                                      <p:cBhvr>
                                        <p:cTn id="54" dur="1000"/>
                                        <p:tgtEl>
                                          <p:spTgt spid="7171">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grpId="0" nodeType="clickEffect">
                                  <p:stCondLst>
                                    <p:cond delay="0"/>
                                  </p:stCondLst>
                                  <p:childTnLst>
                                    <p:set>
                                      <p:cBhvr>
                                        <p:cTn id="58" dur="1" fill="hold">
                                          <p:stCondLst>
                                            <p:cond delay="0"/>
                                          </p:stCondLst>
                                        </p:cTn>
                                        <p:tgtEl>
                                          <p:spTgt spid="7171">
                                            <p:txEl>
                                              <p:pRg st="7" end="7"/>
                                            </p:txEl>
                                          </p:spTgt>
                                        </p:tgtEl>
                                        <p:attrNameLst>
                                          <p:attrName>style.visibility</p:attrName>
                                        </p:attrNameLst>
                                      </p:cBhvr>
                                      <p:to>
                                        <p:strVal val="visible"/>
                                      </p:to>
                                    </p:set>
                                    <p:anim calcmode="lin" valueType="num">
                                      <p:cBhvr>
                                        <p:cTn id="59" dur="1000" fill="hold"/>
                                        <p:tgtEl>
                                          <p:spTgt spid="7171">
                                            <p:txEl>
                                              <p:pRg st="7" end="7"/>
                                            </p:txEl>
                                          </p:spTgt>
                                        </p:tgtEl>
                                        <p:attrNameLst>
                                          <p:attrName>ppt_w</p:attrName>
                                        </p:attrNameLst>
                                      </p:cBhvr>
                                      <p:tavLst>
                                        <p:tav tm="0">
                                          <p:val>
                                            <p:fltVal val="0"/>
                                          </p:val>
                                        </p:tav>
                                        <p:tav tm="100000">
                                          <p:val>
                                            <p:strVal val="#ppt_w"/>
                                          </p:val>
                                        </p:tav>
                                      </p:tavLst>
                                    </p:anim>
                                    <p:anim calcmode="lin" valueType="num">
                                      <p:cBhvr>
                                        <p:cTn id="60" dur="1000" fill="hold"/>
                                        <p:tgtEl>
                                          <p:spTgt spid="7171">
                                            <p:txEl>
                                              <p:pRg st="7" end="7"/>
                                            </p:txEl>
                                          </p:spTgt>
                                        </p:tgtEl>
                                        <p:attrNameLst>
                                          <p:attrName>ppt_h</p:attrName>
                                        </p:attrNameLst>
                                      </p:cBhvr>
                                      <p:tavLst>
                                        <p:tav tm="0">
                                          <p:val>
                                            <p:fltVal val="0"/>
                                          </p:val>
                                        </p:tav>
                                        <p:tav tm="100000">
                                          <p:val>
                                            <p:strVal val="#ppt_h"/>
                                          </p:val>
                                        </p:tav>
                                      </p:tavLst>
                                    </p:anim>
                                    <p:anim calcmode="lin" valueType="num">
                                      <p:cBhvr>
                                        <p:cTn id="61" dur="1000" fill="hold"/>
                                        <p:tgtEl>
                                          <p:spTgt spid="7171">
                                            <p:txEl>
                                              <p:pRg st="7" end="7"/>
                                            </p:txEl>
                                          </p:spTgt>
                                        </p:tgtEl>
                                        <p:attrNameLst>
                                          <p:attrName>style.rotation</p:attrName>
                                        </p:attrNameLst>
                                      </p:cBhvr>
                                      <p:tavLst>
                                        <p:tav tm="0">
                                          <p:val>
                                            <p:fltVal val="90"/>
                                          </p:val>
                                        </p:tav>
                                        <p:tav tm="100000">
                                          <p:val>
                                            <p:fltVal val="0"/>
                                          </p:val>
                                        </p:tav>
                                      </p:tavLst>
                                    </p:anim>
                                    <p:animEffect transition="in" filter="fade">
                                      <p:cBhvr>
                                        <p:cTn id="62" dur="1000"/>
                                        <p:tgtEl>
                                          <p:spTgt spid="71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a:xfrm>
            <a:off x="1066800" y="2514600"/>
            <a:ext cx="8915400" cy="3962400"/>
          </a:xfrm>
        </p:spPr>
        <p:txBody>
          <a:bodyPr/>
          <a:lstStyle/>
          <a:p>
            <a:pPr eaLnBrk="1" hangingPunct="1">
              <a:lnSpc>
                <a:spcPct val="90000"/>
              </a:lnSpc>
            </a:pPr>
            <a:r>
              <a:rPr lang="en-US" dirty="0"/>
              <a:t>Tell them what you can do…not what you can’t do</a:t>
            </a:r>
          </a:p>
          <a:p>
            <a:pPr eaLnBrk="1" hangingPunct="1">
              <a:lnSpc>
                <a:spcPct val="90000"/>
              </a:lnSpc>
            </a:pPr>
            <a:r>
              <a:rPr lang="en-US" dirty="0"/>
              <a:t>Find out what it will take to turn their dissatisfaction into satisfaction</a:t>
            </a:r>
          </a:p>
          <a:p>
            <a:pPr eaLnBrk="1" hangingPunct="1">
              <a:lnSpc>
                <a:spcPct val="90000"/>
              </a:lnSpc>
            </a:pPr>
            <a:r>
              <a:rPr lang="en-US" dirty="0"/>
              <a:t>If they agree to that solution, act quickly before they change their mind</a:t>
            </a:r>
          </a:p>
          <a:p>
            <a:pPr eaLnBrk="1" hangingPunct="1">
              <a:lnSpc>
                <a:spcPct val="90000"/>
              </a:lnSpc>
            </a:pPr>
            <a:r>
              <a:rPr lang="en-US" dirty="0"/>
              <a:t>Follow up</a:t>
            </a:r>
          </a:p>
          <a:p>
            <a:pPr eaLnBrk="1" hangingPunct="1">
              <a:lnSpc>
                <a:spcPct val="90000"/>
              </a:lnSpc>
            </a:pPr>
            <a:r>
              <a:rPr lang="en-US" dirty="0"/>
              <a:t>And remember: You can never win an argument with a customer</a:t>
            </a:r>
          </a:p>
        </p:txBody>
      </p:sp>
      <p:sp>
        <p:nvSpPr>
          <p:cNvPr id="8194" name="Rectangle 2"/>
          <p:cNvSpPr>
            <a:spLocks noGrp="1" noChangeArrowheads="1"/>
          </p:cNvSpPr>
          <p:nvPr>
            <p:ph type="title"/>
          </p:nvPr>
        </p:nvSpPr>
        <p:spPr/>
        <p:txBody>
          <a:bodyPr>
            <a:normAutofit/>
          </a:bodyPr>
          <a:lstStyle/>
          <a:p>
            <a:pPr eaLnBrk="1" hangingPunct="1"/>
            <a:r>
              <a:rPr lang="en-US" dirty="0"/>
              <a:t>How to Handle Complaints</a:t>
            </a:r>
          </a:p>
        </p:txBody>
      </p:sp>
    </p:spTree>
    <p:extLst>
      <p:ext uri="{BB962C8B-B14F-4D97-AF65-F5344CB8AC3E}">
        <p14:creationId xmlns:p14="http://schemas.microsoft.com/office/powerpoint/2010/main" val="14744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3086" y="764373"/>
            <a:ext cx="9133114" cy="1293028"/>
          </a:xfrm>
        </p:spPr>
        <p:txBody>
          <a:bodyPr/>
          <a:lstStyle/>
          <a:p>
            <a:r>
              <a:rPr lang="en-US" dirty="0"/>
              <a:t>Steps for handling complaints</a:t>
            </a:r>
          </a:p>
        </p:txBody>
      </p:sp>
      <p:graphicFrame>
        <p:nvGraphicFramePr>
          <p:cNvPr id="4" name="Diagram 3"/>
          <p:cNvGraphicFramePr/>
          <p:nvPr>
            <p:extLst>
              <p:ext uri="{D42A27DB-BD31-4B8C-83A1-F6EECF244321}">
                <p14:modId xmlns:p14="http://schemas.microsoft.com/office/powerpoint/2010/main" val="4257561055"/>
              </p:ext>
            </p:extLst>
          </p:nvPr>
        </p:nvGraphicFramePr>
        <p:xfrm>
          <a:off x="1371600" y="2667000"/>
          <a:ext cx="9982200"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1371599" y="1981201"/>
            <a:ext cx="9633857" cy="701731"/>
          </a:xfrm>
          <a:prstGeom prst="rect">
            <a:avLst/>
          </a:prstGeom>
        </p:spPr>
        <p:txBody>
          <a:bodyPr wrap="square">
            <a:spAutoFit/>
          </a:bodyPr>
          <a:lstStyle/>
          <a:p>
            <a:pPr>
              <a:lnSpc>
                <a:spcPct val="90000"/>
              </a:lnSpc>
            </a:pPr>
            <a:r>
              <a:rPr lang="en-US" sz="2200" b="1" dirty="0"/>
              <a:t>At the organization’s level, there is the need for a complaint handling system which will involve the following steps as a minimum:</a:t>
            </a:r>
          </a:p>
        </p:txBody>
      </p:sp>
    </p:spTree>
    <p:extLst>
      <p:ext uri="{BB962C8B-B14F-4D97-AF65-F5344CB8AC3E}">
        <p14:creationId xmlns:p14="http://schemas.microsoft.com/office/powerpoint/2010/main" val="191192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Steps for handling complaints</a:t>
            </a:r>
          </a:p>
        </p:txBody>
      </p:sp>
      <p:graphicFrame>
        <p:nvGraphicFramePr>
          <p:cNvPr id="5" name="Diagram 4"/>
          <p:cNvGraphicFramePr/>
          <p:nvPr>
            <p:extLst>
              <p:ext uri="{D42A27DB-BD31-4B8C-83A1-F6EECF244321}">
                <p14:modId xmlns:p14="http://schemas.microsoft.com/office/powerpoint/2010/main" val="2534735082"/>
              </p:ext>
            </p:extLst>
          </p:nvPr>
        </p:nvGraphicFramePr>
        <p:xfrm>
          <a:off x="1338943" y="2383971"/>
          <a:ext cx="9764486" cy="44740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8017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Negotiation</a:t>
            </a:r>
            <a:endParaRPr lang="en-JM" dirty="0"/>
          </a:p>
        </p:txBody>
      </p:sp>
      <p:sp>
        <p:nvSpPr>
          <p:cNvPr id="3" name="Content Placeholder 2"/>
          <p:cNvSpPr>
            <a:spLocks noGrp="1"/>
          </p:cNvSpPr>
          <p:nvPr>
            <p:ph idx="1"/>
          </p:nvPr>
        </p:nvSpPr>
        <p:spPr/>
        <p:txBody>
          <a:bodyPr/>
          <a:lstStyle/>
          <a:p>
            <a:pPr indent="0">
              <a:buFontTx/>
              <a:buNone/>
            </a:pPr>
            <a:r>
              <a:rPr lang="en-US" altLang="en-US" dirty="0"/>
              <a:t>A process where mandated representatives meet in order to resolve their differences and reach agreement. The outcome is often dependent on the power relationship between the groups.</a:t>
            </a:r>
          </a:p>
          <a:p>
            <a:pPr indent="0"/>
            <a:endParaRPr lang="en-US" altLang="en-US" dirty="0"/>
          </a:p>
          <a:p>
            <a:pPr indent="0"/>
            <a:endParaRPr lang="en-JM" dirty="0"/>
          </a:p>
        </p:txBody>
      </p:sp>
    </p:spTree>
    <p:extLst>
      <p:ext uri="{BB962C8B-B14F-4D97-AF65-F5344CB8AC3E}">
        <p14:creationId xmlns:p14="http://schemas.microsoft.com/office/powerpoint/2010/main" val="707145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t> Everyone  Negotiates</a:t>
            </a:r>
          </a:p>
        </p:txBody>
      </p:sp>
      <p:sp>
        <p:nvSpPr>
          <p:cNvPr id="27651" name="Rectangle 3"/>
          <p:cNvSpPr>
            <a:spLocks noGrp="1" noChangeArrowheads="1"/>
          </p:cNvSpPr>
          <p:nvPr>
            <p:ph type="body" idx="1"/>
          </p:nvPr>
        </p:nvSpPr>
        <p:spPr/>
        <p:txBody>
          <a:bodyPr/>
          <a:lstStyle/>
          <a:p>
            <a:r>
              <a:rPr lang="en-US" altLang="en-US" dirty="0"/>
              <a:t>Buying a car, house or other object for which the price may not be fixed</a:t>
            </a:r>
          </a:p>
          <a:p>
            <a:r>
              <a:rPr lang="en-US" altLang="en-US" dirty="0"/>
              <a:t>Establishing a salary, workplace tasks, office conditions, etc.</a:t>
            </a:r>
          </a:p>
          <a:p>
            <a:r>
              <a:rPr lang="en-US" altLang="en-US" dirty="0"/>
              <a:t>Organizing team tasks or priorities</a:t>
            </a:r>
          </a:p>
          <a:p>
            <a:r>
              <a:rPr lang="en-US" altLang="en-US" dirty="0"/>
              <a:t>Allocating household tasks</a:t>
            </a:r>
          </a:p>
          <a:p>
            <a:r>
              <a:rPr lang="en-US" altLang="en-US" dirty="0"/>
              <a:t>Deciding how to spend a free evening</a:t>
            </a:r>
          </a:p>
        </p:txBody>
      </p:sp>
    </p:spTree>
    <p:extLst>
      <p:ext uri="{BB962C8B-B14F-4D97-AF65-F5344CB8AC3E}">
        <p14:creationId xmlns:p14="http://schemas.microsoft.com/office/powerpoint/2010/main" val="1613910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838E9-2198-46C6-0695-B8B5F4854E13}"/>
              </a:ext>
            </a:extLst>
          </p:cNvPr>
          <p:cNvSpPr>
            <a:spLocks noGrp="1"/>
          </p:cNvSpPr>
          <p:nvPr>
            <p:ph type="title"/>
          </p:nvPr>
        </p:nvSpPr>
        <p:spPr/>
        <p:txBody>
          <a:bodyPr/>
          <a:lstStyle/>
          <a:p>
            <a:r>
              <a:rPr lang="en-US" dirty="0"/>
              <a:t>Negotiation Skills</a:t>
            </a:r>
          </a:p>
        </p:txBody>
      </p:sp>
      <p:pic>
        <p:nvPicPr>
          <p:cNvPr id="1026" name="Picture 2" descr="SHARPENING NEGOTIATION SKILLS – Impact Consulting">
            <a:extLst>
              <a:ext uri="{FF2B5EF4-FFF2-40B4-BE49-F238E27FC236}">
                <a16:creationId xmlns:a16="http://schemas.microsoft.com/office/drawing/2014/main" id="{4D2744F3-00C1-B857-AC63-AB8C80ADE7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0312" y="2057402"/>
            <a:ext cx="5883007" cy="4420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844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sz="3600"/>
              <a:t>Barriers to negotiation</a:t>
            </a:r>
          </a:p>
        </p:txBody>
      </p:sp>
      <p:sp>
        <p:nvSpPr>
          <p:cNvPr id="74755" name="Rectangle 3"/>
          <p:cNvSpPr>
            <a:spLocks noGrp="1" noChangeArrowheads="1"/>
          </p:cNvSpPr>
          <p:nvPr>
            <p:ph type="body" idx="1"/>
          </p:nvPr>
        </p:nvSpPr>
        <p:spPr/>
        <p:txBody>
          <a:bodyPr/>
          <a:lstStyle/>
          <a:p>
            <a:pPr>
              <a:buFontTx/>
              <a:buNone/>
            </a:pPr>
            <a:r>
              <a:rPr lang="en-US" altLang="en-US"/>
              <a:t>1. Poor communication skills</a:t>
            </a:r>
          </a:p>
          <a:p>
            <a:pPr>
              <a:buFontTx/>
              <a:buNone/>
            </a:pPr>
            <a:r>
              <a:rPr lang="en-US" altLang="en-US"/>
              <a:t>2. Overreacting &amp; emotional responses</a:t>
            </a:r>
          </a:p>
          <a:p>
            <a:pPr>
              <a:buFontTx/>
              <a:buNone/>
            </a:pPr>
            <a:r>
              <a:rPr lang="en-US" altLang="en-US"/>
              <a:t>3. Misunderstandings</a:t>
            </a:r>
          </a:p>
          <a:p>
            <a:pPr>
              <a:buFontTx/>
              <a:buNone/>
            </a:pPr>
            <a:r>
              <a:rPr lang="en-US" altLang="en-US"/>
              <a:t>4. Conditioned or learned responses</a:t>
            </a:r>
          </a:p>
          <a:p>
            <a:pPr>
              <a:buFontTx/>
              <a:buNone/>
            </a:pPr>
            <a:r>
              <a:rPr lang="en-US" altLang="en-US"/>
              <a:t>5. Relationship dynamics</a:t>
            </a:r>
          </a:p>
          <a:p>
            <a:endParaRPr lang="en-US" altLang="en-US"/>
          </a:p>
        </p:txBody>
      </p:sp>
    </p:spTree>
    <p:extLst>
      <p:ext uri="{BB962C8B-B14F-4D97-AF65-F5344CB8AC3E}">
        <p14:creationId xmlns:p14="http://schemas.microsoft.com/office/powerpoint/2010/main" val="2735025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sz="3600"/>
              <a:t>Rules for negotiation</a:t>
            </a:r>
          </a:p>
        </p:txBody>
      </p:sp>
      <p:sp>
        <p:nvSpPr>
          <p:cNvPr id="75779" name="Rectangle 3"/>
          <p:cNvSpPr>
            <a:spLocks noGrp="1" noChangeArrowheads="1"/>
          </p:cNvSpPr>
          <p:nvPr>
            <p:ph type="body" idx="1"/>
          </p:nvPr>
        </p:nvSpPr>
        <p:spPr/>
        <p:txBody>
          <a:bodyPr/>
          <a:lstStyle/>
          <a:p>
            <a:endParaRPr lang="en-US" altLang="en-US" dirty="0"/>
          </a:p>
          <a:p>
            <a:pPr>
              <a:buFontTx/>
              <a:buNone/>
            </a:pPr>
            <a:r>
              <a:rPr lang="en-US" altLang="en-US" dirty="0"/>
              <a:t>1. Be strategic and deliberate with words</a:t>
            </a:r>
          </a:p>
          <a:p>
            <a:pPr>
              <a:buFontTx/>
              <a:buNone/>
            </a:pPr>
            <a:r>
              <a:rPr lang="en-US" altLang="en-US" dirty="0"/>
              <a:t>2. Be willing to prepare &amp; prepare well</a:t>
            </a:r>
          </a:p>
          <a:p>
            <a:pPr>
              <a:buFontTx/>
              <a:buNone/>
            </a:pPr>
            <a:r>
              <a:rPr lang="en-US" altLang="en-US" dirty="0"/>
              <a:t>3. Have high expectations</a:t>
            </a:r>
          </a:p>
          <a:p>
            <a:pPr>
              <a:buFontTx/>
              <a:buNone/>
            </a:pPr>
            <a:r>
              <a:rPr lang="en-US" altLang="en-US" dirty="0"/>
              <a:t>4. Be patient in listening</a:t>
            </a:r>
          </a:p>
          <a:p>
            <a:pPr>
              <a:buFontTx/>
              <a:buNone/>
            </a:pPr>
            <a:r>
              <a:rPr lang="en-US" altLang="en-US" dirty="0"/>
              <a:t>5. Maintain your integrity</a:t>
            </a:r>
          </a:p>
          <a:p>
            <a:endParaRPr lang="en-US" altLang="en-US" dirty="0"/>
          </a:p>
        </p:txBody>
      </p:sp>
    </p:spTree>
    <p:extLst>
      <p:ext uri="{BB962C8B-B14F-4D97-AF65-F5344CB8AC3E}">
        <p14:creationId xmlns:p14="http://schemas.microsoft.com/office/powerpoint/2010/main" val="2130291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sz="3600"/>
              <a:t>Negotiation essentials</a:t>
            </a:r>
          </a:p>
        </p:txBody>
      </p:sp>
      <p:sp>
        <p:nvSpPr>
          <p:cNvPr id="76803" name="Rectangle 3"/>
          <p:cNvSpPr>
            <a:spLocks noGrp="1" noChangeArrowheads="1"/>
          </p:cNvSpPr>
          <p:nvPr>
            <p:ph type="body" idx="1"/>
          </p:nvPr>
        </p:nvSpPr>
        <p:spPr/>
        <p:txBody>
          <a:bodyPr>
            <a:normAutofit/>
          </a:bodyPr>
          <a:lstStyle/>
          <a:p>
            <a:pPr>
              <a:lnSpc>
                <a:spcPct val="90000"/>
              </a:lnSpc>
              <a:buFontTx/>
              <a:buNone/>
            </a:pPr>
            <a:r>
              <a:rPr lang="en-US" altLang="en-US" b="1" dirty="0"/>
              <a:t>Communicate</a:t>
            </a:r>
          </a:p>
          <a:p>
            <a:pPr>
              <a:lnSpc>
                <a:spcPct val="90000"/>
              </a:lnSpc>
            </a:pPr>
            <a:r>
              <a:rPr lang="en-US" altLang="en-US" dirty="0"/>
              <a:t>No clear lines of communication = no negotiation.</a:t>
            </a:r>
          </a:p>
          <a:p>
            <a:pPr>
              <a:lnSpc>
                <a:spcPct val="90000"/>
              </a:lnSpc>
            </a:pPr>
            <a:r>
              <a:rPr lang="en-US" altLang="en-US" dirty="0"/>
              <a:t>“problems" fall into three categories:</a:t>
            </a:r>
          </a:p>
          <a:p>
            <a:pPr>
              <a:lnSpc>
                <a:spcPct val="90000"/>
              </a:lnSpc>
              <a:buFontTx/>
              <a:buNone/>
            </a:pPr>
            <a:r>
              <a:rPr lang="en-US" altLang="en-US" dirty="0"/>
              <a:t>   - perception,</a:t>
            </a:r>
          </a:p>
          <a:p>
            <a:pPr>
              <a:lnSpc>
                <a:spcPct val="90000"/>
              </a:lnSpc>
              <a:buFontTx/>
              <a:buNone/>
            </a:pPr>
            <a:r>
              <a:rPr lang="en-US" altLang="en-US" dirty="0"/>
              <a:t>   - emotion, and</a:t>
            </a:r>
          </a:p>
          <a:p>
            <a:pPr>
              <a:lnSpc>
                <a:spcPct val="90000"/>
              </a:lnSpc>
              <a:buFontTx/>
              <a:buNone/>
            </a:pPr>
            <a:r>
              <a:rPr lang="en-US" altLang="en-US" dirty="0"/>
              <a:t>   - communication.</a:t>
            </a:r>
          </a:p>
          <a:p>
            <a:pPr>
              <a:lnSpc>
                <a:spcPct val="90000"/>
              </a:lnSpc>
            </a:pPr>
            <a:r>
              <a:rPr lang="en-US" altLang="en-US" dirty="0"/>
              <a:t>Facts, even if established, may do nothing to solve the problem.</a:t>
            </a:r>
          </a:p>
          <a:p>
            <a:pPr>
              <a:lnSpc>
                <a:spcPct val="90000"/>
              </a:lnSpc>
            </a:pPr>
            <a:endParaRPr lang="en-US" altLang="en-US" dirty="0"/>
          </a:p>
        </p:txBody>
      </p:sp>
    </p:spTree>
    <p:extLst>
      <p:ext uri="{BB962C8B-B14F-4D97-AF65-F5344CB8AC3E}">
        <p14:creationId xmlns:p14="http://schemas.microsoft.com/office/powerpoint/2010/main" val="1075619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sz="3600"/>
              <a:t>Negotiation essentials</a:t>
            </a:r>
          </a:p>
        </p:txBody>
      </p:sp>
      <p:sp>
        <p:nvSpPr>
          <p:cNvPr id="77827" name="Rectangle 3"/>
          <p:cNvSpPr>
            <a:spLocks noGrp="1" noChangeArrowheads="1"/>
          </p:cNvSpPr>
          <p:nvPr>
            <p:ph type="body" idx="1"/>
          </p:nvPr>
        </p:nvSpPr>
        <p:spPr/>
        <p:txBody>
          <a:bodyPr/>
          <a:lstStyle/>
          <a:p>
            <a:pPr>
              <a:buFontTx/>
              <a:buNone/>
            </a:pPr>
            <a:r>
              <a:rPr lang="en-US" altLang="en-US" b="1" dirty="0"/>
              <a:t>Co-operate</a:t>
            </a:r>
          </a:p>
          <a:p>
            <a:r>
              <a:rPr lang="en-US" altLang="en-US" b="1" dirty="0"/>
              <a:t>Be cooperative, but don't let your guard down</a:t>
            </a:r>
          </a:p>
          <a:p>
            <a:r>
              <a:rPr lang="en-US" altLang="en-US" dirty="0"/>
              <a:t>Statistics show that cooperative negotiators are more effective than competitive negotiators</a:t>
            </a:r>
          </a:p>
          <a:p>
            <a:r>
              <a:rPr lang="en-US" altLang="en-US" dirty="0"/>
              <a:t>However, in positional bargaining, a hard game dominates a soft one</a:t>
            </a:r>
          </a:p>
          <a:p>
            <a:endParaRPr lang="en-US" altLang="en-US" dirty="0"/>
          </a:p>
        </p:txBody>
      </p:sp>
    </p:spTree>
    <p:extLst>
      <p:ext uri="{BB962C8B-B14F-4D97-AF65-F5344CB8AC3E}">
        <p14:creationId xmlns:p14="http://schemas.microsoft.com/office/powerpoint/2010/main" val="2721495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en-US"/>
              <a:t>Negotiation essentials</a:t>
            </a:r>
          </a:p>
        </p:txBody>
      </p:sp>
      <p:sp>
        <p:nvSpPr>
          <p:cNvPr id="78851" name="Rectangle 3"/>
          <p:cNvSpPr>
            <a:spLocks noGrp="1" noChangeArrowheads="1"/>
          </p:cNvSpPr>
          <p:nvPr>
            <p:ph type="body" idx="1"/>
          </p:nvPr>
        </p:nvSpPr>
        <p:spPr/>
        <p:txBody>
          <a:bodyPr>
            <a:normAutofit/>
          </a:bodyPr>
          <a:lstStyle/>
          <a:p>
            <a:pPr marL="0" indent="0">
              <a:lnSpc>
                <a:spcPct val="90000"/>
              </a:lnSpc>
              <a:buNone/>
            </a:pPr>
            <a:r>
              <a:rPr lang="en-US" altLang="en-US" b="1" dirty="0"/>
              <a:t>Listen</a:t>
            </a:r>
          </a:p>
          <a:p>
            <a:pPr>
              <a:lnSpc>
                <a:spcPct val="90000"/>
              </a:lnSpc>
            </a:pPr>
            <a:r>
              <a:rPr lang="en-US" altLang="en-US" b="1" dirty="0"/>
              <a:t>The power is in listening</a:t>
            </a:r>
          </a:p>
          <a:p>
            <a:pPr>
              <a:lnSpc>
                <a:spcPct val="90000"/>
              </a:lnSpc>
            </a:pPr>
            <a:r>
              <a:rPr lang="en-US" altLang="en-US" dirty="0"/>
              <a:t>Ask questions, test for understanding, summarize, and listen, listen, listen…...</a:t>
            </a:r>
          </a:p>
          <a:p>
            <a:pPr>
              <a:lnSpc>
                <a:spcPct val="90000"/>
              </a:lnSpc>
            </a:pPr>
            <a:r>
              <a:rPr lang="en-US" altLang="en-US" dirty="0"/>
              <a:t>Get more by finding out what </a:t>
            </a:r>
            <a:r>
              <a:rPr lang="en-US" altLang="en-US"/>
              <a:t>others want </a:t>
            </a:r>
            <a:r>
              <a:rPr lang="en-US" altLang="en-US" dirty="0"/>
              <a:t>than by clever arguments for what you need.</a:t>
            </a:r>
          </a:p>
          <a:p>
            <a:pPr>
              <a:lnSpc>
                <a:spcPct val="90000"/>
              </a:lnSpc>
            </a:pPr>
            <a:r>
              <a:rPr lang="en-US" altLang="en-US" dirty="0"/>
              <a:t>The cheapest concession you can make is to let others know they have been heard.</a:t>
            </a:r>
          </a:p>
          <a:p>
            <a:pPr>
              <a:lnSpc>
                <a:spcPct val="90000"/>
              </a:lnSpc>
            </a:pPr>
            <a:endParaRPr lang="en-US" altLang="en-US" dirty="0"/>
          </a:p>
        </p:txBody>
      </p:sp>
    </p:spTree>
    <p:extLst>
      <p:ext uri="{BB962C8B-B14F-4D97-AF65-F5344CB8AC3E}">
        <p14:creationId xmlns:p14="http://schemas.microsoft.com/office/powerpoint/2010/main" val="2624247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dirty="0"/>
              <a:t>Negotiating Steps</a:t>
            </a:r>
          </a:p>
        </p:txBody>
      </p:sp>
      <p:sp>
        <p:nvSpPr>
          <p:cNvPr id="43011" name="Rectangle 3"/>
          <p:cNvSpPr>
            <a:spLocks noGrp="1" noChangeArrowheads="1"/>
          </p:cNvSpPr>
          <p:nvPr>
            <p:ph type="body" idx="1"/>
          </p:nvPr>
        </p:nvSpPr>
        <p:spPr/>
        <p:txBody>
          <a:bodyPr/>
          <a:lstStyle/>
          <a:p>
            <a:pPr marL="469900" indent="-469900"/>
            <a:r>
              <a:rPr lang="en-US" altLang="en-US"/>
              <a:t>Develop ground rules</a:t>
            </a:r>
          </a:p>
          <a:p>
            <a:pPr marL="469900" indent="-469900"/>
            <a:r>
              <a:rPr lang="en-US" altLang="en-US"/>
              <a:t>Jointly identify issues</a:t>
            </a:r>
          </a:p>
          <a:p>
            <a:pPr marL="469900" indent="-469900"/>
            <a:r>
              <a:rPr lang="en-US" altLang="en-US"/>
              <a:t>Explore interests</a:t>
            </a:r>
          </a:p>
          <a:p>
            <a:pPr marL="469900" indent="-469900"/>
            <a:r>
              <a:rPr lang="en-US" altLang="en-US"/>
              <a:t>Develop objective standards</a:t>
            </a:r>
          </a:p>
          <a:p>
            <a:pPr marL="469900" indent="-469900"/>
            <a:r>
              <a:rPr lang="en-US" altLang="en-US"/>
              <a:t>Brainstorm options</a:t>
            </a:r>
          </a:p>
          <a:p>
            <a:pPr marL="469900" indent="-469900"/>
            <a:r>
              <a:rPr lang="en-US" altLang="en-US"/>
              <a:t>Evaluate options using standards</a:t>
            </a:r>
          </a:p>
          <a:p>
            <a:pPr marL="469900" indent="-469900"/>
            <a:r>
              <a:rPr lang="en-US" altLang="en-US"/>
              <a:t>Try to reach consensus decision</a:t>
            </a:r>
          </a:p>
        </p:txBody>
      </p:sp>
    </p:spTree>
    <p:extLst>
      <p:ext uri="{BB962C8B-B14F-4D97-AF65-F5344CB8AC3E}">
        <p14:creationId xmlns:p14="http://schemas.microsoft.com/office/powerpoint/2010/main" val="2351870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r>
              <a:rPr lang="en-US" altLang="en-US" dirty="0"/>
              <a:t>Negotiation winners</a:t>
            </a:r>
          </a:p>
        </p:txBody>
      </p:sp>
      <p:sp>
        <p:nvSpPr>
          <p:cNvPr id="79875" name="Rectangle 3"/>
          <p:cNvSpPr>
            <a:spLocks noGrp="1" noChangeArrowheads="1"/>
          </p:cNvSpPr>
          <p:nvPr>
            <p:ph type="body" idx="1"/>
          </p:nvPr>
        </p:nvSpPr>
        <p:spPr/>
        <p:txBody>
          <a:bodyPr/>
          <a:lstStyle/>
          <a:p>
            <a:r>
              <a:rPr lang="en-US" altLang="en-US" dirty="0"/>
              <a:t>Have a Game Plan</a:t>
            </a:r>
          </a:p>
          <a:p>
            <a:r>
              <a:rPr lang="en-US" altLang="en-US" dirty="0"/>
              <a:t>Focus on Your Goals</a:t>
            </a:r>
          </a:p>
          <a:p>
            <a:r>
              <a:rPr lang="en-US" altLang="en-US" dirty="0"/>
              <a:t>Identify the Issues</a:t>
            </a:r>
          </a:p>
          <a:p>
            <a:r>
              <a:rPr lang="en-US" altLang="en-US" dirty="0"/>
              <a:t>Have Powerful Justifications</a:t>
            </a:r>
          </a:p>
          <a:p>
            <a:r>
              <a:rPr lang="en-US" altLang="en-US" dirty="0"/>
              <a:t>Evaluate, Evaluate, Evaluate</a:t>
            </a:r>
          </a:p>
          <a:p>
            <a:r>
              <a:rPr lang="en-US" altLang="en-US" dirty="0"/>
              <a:t>Pay Attention to Closure</a:t>
            </a:r>
          </a:p>
          <a:p>
            <a:endParaRPr lang="en-US" altLang="en-US" dirty="0"/>
          </a:p>
        </p:txBody>
      </p:sp>
    </p:spTree>
    <p:extLst>
      <p:ext uri="{BB962C8B-B14F-4D97-AF65-F5344CB8AC3E}">
        <p14:creationId xmlns:p14="http://schemas.microsoft.com/office/powerpoint/2010/main" val="3981387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EMPOWERMENT</a:t>
            </a:r>
            <a:endParaRPr lang="en-JM" dirty="0"/>
          </a:p>
        </p:txBody>
      </p:sp>
      <p:sp>
        <p:nvSpPr>
          <p:cNvPr id="3" name="Content Placeholder 2"/>
          <p:cNvSpPr>
            <a:spLocks noGrp="1"/>
          </p:cNvSpPr>
          <p:nvPr>
            <p:ph idx="1"/>
          </p:nvPr>
        </p:nvSpPr>
        <p:spPr/>
        <p:txBody>
          <a:bodyPr/>
          <a:lstStyle/>
          <a:p>
            <a:pPr algn="just"/>
            <a:r>
              <a:rPr lang="en-US" dirty="0"/>
              <a:t>A management practice of sharing information, rewards, and power with employees so that they can take initiative and make decisions to solve problems and improve service and performance.</a:t>
            </a:r>
          </a:p>
          <a:p>
            <a:pPr algn="just"/>
            <a:r>
              <a:rPr lang="en-US" dirty="0"/>
              <a:t>Empowerment is based on the idea that giving employees skills, resources, authority, opportunity, motivation, as well holding them responsible and accountable for outcomes of their actions, will contribute to their competence and satisfaction.</a:t>
            </a:r>
            <a:endParaRPr lang="en-JM" dirty="0"/>
          </a:p>
        </p:txBody>
      </p:sp>
    </p:spTree>
    <p:extLst>
      <p:ext uri="{BB962C8B-B14F-4D97-AF65-F5344CB8AC3E}">
        <p14:creationId xmlns:p14="http://schemas.microsoft.com/office/powerpoint/2010/main" val="224044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Degrees of Empowerment</a:t>
            </a:r>
            <a:endParaRPr lang="en-JM" dirty="0"/>
          </a:p>
        </p:txBody>
      </p:sp>
      <p:sp>
        <p:nvSpPr>
          <p:cNvPr id="3" name="Content Placeholder 2"/>
          <p:cNvSpPr>
            <a:spLocks noGrp="1"/>
          </p:cNvSpPr>
          <p:nvPr>
            <p:ph idx="1"/>
          </p:nvPr>
        </p:nvSpPr>
        <p:spPr/>
        <p:txBody>
          <a:bodyPr>
            <a:normAutofit/>
          </a:bodyPr>
          <a:lstStyle/>
          <a:p>
            <a:r>
              <a:rPr lang="en-US" altLang="en-US" dirty="0"/>
              <a:t>Total management control – No employee discretion</a:t>
            </a:r>
          </a:p>
          <a:p>
            <a:r>
              <a:rPr lang="en-US" altLang="en-US" dirty="0"/>
              <a:t>Participatory management – management generally controls the work &amp; the context, but allow employees to make some decisions (typically minor ones)</a:t>
            </a:r>
          </a:p>
          <a:p>
            <a:r>
              <a:rPr lang="en-US" altLang="en-US" dirty="0"/>
              <a:t>Self-management – employees make most decisions pertaining to their work and work setting</a:t>
            </a:r>
          </a:p>
          <a:p>
            <a:endParaRPr lang="en-JM" dirty="0"/>
          </a:p>
        </p:txBody>
      </p:sp>
    </p:spTree>
    <p:extLst>
      <p:ext uri="{BB962C8B-B14F-4D97-AF65-F5344CB8AC3E}">
        <p14:creationId xmlns:p14="http://schemas.microsoft.com/office/powerpoint/2010/main" val="2926987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Benefits of Empowerment</a:t>
            </a:r>
            <a:endParaRPr lang="en-JM" dirty="0"/>
          </a:p>
        </p:txBody>
      </p:sp>
      <p:sp>
        <p:nvSpPr>
          <p:cNvPr id="3" name="Content Placeholder 2"/>
          <p:cNvSpPr>
            <a:spLocks noGrp="1"/>
          </p:cNvSpPr>
          <p:nvPr>
            <p:ph idx="1"/>
          </p:nvPr>
        </p:nvSpPr>
        <p:spPr/>
        <p:txBody>
          <a:bodyPr>
            <a:normAutofit/>
          </a:bodyPr>
          <a:lstStyle/>
          <a:p>
            <a:pPr>
              <a:lnSpc>
                <a:spcPct val="80000"/>
              </a:lnSpc>
            </a:pPr>
            <a:r>
              <a:rPr lang="en-US" altLang="en-US" dirty="0"/>
              <a:t>All employees view themselves as ‘owners’ of the business</a:t>
            </a:r>
          </a:p>
          <a:p>
            <a:pPr>
              <a:lnSpc>
                <a:spcPct val="80000"/>
              </a:lnSpc>
            </a:pPr>
            <a:r>
              <a:rPr lang="en-US" altLang="en-US" dirty="0"/>
              <a:t>Improved productivity</a:t>
            </a:r>
          </a:p>
          <a:p>
            <a:pPr>
              <a:lnSpc>
                <a:spcPct val="80000"/>
              </a:lnSpc>
            </a:pPr>
            <a:r>
              <a:rPr lang="en-US" altLang="en-US" dirty="0"/>
              <a:t>Creativity &amp; Innovation</a:t>
            </a:r>
          </a:p>
          <a:p>
            <a:pPr>
              <a:lnSpc>
                <a:spcPct val="80000"/>
              </a:lnSpc>
            </a:pPr>
            <a:r>
              <a:rPr lang="en-US" altLang="en-US" dirty="0"/>
              <a:t>Customer-focus</a:t>
            </a:r>
          </a:p>
          <a:p>
            <a:pPr>
              <a:lnSpc>
                <a:spcPct val="80000"/>
              </a:lnSpc>
            </a:pPr>
            <a:r>
              <a:rPr lang="en-US" altLang="en-US" dirty="0"/>
              <a:t>Faster decision-making</a:t>
            </a:r>
          </a:p>
          <a:p>
            <a:pPr>
              <a:lnSpc>
                <a:spcPct val="80000"/>
              </a:lnSpc>
            </a:pPr>
            <a:r>
              <a:rPr lang="en-US" altLang="en-US" dirty="0"/>
              <a:t>Organizational learning</a:t>
            </a:r>
          </a:p>
          <a:p>
            <a:pPr>
              <a:lnSpc>
                <a:spcPct val="80000"/>
              </a:lnSpc>
            </a:pPr>
            <a:r>
              <a:rPr lang="en-US" altLang="en-US" dirty="0"/>
              <a:t>Making full use of Human resources</a:t>
            </a:r>
          </a:p>
          <a:p>
            <a:pPr>
              <a:lnSpc>
                <a:spcPct val="80000"/>
              </a:lnSpc>
            </a:pPr>
            <a:r>
              <a:rPr lang="en-US" altLang="en-US" dirty="0"/>
              <a:t>Engages the mind of every employee</a:t>
            </a:r>
          </a:p>
          <a:p>
            <a:endParaRPr lang="en-JM" dirty="0"/>
          </a:p>
        </p:txBody>
      </p:sp>
    </p:spTree>
    <p:extLst>
      <p:ext uri="{BB962C8B-B14F-4D97-AF65-F5344CB8AC3E}">
        <p14:creationId xmlns:p14="http://schemas.microsoft.com/office/powerpoint/2010/main" val="1878723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Reading: </a:t>
            </a:r>
            <a:br>
              <a:rPr lang="en-US" dirty="0"/>
            </a:br>
            <a:r>
              <a:rPr lang="en-US" dirty="0"/>
              <a:t>Unit 6</a:t>
            </a:r>
          </a:p>
        </p:txBody>
      </p:sp>
      <p:sp>
        <p:nvSpPr>
          <p:cNvPr id="3" name="Content Placeholder 2"/>
          <p:cNvSpPr>
            <a:spLocks noGrp="1"/>
          </p:cNvSpPr>
          <p:nvPr>
            <p:ph idx="1"/>
          </p:nvPr>
        </p:nvSpPr>
        <p:spPr/>
        <p:txBody>
          <a:bodyPr>
            <a:normAutofit/>
          </a:bodyPr>
          <a:lstStyle/>
          <a:p>
            <a:pPr marL="0" indent="0">
              <a:buNone/>
            </a:pPr>
            <a:r>
              <a:rPr lang="en-US" sz="2400" dirty="0"/>
              <a:t>Unit 6 – Personal Development</a:t>
            </a:r>
          </a:p>
        </p:txBody>
      </p:sp>
    </p:spTree>
    <p:extLst>
      <p:ext uri="{BB962C8B-B14F-4D97-AF65-F5344CB8AC3E}">
        <p14:creationId xmlns:p14="http://schemas.microsoft.com/office/powerpoint/2010/main" val="3834360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 #1</a:t>
            </a:r>
            <a:endParaRPr lang="en-JM" dirty="0"/>
          </a:p>
        </p:txBody>
      </p:sp>
      <p:sp>
        <p:nvSpPr>
          <p:cNvPr id="3" name="Content Placeholder 2"/>
          <p:cNvSpPr>
            <a:spLocks noGrp="1"/>
          </p:cNvSpPr>
          <p:nvPr>
            <p:ph idx="1"/>
          </p:nvPr>
        </p:nvSpPr>
        <p:spPr>
          <a:xfrm>
            <a:off x="1042904" y="2166258"/>
            <a:ext cx="10463296" cy="3777622"/>
          </a:xfrm>
        </p:spPr>
        <p:txBody>
          <a:bodyPr>
            <a:noAutofit/>
          </a:bodyPr>
          <a:lstStyle/>
          <a:p>
            <a:pPr marL="0" indent="0" algn="just">
              <a:buNone/>
            </a:pPr>
            <a:r>
              <a:rPr lang="en-US" sz="2400" dirty="0"/>
              <a:t>A. Give a definition for the term Problem Solving and explain why most individuals dread this activity </a:t>
            </a:r>
            <a:r>
              <a:rPr lang="en-US" sz="2400" b="1" i="1" dirty="0"/>
              <a:t>(4 marks) </a:t>
            </a:r>
            <a:endParaRPr lang="en-US" sz="2400" dirty="0"/>
          </a:p>
          <a:p>
            <a:pPr marL="0" indent="0" algn="just">
              <a:buNone/>
            </a:pPr>
            <a:endParaRPr lang="en-JM" sz="2400" dirty="0"/>
          </a:p>
          <a:p>
            <a:pPr marL="0" indent="0" algn="just">
              <a:buNone/>
            </a:pPr>
            <a:r>
              <a:rPr lang="en-US" sz="2400" dirty="0"/>
              <a:t>B. Why is follow up important in problem solving? </a:t>
            </a:r>
            <a:r>
              <a:rPr lang="en-US" sz="2400" b="1" i="1" dirty="0"/>
              <a:t>(4 marks) </a:t>
            </a:r>
            <a:endParaRPr lang="en-US" sz="2400" dirty="0"/>
          </a:p>
          <a:p>
            <a:pPr marL="0" indent="0" algn="just">
              <a:buNone/>
            </a:pPr>
            <a:endParaRPr lang="en-JM" sz="2400" dirty="0"/>
          </a:p>
          <a:p>
            <a:pPr marL="0" indent="0" algn="just">
              <a:buNone/>
            </a:pPr>
            <a:r>
              <a:rPr lang="en-US" sz="2400" dirty="0"/>
              <a:t>C. Identify and explain </a:t>
            </a:r>
            <a:r>
              <a:rPr lang="en-US" sz="2400" b="1" dirty="0"/>
              <a:t>FIVE (5) </a:t>
            </a:r>
            <a:r>
              <a:rPr lang="en-US" sz="2400" dirty="0"/>
              <a:t>barriers to problem solving and the decision making process </a:t>
            </a:r>
            <a:r>
              <a:rPr lang="en-US" sz="2400" b="1" i="1" dirty="0"/>
              <a:t>(15 marks) </a:t>
            </a:r>
          </a:p>
          <a:p>
            <a:pPr marL="0" indent="0" algn="just">
              <a:buNone/>
            </a:pPr>
            <a:endParaRPr lang="en-US" sz="2400" dirty="0"/>
          </a:p>
          <a:p>
            <a:pPr marL="0" indent="0" algn="just">
              <a:buNone/>
            </a:pPr>
            <a:r>
              <a:rPr lang="en-US" sz="2400" dirty="0"/>
              <a:t>D. List the steps in the problem solving process </a:t>
            </a:r>
            <a:r>
              <a:rPr lang="en-US" sz="2400" b="1" i="1" dirty="0"/>
              <a:t>(7 marks) </a:t>
            </a:r>
            <a:endParaRPr lang="en-US" sz="2400" dirty="0"/>
          </a:p>
          <a:p>
            <a:pPr marL="0" indent="0" algn="just">
              <a:buNone/>
            </a:pPr>
            <a:r>
              <a:rPr lang="en-JM" sz="2400" b="1" i="1" dirty="0"/>
              <a:t>(Total 30 marks) </a:t>
            </a:r>
            <a:endParaRPr lang="en-US" sz="2400" dirty="0"/>
          </a:p>
          <a:p>
            <a:pPr marL="0" indent="0" algn="just">
              <a:buNone/>
            </a:pPr>
            <a:endParaRPr lang="en-JM" sz="2400" dirty="0"/>
          </a:p>
        </p:txBody>
      </p:sp>
    </p:spTree>
    <p:extLst>
      <p:ext uri="{BB962C8B-B14F-4D97-AF65-F5344CB8AC3E}">
        <p14:creationId xmlns:p14="http://schemas.microsoft.com/office/powerpoint/2010/main" val="2113184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870857" y="1719944"/>
            <a:ext cx="10633755" cy="5061856"/>
          </a:xfrm>
        </p:spPr>
        <p:txBody>
          <a:bodyPr>
            <a:normAutofit/>
          </a:bodyPr>
          <a:lstStyle/>
          <a:p>
            <a:r>
              <a:rPr lang="en-JM" dirty="0">
                <a:hlinkClick r:id="rId2"/>
              </a:rPr>
              <a:t>http://www.slideshare.net/cavendishcustomers/7-communications-and-problem-solving-in-customer-service?qid=3bd7560d-4e08-4316-9784-12b479b7d182&amp;v=&amp;b=&amp;from_search=2</a:t>
            </a:r>
            <a:endParaRPr lang="en-JM" dirty="0"/>
          </a:p>
          <a:p>
            <a:r>
              <a:rPr lang="en-US" dirty="0">
                <a:hlinkClick r:id="rId3"/>
              </a:rPr>
              <a:t>http://www.businessdictionary.com/definition/empowerment.html</a:t>
            </a:r>
            <a:endParaRPr lang="en-US" dirty="0"/>
          </a:p>
          <a:p>
            <a:endParaRPr lang="en-US" dirty="0"/>
          </a:p>
        </p:txBody>
      </p:sp>
    </p:spTree>
    <p:extLst>
      <p:ext uri="{BB962C8B-B14F-4D97-AF65-F5344CB8AC3E}">
        <p14:creationId xmlns:p14="http://schemas.microsoft.com/office/powerpoint/2010/main" val="50287790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1CB06E496EC6F409B817EB2DFAF0878" ma:contentTypeVersion="4" ma:contentTypeDescription="Create a new document." ma:contentTypeScope="" ma:versionID="c3097ffc42010a56911ea95ff16ae928">
  <xsd:schema xmlns:xsd="http://www.w3.org/2001/XMLSchema" xmlns:xs="http://www.w3.org/2001/XMLSchema" xmlns:p="http://schemas.microsoft.com/office/2006/metadata/properties" xmlns:ns2="0fbedaf7-2e64-4840-ba08-169e9e2dea45" targetNamespace="http://schemas.microsoft.com/office/2006/metadata/properties" ma:root="true" ma:fieldsID="5607dce1aa48f45a8edf6f6f8b52f5cd" ns2:_="">
    <xsd:import namespace="0fbedaf7-2e64-4840-ba08-169e9e2dea4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edaf7-2e64-4840-ba08-169e9e2dea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1CA6E7-36AA-4FE9-949A-5BA56965ABD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B046EBF-B2C9-4F7D-9493-D6F9CFBCEE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edaf7-2e64-4840-ba08-169e9e2dea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46C2FFF-CD76-4D9E-A9D5-5DF687FD48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Vapor Trail</Template>
  <TotalTime>3852</TotalTime>
  <Words>2675</Words>
  <Application>Microsoft Office PowerPoint</Application>
  <PresentationFormat>Widescreen</PresentationFormat>
  <Paragraphs>390</Paragraphs>
  <Slides>49</Slides>
  <Notes>4</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Vapor Trail</vt:lpstr>
      <vt:lpstr>CUSTOMER SERVICE: Unit 5</vt:lpstr>
      <vt:lpstr>UNIT OBJECTIVES</vt:lpstr>
      <vt:lpstr>SEVEN DEADLY SINS OF SERVICE</vt:lpstr>
      <vt:lpstr>SEVEN DEADLY SINS OF SERVICE</vt:lpstr>
      <vt:lpstr>TYPES OF CUSTOMERS</vt:lpstr>
      <vt:lpstr>ARGUMENTATIVE</vt:lpstr>
      <vt:lpstr>COMPLAINING/HARD TO PLEASE</vt:lpstr>
      <vt:lpstr>IRRITABLE/MOODY</vt:lpstr>
      <vt:lpstr>INSULTING/SNOBBISH</vt:lpstr>
      <vt:lpstr>IMPATIENT</vt:lpstr>
      <vt:lpstr>LEAVE –ME – ALONE/JUST LOOKING</vt:lpstr>
      <vt:lpstr>DOMINEERING/SUPERIOR/ KNOW IT ALL CUSTOMERS</vt:lpstr>
      <vt:lpstr>Cut-the-Price/Thrifty Customers</vt:lpstr>
      <vt:lpstr>SLOW/METHODICAL</vt:lpstr>
      <vt:lpstr>DISHONEST</vt:lpstr>
      <vt:lpstr>Creativity and Problem Solving</vt:lpstr>
      <vt:lpstr>Creativity and Problem Solving</vt:lpstr>
      <vt:lpstr>Conflict is productive</vt:lpstr>
      <vt:lpstr>PROBLEM SOLVING PROCESS</vt:lpstr>
      <vt:lpstr>Problem Solving Process</vt:lpstr>
      <vt:lpstr>Problem Solving Strategies</vt:lpstr>
      <vt:lpstr>BARRIERS TO PROBLEM SOLVING</vt:lpstr>
      <vt:lpstr>complaint</vt:lpstr>
      <vt:lpstr>Complaints are gifts</vt:lpstr>
      <vt:lpstr>Complaints are gifts</vt:lpstr>
      <vt:lpstr>customer’s needs</vt:lpstr>
      <vt:lpstr>Handling complaints</vt:lpstr>
      <vt:lpstr>How to Handle Complaints</vt:lpstr>
      <vt:lpstr>How to Handle Complaints</vt:lpstr>
      <vt:lpstr>How to Handle Complaints</vt:lpstr>
      <vt:lpstr>How to Handle Complaints</vt:lpstr>
      <vt:lpstr>Steps for handling complaints</vt:lpstr>
      <vt:lpstr>Steps for handling complaints</vt:lpstr>
      <vt:lpstr>Negotiation</vt:lpstr>
      <vt:lpstr> Everyone  Negotiates</vt:lpstr>
      <vt:lpstr>Negotiation Skills</vt:lpstr>
      <vt:lpstr>Barriers to negotiation</vt:lpstr>
      <vt:lpstr>Rules for negotiation</vt:lpstr>
      <vt:lpstr>Negotiation essentials</vt:lpstr>
      <vt:lpstr>Negotiation essentials</vt:lpstr>
      <vt:lpstr>Negotiation essentials</vt:lpstr>
      <vt:lpstr>Negotiating Steps</vt:lpstr>
      <vt:lpstr>Negotiation winners</vt:lpstr>
      <vt:lpstr>EMPOWERMENT</vt:lpstr>
      <vt:lpstr>Degrees of Empowerment</vt:lpstr>
      <vt:lpstr>Benefits of Empowerment</vt:lpstr>
      <vt:lpstr>Advanced Reading:  Unit 6</vt:lpstr>
      <vt:lpstr>PRACTICE QUESTION #1</vt:lpstr>
      <vt:lpstr>References</vt:lpstr>
    </vt:vector>
  </TitlesOfParts>
  <Company>HOME/OFFICE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Unit1</dc:title>
  <dc:creator>VAIO123</dc:creator>
  <cp:lastModifiedBy>Paulette Foster-Christie</cp:lastModifiedBy>
  <cp:revision>284</cp:revision>
  <dcterms:created xsi:type="dcterms:W3CDTF">2017-01-16T20:24:43Z</dcterms:created>
  <dcterms:modified xsi:type="dcterms:W3CDTF">2025-04-28T04:53:39Z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0x01010061CB06E496EC6F409B817EB2DFAF0878</vt:lpwstr>
  </property>
</Properties>
</file>