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354" r:id="rId7"/>
    <p:sldId id="356" r:id="rId8"/>
    <p:sldId id="340" r:id="rId9"/>
    <p:sldId id="352" r:id="rId10"/>
    <p:sldId id="351" r:id="rId11"/>
    <p:sldId id="353" r:id="rId12"/>
    <p:sldId id="346" r:id="rId13"/>
    <p:sldId id="347" r:id="rId14"/>
    <p:sldId id="357" r:id="rId15"/>
    <p:sldId id="335" r:id="rId16"/>
    <p:sldId id="334" r:id="rId17"/>
    <p:sldId id="336" r:id="rId18"/>
    <p:sldId id="337" r:id="rId19"/>
    <p:sldId id="333" r:id="rId20"/>
    <p:sldId id="316" r:id="rId21"/>
    <p:sldId id="317" r:id="rId22"/>
    <p:sldId id="318" r:id="rId23"/>
    <p:sldId id="319" r:id="rId24"/>
    <p:sldId id="320" r:id="rId25"/>
    <p:sldId id="321" r:id="rId26"/>
    <p:sldId id="362" r:id="rId27"/>
    <p:sldId id="322" r:id="rId28"/>
    <p:sldId id="358" r:id="rId29"/>
    <p:sldId id="323" r:id="rId30"/>
    <p:sldId id="324" r:id="rId31"/>
    <p:sldId id="325" r:id="rId32"/>
    <p:sldId id="329" r:id="rId33"/>
    <p:sldId id="348" r:id="rId34"/>
    <p:sldId id="366" r:id="rId35"/>
    <p:sldId id="349" r:id="rId36"/>
    <p:sldId id="367" r:id="rId37"/>
    <p:sldId id="330" r:id="rId38"/>
    <p:sldId id="331" r:id="rId39"/>
    <p:sldId id="338" r:id="rId40"/>
    <p:sldId id="339" r:id="rId41"/>
    <p:sldId id="355" r:id="rId42"/>
    <p:sldId id="326" r:id="rId43"/>
    <p:sldId id="327" r:id="rId44"/>
    <p:sldId id="328" r:id="rId45"/>
    <p:sldId id="332" r:id="rId46"/>
    <p:sldId id="341" r:id="rId47"/>
    <p:sldId id="342" r:id="rId48"/>
    <p:sldId id="343" r:id="rId49"/>
    <p:sldId id="365" r:id="rId50"/>
    <p:sldId id="344" r:id="rId51"/>
    <p:sldId id="363" r:id="rId52"/>
    <p:sldId id="359" r:id="rId53"/>
    <p:sldId id="360" r:id="rId54"/>
    <p:sldId id="361" r:id="rId55"/>
    <p:sldId id="314" r:id="rId56"/>
    <p:sldId id="364" r:id="rId57"/>
    <p:sldId id="282" r:id="rId58"/>
    <p:sldId id="283"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A747DC-EAC9-4C12-85C6-605244CDE4FB}" v="1" dt="2025-04-20T19:19:03.752"/>
    <p1510:client id="{703BFF15-25CC-41C6-B825-0C6AE7ADCC0C}" v="1" dt="2025-04-18T23:32:44.0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58" d="100"/>
          <a:sy n="58" d="100"/>
        </p:scale>
        <p:origin x="95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E03CF7-1E85-4232-8645-09F7CD24B850}"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17DF9F50-7BAA-4B13-A95D-5B2E0C0C75A9}">
      <dgm:prSet phldrT="[Text]"/>
      <dgm:spPr>
        <a:solidFill>
          <a:schemeClr val="accent2">
            <a:lumMod val="40000"/>
            <a:lumOff val="60000"/>
          </a:schemeClr>
        </a:solidFill>
        <a:ln w="28575">
          <a:solidFill>
            <a:schemeClr val="accent4">
              <a:lumMod val="75000"/>
            </a:schemeClr>
          </a:solidFill>
        </a:ln>
      </dgm:spPr>
      <dgm:t>
        <a:bodyPr/>
        <a:lstStyle/>
        <a:p>
          <a:r>
            <a:rPr lang="en-US"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Value Turnoffs</a:t>
          </a:r>
        </a:p>
      </dgm:t>
    </dgm:pt>
    <dgm:pt modelId="{E77B6240-F1F1-4D8B-BBD6-2A7A3A60ECD3}" type="parTrans" cxnId="{E235F33C-B3E1-47B9-B330-6F1F4BA98976}">
      <dgm:prSet/>
      <dgm:spPr/>
      <dgm:t>
        <a:bodyPr/>
        <a:lstStyle/>
        <a:p>
          <a:endParaRPr lang="en-US"/>
        </a:p>
      </dgm:t>
    </dgm:pt>
    <dgm:pt modelId="{A02BC624-03DC-4B9D-96E0-803C15DBA0B5}" type="sibTrans" cxnId="{E235F33C-B3E1-47B9-B330-6F1F4BA98976}">
      <dgm:prSet/>
      <dgm:spPr/>
      <dgm:t>
        <a:bodyPr/>
        <a:lstStyle/>
        <a:p>
          <a:endParaRPr lang="en-US"/>
        </a:p>
      </dgm:t>
    </dgm:pt>
    <dgm:pt modelId="{759CE420-820F-42FC-9E25-45BC78444D81}">
      <dgm:prSet phldrT="[Text]" custT="1"/>
      <dgm:spPr>
        <a:solidFill>
          <a:schemeClr val="accent2">
            <a:lumMod val="40000"/>
            <a:lumOff val="60000"/>
          </a:schemeClr>
        </a:solidFill>
        <a:ln w="28575">
          <a:solidFill>
            <a:schemeClr val="accent4">
              <a:lumMod val="75000"/>
            </a:schemeClr>
          </a:solidFill>
        </a:ln>
      </dgm:spPr>
      <dgm:t>
        <a:bodyPr/>
        <a:lstStyle/>
        <a:p>
          <a:r>
            <a:rPr lang="en-US" sz="1800" dirty="0"/>
            <a:t>Poor guarantee</a:t>
          </a:r>
        </a:p>
      </dgm:t>
    </dgm:pt>
    <dgm:pt modelId="{B5B67BEE-6232-4276-BD41-0CA96EEFCE6A}" type="parTrans" cxnId="{9B8E6572-DEF2-468D-A3BF-50BC5F5F1EE3}">
      <dgm:prSet/>
      <dgm:spPr/>
      <dgm:t>
        <a:bodyPr/>
        <a:lstStyle/>
        <a:p>
          <a:endParaRPr lang="en-US"/>
        </a:p>
      </dgm:t>
    </dgm:pt>
    <dgm:pt modelId="{B2762637-B7B4-4BE0-980E-41908C429D04}" type="sibTrans" cxnId="{9B8E6572-DEF2-468D-A3BF-50BC5F5F1EE3}">
      <dgm:prSet/>
      <dgm:spPr/>
      <dgm:t>
        <a:bodyPr/>
        <a:lstStyle/>
        <a:p>
          <a:endParaRPr lang="en-US"/>
        </a:p>
      </dgm:t>
    </dgm:pt>
    <dgm:pt modelId="{EEFB73C7-B14B-4A1F-9F37-2324C999BD4A}">
      <dgm:prSet phldrT="[Text]" custT="1"/>
      <dgm:spPr>
        <a:solidFill>
          <a:schemeClr val="accent2">
            <a:lumMod val="40000"/>
            <a:lumOff val="60000"/>
          </a:schemeClr>
        </a:solidFill>
        <a:ln w="28575">
          <a:solidFill>
            <a:schemeClr val="accent4">
              <a:lumMod val="75000"/>
            </a:schemeClr>
          </a:solidFill>
        </a:ln>
      </dgm:spPr>
      <dgm:t>
        <a:bodyPr/>
        <a:lstStyle/>
        <a:p>
          <a:r>
            <a:rPr lang="en-US" sz="1800" dirty="0"/>
            <a:t>Poor quality</a:t>
          </a:r>
        </a:p>
      </dgm:t>
    </dgm:pt>
    <dgm:pt modelId="{25608569-3A5E-4799-8E1E-93909FB4A2DE}" type="parTrans" cxnId="{E10BDC21-635E-491E-AE74-FEFD878B5B6A}">
      <dgm:prSet/>
      <dgm:spPr/>
      <dgm:t>
        <a:bodyPr/>
        <a:lstStyle/>
        <a:p>
          <a:endParaRPr lang="en-US"/>
        </a:p>
      </dgm:t>
    </dgm:pt>
    <dgm:pt modelId="{7DF5C87A-B571-449F-B19E-4265A51416E5}" type="sibTrans" cxnId="{E10BDC21-635E-491E-AE74-FEFD878B5B6A}">
      <dgm:prSet/>
      <dgm:spPr/>
      <dgm:t>
        <a:bodyPr/>
        <a:lstStyle/>
        <a:p>
          <a:endParaRPr lang="en-US"/>
        </a:p>
      </dgm:t>
    </dgm:pt>
    <dgm:pt modelId="{EE8B6D3A-9DFF-4B41-A626-716612027B84}">
      <dgm:prSet phldrT="[Text]"/>
      <dgm:spPr>
        <a:solidFill>
          <a:schemeClr val="accent2">
            <a:lumMod val="40000"/>
            <a:lumOff val="60000"/>
          </a:schemeClr>
        </a:solidFill>
        <a:ln w="28575">
          <a:solidFill>
            <a:schemeClr val="accent4">
              <a:lumMod val="75000"/>
            </a:schemeClr>
          </a:solidFill>
        </a:ln>
      </dgm:spPr>
      <dgm:t>
        <a:bodyPr/>
        <a:lstStyle/>
        <a:p>
          <a:r>
            <a:rPr lang="en-US"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Systems Turnoffs</a:t>
          </a:r>
        </a:p>
      </dgm:t>
    </dgm:pt>
    <dgm:pt modelId="{B40CE1CB-EF11-439E-97EF-0B20189F9169}" type="parTrans" cxnId="{10C82435-8F88-456F-8635-36881FBFE21A}">
      <dgm:prSet/>
      <dgm:spPr/>
      <dgm:t>
        <a:bodyPr/>
        <a:lstStyle/>
        <a:p>
          <a:endParaRPr lang="en-US"/>
        </a:p>
      </dgm:t>
    </dgm:pt>
    <dgm:pt modelId="{9B399CDE-8F4E-4508-9A87-A54B521991A0}" type="sibTrans" cxnId="{10C82435-8F88-456F-8635-36881FBFE21A}">
      <dgm:prSet/>
      <dgm:spPr/>
      <dgm:t>
        <a:bodyPr/>
        <a:lstStyle/>
        <a:p>
          <a:endParaRPr lang="en-US"/>
        </a:p>
      </dgm:t>
    </dgm:pt>
    <dgm:pt modelId="{38129C46-B8D0-4F06-B4C9-5FAFC57A030A}">
      <dgm:prSet phldrT="[Text]" custT="1"/>
      <dgm:spPr>
        <a:solidFill>
          <a:schemeClr val="accent2">
            <a:lumMod val="40000"/>
            <a:lumOff val="60000"/>
          </a:schemeClr>
        </a:solidFill>
        <a:ln w="28575">
          <a:solidFill>
            <a:schemeClr val="accent4">
              <a:lumMod val="75000"/>
            </a:schemeClr>
          </a:solidFill>
        </a:ln>
      </dgm:spPr>
      <dgm:t>
        <a:bodyPr/>
        <a:lstStyle/>
        <a:p>
          <a:r>
            <a:rPr lang="en-US" sz="1800" dirty="0"/>
            <a:t>Slow service</a:t>
          </a:r>
        </a:p>
      </dgm:t>
    </dgm:pt>
    <dgm:pt modelId="{78866F12-8C49-4865-B60B-16622965FA93}" type="parTrans" cxnId="{B28323DE-8282-41A2-B207-1C7DE5FDE11E}">
      <dgm:prSet/>
      <dgm:spPr/>
      <dgm:t>
        <a:bodyPr/>
        <a:lstStyle/>
        <a:p>
          <a:endParaRPr lang="en-US"/>
        </a:p>
      </dgm:t>
    </dgm:pt>
    <dgm:pt modelId="{070FE7F7-CBAE-47BA-ABFA-6ADA6D8FD7FA}" type="sibTrans" cxnId="{B28323DE-8282-41A2-B207-1C7DE5FDE11E}">
      <dgm:prSet/>
      <dgm:spPr/>
      <dgm:t>
        <a:bodyPr/>
        <a:lstStyle/>
        <a:p>
          <a:endParaRPr lang="en-US"/>
        </a:p>
      </dgm:t>
    </dgm:pt>
    <dgm:pt modelId="{1B429853-1AF1-477A-8260-685C168B969E}">
      <dgm:prSet phldrT="[Text]" custT="1"/>
      <dgm:spPr>
        <a:solidFill>
          <a:schemeClr val="accent2">
            <a:lumMod val="40000"/>
            <a:lumOff val="60000"/>
          </a:schemeClr>
        </a:solidFill>
        <a:ln w="28575">
          <a:solidFill>
            <a:schemeClr val="accent4">
              <a:lumMod val="75000"/>
            </a:schemeClr>
          </a:solidFill>
        </a:ln>
      </dgm:spPr>
      <dgm:t>
        <a:bodyPr/>
        <a:lstStyle/>
        <a:p>
          <a:r>
            <a:rPr lang="en-US" sz="1800" dirty="0"/>
            <a:t>Business place dirty, messy, cluttered</a:t>
          </a:r>
        </a:p>
      </dgm:t>
    </dgm:pt>
    <dgm:pt modelId="{4779472F-745C-4C5B-A54A-4073B10A009F}" type="parTrans" cxnId="{732E0E6F-12B6-4050-A536-E662F4FA6A08}">
      <dgm:prSet/>
      <dgm:spPr/>
      <dgm:t>
        <a:bodyPr/>
        <a:lstStyle/>
        <a:p>
          <a:endParaRPr lang="en-US"/>
        </a:p>
      </dgm:t>
    </dgm:pt>
    <dgm:pt modelId="{97CB8215-8E9C-4C16-AAC3-4677E99C0356}" type="sibTrans" cxnId="{732E0E6F-12B6-4050-A536-E662F4FA6A08}">
      <dgm:prSet/>
      <dgm:spPr/>
      <dgm:t>
        <a:bodyPr/>
        <a:lstStyle/>
        <a:p>
          <a:endParaRPr lang="en-US"/>
        </a:p>
      </dgm:t>
    </dgm:pt>
    <dgm:pt modelId="{98DCDB96-A343-4CA2-A3DC-124E5D08C148}">
      <dgm:prSet phldrT="[Text]"/>
      <dgm:spPr>
        <a:solidFill>
          <a:schemeClr val="accent2">
            <a:lumMod val="40000"/>
            <a:lumOff val="60000"/>
          </a:schemeClr>
        </a:solidFill>
        <a:ln w="28575">
          <a:solidFill>
            <a:schemeClr val="accent4">
              <a:lumMod val="75000"/>
            </a:schemeClr>
          </a:solidFill>
        </a:ln>
      </dgm:spPr>
      <dgm:t>
        <a:bodyPr/>
        <a:lstStyle/>
        <a:p>
          <a:r>
            <a:rPr lang="en-US"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People Turnoffs</a:t>
          </a:r>
        </a:p>
      </dgm:t>
    </dgm:pt>
    <dgm:pt modelId="{DBED54CA-9FBD-45A9-82C3-646851AF1FC9}" type="parTrans" cxnId="{40A2BCE5-BF3F-41ED-8A05-FF6F448FBC84}">
      <dgm:prSet/>
      <dgm:spPr/>
      <dgm:t>
        <a:bodyPr/>
        <a:lstStyle/>
        <a:p>
          <a:endParaRPr lang="en-US"/>
        </a:p>
      </dgm:t>
    </dgm:pt>
    <dgm:pt modelId="{F40BDFF1-EF20-42F8-BA83-8B8080ADE78C}" type="sibTrans" cxnId="{40A2BCE5-BF3F-41ED-8A05-FF6F448FBC84}">
      <dgm:prSet/>
      <dgm:spPr/>
      <dgm:t>
        <a:bodyPr/>
        <a:lstStyle/>
        <a:p>
          <a:endParaRPr lang="en-US"/>
        </a:p>
      </dgm:t>
    </dgm:pt>
    <dgm:pt modelId="{6534DABF-61BB-4E2F-84BD-7C105736686E}">
      <dgm:prSet phldrT="[Text]" custT="1"/>
      <dgm:spPr>
        <a:solidFill>
          <a:schemeClr val="accent2">
            <a:lumMod val="40000"/>
            <a:lumOff val="60000"/>
          </a:schemeClr>
        </a:solidFill>
        <a:ln w="28575">
          <a:solidFill>
            <a:schemeClr val="accent4">
              <a:lumMod val="75000"/>
            </a:schemeClr>
          </a:solidFill>
        </a:ln>
      </dgm:spPr>
      <dgm:t>
        <a:bodyPr/>
        <a:lstStyle/>
        <a:p>
          <a:r>
            <a:rPr lang="en-US" sz="1800" dirty="0"/>
            <a:t>Lack of courtesy, friendliness, attention</a:t>
          </a:r>
        </a:p>
      </dgm:t>
    </dgm:pt>
    <dgm:pt modelId="{8FCA146A-F883-401F-B5C5-4565708008BB}" type="parTrans" cxnId="{343AF043-1BC9-41E9-9807-64884BDE45D4}">
      <dgm:prSet/>
      <dgm:spPr/>
      <dgm:t>
        <a:bodyPr/>
        <a:lstStyle/>
        <a:p>
          <a:endParaRPr lang="en-US"/>
        </a:p>
      </dgm:t>
    </dgm:pt>
    <dgm:pt modelId="{4A043E0C-30F0-44DE-8788-94E2A503477D}" type="sibTrans" cxnId="{343AF043-1BC9-41E9-9807-64884BDE45D4}">
      <dgm:prSet/>
      <dgm:spPr/>
      <dgm:t>
        <a:bodyPr/>
        <a:lstStyle/>
        <a:p>
          <a:endParaRPr lang="en-US"/>
        </a:p>
      </dgm:t>
    </dgm:pt>
    <dgm:pt modelId="{5214EAD7-B5B5-4D68-A382-F9DDF6393C8F}">
      <dgm:prSet phldrT="[Text]" custT="1"/>
      <dgm:spPr>
        <a:solidFill>
          <a:schemeClr val="accent2">
            <a:lumMod val="40000"/>
            <a:lumOff val="60000"/>
          </a:schemeClr>
        </a:solidFill>
        <a:ln w="28575">
          <a:solidFill>
            <a:schemeClr val="accent4">
              <a:lumMod val="75000"/>
            </a:schemeClr>
          </a:solidFill>
        </a:ln>
      </dgm:spPr>
      <dgm:t>
        <a:bodyPr/>
        <a:lstStyle/>
        <a:p>
          <a:r>
            <a:rPr lang="en-US" sz="1800" dirty="0"/>
            <a:t>Employees who lack knowledge</a:t>
          </a:r>
        </a:p>
      </dgm:t>
    </dgm:pt>
    <dgm:pt modelId="{E0EF8B41-6015-4A81-B644-7AC1F7218A3D}" type="parTrans" cxnId="{8C64837B-7F6E-4B1D-9293-DC71AC1D6DCD}">
      <dgm:prSet/>
      <dgm:spPr/>
      <dgm:t>
        <a:bodyPr/>
        <a:lstStyle/>
        <a:p>
          <a:endParaRPr lang="en-US"/>
        </a:p>
      </dgm:t>
    </dgm:pt>
    <dgm:pt modelId="{B94D5C63-A26D-4453-8539-F8A22A07D849}" type="sibTrans" cxnId="{8C64837B-7F6E-4B1D-9293-DC71AC1D6DCD}">
      <dgm:prSet/>
      <dgm:spPr/>
      <dgm:t>
        <a:bodyPr/>
        <a:lstStyle/>
        <a:p>
          <a:endParaRPr lang="en-US"/>
        </a:p>
      </dgm:t>
    </dgm:pt>
    <dgm:pt modelId="{28CD6ECF-35A6-4E01-BE9B-1890A7BDBA0D}">
      <dgm:prSet phldrT="[Text]" custT="1"/>
      <dgm:spPr>
        <a:solidFill>
          <a:schemeClr val="accent2">
            <a:lumMod val="40000"/>
            <a:lumOff val="60000"/>
          </a:schemeClr>
        </a:solidFill>
        <a:ln w="28575">
          <a:solidFill>
            <a:schemeClr val="accent4">
              <a:lumMod val="75000"/>
            </a:schemeClr>
          </a:solidFill>
        </a:ln>
      </dgm:spPr>
      <dgm:t>
        <a:bodyPr/>
        <a:lstStyle/>
        <a:p>
          <a:r>
            <a:rPr lang="en-US" sz="1800" dirty="0"/>
            <a:t>Price too high</a:t>
          </a:r>
        </a:p>
      </dgm:t>
    </dgm:pt>
    <dgm:pt modelId="{220B2701-52F1-43E9-9730-27A5355B900E}" type="parTrans" cxnId="{92E473ED-C5D2-4C30-9860-8AF4AF1E11C0}">
      <dgm:prSet/>
      <dgm:spPr/>
      <dgm:t>
        <a:bodyPr/>
        <a:lstStyle/>
        <a:p>
          <a:endParaRPr lang="en-US"/>
        </a:p>
      </dgm:t>
    </dgm:pt>
    <dgm:pt modelId="{0C3B3514-2902-448F-93F5-DE1FB7DB8A80}" type="sibTrans" cxnId="{92E473ED-C5D2-4C30-9860-8AF4AF1E11C0}">
      <dgm:prSet/>
      <dgm:spPr/>
      <dgm:t>
        <a:bodyPr/>
        <a:lstStyle/>
        <a:p>
          <a:endParaRPr lang="en-US"/>
        </a:p>
      </dgm:t>
    </dgm:pt>
    <dgm:pt modelId="{AD53F422-4E77-47D8-9D14-9FDD119D343B}">
      <dgm:prSet phldrT="[Text]" custT="1"/>
      <dgm:spPr>
        <a:solidFill>
          <a:schemeClr val="accent2">
            <a:lumMod val="40000"/>
            <a:lumOff val="60000"/>
          </a:schemeClr>
        </a:solidFill>
        <a:ln w="28575">
          <a:solidFill>
            <a:schemeClr val="accent4">
              <a:lumMod val="75000"/>
            </a:schemeClr>
          </a:solidFill>
        </a:ln>
      </dgm:spPr>
      <dgm:t>
        <a:bodyPr/>
        <a:lstStyle/>
        <a:p>
          <a:r>
            <a:rPr lang="en-US" sz="1800" dirty="0"/>
            <a:t>Low selection of products</a:t>
          </a:r>
        </a:p>
      </dgm:t>
    </dgm:pt>
    <dgm:pt modelId="{3982EF30-CCAC-4DC7-B025-B4F804E460C6}" type="parTrans" cxnId="{188455B7-DF38-42E6-97E1-CCD8D93C23FE}">
      <dgm:prSet/>
      <dgm:spPr/>
      <dgm:t>
        <a:bodyPr/>
        <a:lstStyle/>
        <a:p>
          <a:endParaRPr lang="en-US"/>
        </a:p>
      </dgm:t>
    </dgm:pt>
    <dgm:pt modelId="{16B58992-B19F-4531-8482-04CF0A6EEF71}" type="sibTrans" cxnId="{188455B7-DF38-42E6-97E1-CCD8D93C23FE}">
      <dgm:prSet/>
      <dgm:spPr/>
      <dgm:t>
        <a:bodyPr/>
        <a:lstStyle/>
        <a:p>
          <a:endParaRPr lang="en-US"/>
        </a:p>
      </dgm:t>
    </dgm:pt>
    <dgm:pt modelId="{58C089FE-FD4E-4376-916A-860BD20587EE}">
      <dgm:prSet phldrT="[Text]" custT="1"/>
      <dgm:spPr>
        <a:solidFill>
          <a:schemeClr val="accent2">
            <a:lumMod val="40000"/>
            <a:lumOff val="60000"/>
          </a:schemeClr>
        </a:solidFill>
        <a:ln w="28575">
          <a:solidFill>
            <a:schemeClr val="accent4">
              <a:lumMod val="75000"/>
            </a:schemeClr>
          </a:solidFill>
        </a:ln>
      </dgm:spPr>
      <dgm:t>
        <a:bodyPr/>
        <a:lstStyle/>
        <a:p>
          <a:r>
            <a:rPr lang="en-US" sz="1800" dirty="0"/>
            <a:t>Inconvenient location, layout, parking</a:t>
          </a:r>
        </a:p>
      </dgm:t>
    </dgm:pt>
    <dgm:pt modelId="{F1F0D246-9694-4114-9F2D-D75467F0701F}" type="parTrans" cxnId="{7E0C3161-2098-4B22-B85C-8859979D8FB9}">
      <dgm:prSet/>
      <dgm:spPr/>
      <dgm:t>
        <a:bodyPr/>
        <a:lstStyle/>
        <a:p>
          <a:endParaRPr lang="en-US"/>
        </a:p>
      </dgm:t>
    </dgm:pt>
    <dgm:pt modelId="{455C72D5-BC11-4D99-BADF-985C7A8F2CBB}" type="sibTrans" cxnId="{7E0C3161-2098-4B22-B85C-8859979D8FB9}">
      <dgm:prSet/>
      <dgm:spPr/>
      <dgm:t>
        <a:bodyPr/>
        <a:lstStyle/>
        <a:p>
          <a:endParaRPr lang="en-US"/>
        </a:p>
      </dgm:t>
    </dgm:pt>
    <dgm:pt modelId="{D5340740-FA63-449B-86E8-8DFEF6E75B00}">
      <dgm:prSet phldrT="[Text]" custT="1"/>
      <dgm:spPr>
        <a:solidFill>
          <a:schemeClr val="accent2">
            <a:lumMod val="40000"/>
            <a:lumOff val="60000"/>
          </a:schemeClr>
        </a:solidFill>
        <a:ln w="28575">
          <a:solidFill>
            <a:schemeClr val="accent4">
              <a:lumMod val="75000"/>
            </a:schemeClr>
          </a:solidFill>
        </a:ln>
      </dgm:spPr>
      <dgm:t>
        <a:bodyPr/>
        <a:lstStyle/>
        <a:p>
          <a:r>
            <a:rPr lang="en-US" sz="1800" dirty="0"/>
            <a:t>Employee appearance</a:t>
          </a:r>
        </a:p>
      </dgm:t>
    </dgm:pt>
    <dgm:pt modelId="{D602D2E7-09A6-40EB-A944-628A94E6571E}" type="parTrans" cxnId="{61C27289-A045-425C-94C4-32CC18FC72BC}">
      <dgm:prSet/>
      <dgm:spPr/>
      <dgm:t>
        <a:bodyPr/>
        <a:lstStyle/>
        <a:p>
          <a:endParaRPr lang="en-US"/>
        </a:p>
      </dgm:t>
    </dgm:pt>
    <dgm:pt modelId="{8DE598D8-3563-4E9F-8E43-26290C854FDC}" type="sibTrans" cxnId="{61C27289-A045-425C-94C4-32CC18FC72BC}">
      <dgm:prSet/>
      <dgm:spPr/>
      <dgm:t>
        <a:bodyPr/>
        <a:lstStyle/>
        <a:p>
          <a:endParaRPr lang="en-US"/>
        </a:p>
      </dgm:t>
    </dgm:pt>
    <dgm:pt modelId="{6D671539-5A8E-4510-A20E-ADD363236B4C}" type="pres">
      <dgm:prSet presAssocID="{3FE03CF7-1E85-4232-8645-09F7CD24B850}" presName="Name0" presStyleCnt="0">
        <dgm:presLayoutVars>
          <dgm:dir/>
          <dgm:animLvl val="lvl"/>
          <dgm:resizeHandles val="exact"/>
        </dgm:presLayoutVars>
      </dgm:prSet>
      <dgm:spPr/>
    </dgm:pt>
    <dgm:pt modelId="{9F3A02D5-1BF3-4DCE-BC46-818B91E490DF}" type="pres">
      <dgm:prSet presAssocID="{17DF9F50-7BAA-4B13-A95D-5B2E0C0C75A9}" presName="linNode" presStyleCnt="0"/>
      <dgm:spPr/>
    </dgm:pt>
    <dgm:pt modelId="{6B1CAF82-CDA6-47D7-907E-0CA5A5291B05}" type="pres">
      <dgm:prSet presAssocID="{17DF9F50-7BAA-4B13-A95D-5B2E0C0C75A9}" presName="parentText" presStyleLbl="node1" presStyleIdx="0" presStyleCnt="3">
        <dgm:presLayoutVars>
          <dgm:chMax val="1"/>
          <dgm:bulletEnabled val="1"/>
        </dgm:presLayoutVars>
      </dgm:prSet>
      <dgm:spPr/>
    </dgm:pt>
    <dgm:pt modelId="{3A0DCD8D-432E-4821-AD23-2E5330469361}" type="pres">
      <dgm:prSet presAssocID="{17DF9F50-7BAA-4B13-A95D-5B2E0C0C75A9}" presName="descendantText" presStyleLbl="alignAccFollowNode1" presStyleIdx="0" presStyleCnt="3">
        <dgm:presLayoutVars>
          <dgm:bulletEnabled val="1"/>
        </dgm:presLayoutVars>
      </dgm:prSet>
      <dgm:spPr/>
    </dgm:pt>
    <dgm:pt modelId="{1F13262D-FDA6-408C-B085-C73AE5612773}" type="pres">
      <dgm:prSet presAssocID="{A02BC624-03DC-4B9D-96E0-803C15DBA0B5}" presName="sp" presStyleCnt="0"/>
      <dgm:spPr/>
    </dgm:pt>
    <dgm:pt modelId="{1910631B-AACE-4EDD-9430-5A924745A027}" type="pres">
      <dgm:prSet presAssocID="{EE8B6D3A-9DFF-4B41-A626-716612027B84}" presName="linNode" presStyleCnt="0"/>
      <dgm:spPr/>
    </dgm:pt>
    <dgm:pt modelId="{00DC2D53-03A5-48A8-B706-B0311B544147}" type="pres">
      <dgm:prSet presAssocID="{EE8B6D3A-9DFF-4B41-A626-716612027B84}" presName="parentText" presStyleLbl="node1" presStyleIdx="1" presStyleCnt="3">
        <dgm:presLayoutVars>
          <dgm:chMax val="1"/>
          <dgm:bulletEnabled val="1"/>
        </dgm:presLayoutVars>
      </dgm:prSet>
      <dgm:spPr/>
    </dgm:pt>
    <dgm:pt modelId="{41B2F8B6-3CA6-4BC7-BE59-339915933498}" type="pres">
      <dgm:prSet presAssocID="{EE8B6D3A-9DFF-4B41-A626-716612027B84}" presName="descendantText" presStyleLbl="alignAccFollowNode1" presStyleIdx="1" presStyleCnt="3">
        <dgm:presLayoutVars>
          <dgm:bulletEnabled val="1"/>
        </dgm:presLayoutVars>
      </dgm:prSet>
      <dgm:spPr/>
    </dgm:pt>
    <dgm:pt modelId="{4C63AD09-E445-4B74-A147-0B3536237D67}" type="pres">
      <dgm:prSet presAssocID="{9B399CDE-8F4E-4508-9A87-A54B521991A0}" presName="sp" presStyleCnt="0"/>
      <dgm:spPr/>
    </dgm:pt>
    <dgm:pt modelId="{98B55C3B-7645-4C12-8043-A2B85E69E3A9}" type="pres">
      <dgm:prSet presAssocID="{98DCDB96-A343-4CA2-A3DC-124E5D08C148}" presName="linNode" presStyleCnt="0"/>
      <dgm:spPr/>
    </dgm:pt>
    <dgm:pt modelId="{135C4F3D-AB69-48D1-A97A-E7A138A5A37D}" type="pres">
      <dgm:prSet presAssocID="{98DCDB96-A343-4CA2-A3DC-124E5D08C148}" presName="parentText" presStyleLbl="node1" presStyleIdx="2" presStyleCnt="3">
        <dgm:presLayoutVars>
          <dgm:chMax val="1"/>
          <dgm:bulletEnabled val="1"/>
        </dgm:presLayoutVars>
      </dgm:prSet>
      <dgm:spPr/>
    </dgm:pt>
    <dgm:pt modelId="{D06953F8-5D6F-4B57-A975-E29C9ED181EF}" type="pres">
      <dgm:prSet presAssocID="{98DCDB96-A343-4CA2-A3DC-124E5D08C148}" presName="descendantText" presStyleLbl="alignAccFollowNode1" presStyleIdx="2" presStyleCnt="3">
        <dgm:presLayoutVars>
          <dgm:bulletEnabled val="1"/>
        </dgm:presLayoutVars>
      </dgm:prSet>
      <dgm:spPr/>
    </dgm:pt>
  </dgm:ptLst>
  <dgm:cxnLst>
    <dgm:cxn modelId="{5B29DF0A-B9FD-4AE6-9898-36B5D7621499}" type="presOf" srcId="{EEFB73C7-B14B-4A1F-9F37-2324C999BD4A}" destId="{3A0DCD8D-432E-4821-AD23-2E5330469361}" srcOrd="0" destOrd="1" presId="urn:microsoft.com/office/officeart/2005/8/layout/vList5"/>
    <dgm:cxn modelId="{8504810F-5AEB-48B6-913E-E050CCC86184}" type="presOf" srcId="{58C089FE-FD4E-4376-916A-860BD20587EE}" destId="{41B2F8B6-3CA6-4BC7-BE59-339915933498}" srcOrd="0" destOrd="3" presId="urn:microsoft.com/office/officeart/2005/8/layout/vList5"/>
    <dgm:cxn modelId="{28861114-B015-41EA-BE27-A1B9F85BE48E}" type="presOf" srcId="{17DF9F50-7BAA-4B13-A95D-5B2E0C0C75A9}" destId="{6B1CAF82-CDA6-47D7-907E-0CA5A5291B05}" srcOrd="0" destOrd="0" presId="urn:microsoft.com/office/officeart/2005/8/layout/vList5"/>
    <dgm:cxn modelId="{E10BDC21-635E-491E-AE74-FEFD878B5B6A}" srcId="{17DF9F50-7BAA-4B13-A95D-5B2E0C0C75A9}" destId="{EEFB73C7-B14B-4A1F-9F37-2324C999BD4A}" srcOrd="1" destOrd="0" parTransId="{25608569-3A5E-4799-8E1E-93909FB4A2DE}" sibTransId="{7DF5C87A-B571-449F-B19E-4265A51416E5}"/>
    <dgm:cxn modelId="{10C82435-8F88-456F-8635-36881FBFE21A}" srcId="{3FE03CF7-1E85-4232-8645-09F7CD24B850}" destId="{EE8B6D3A-9DFF-4B41-A626-716612027B84}" srcOrd="1" destOrd="0" parTransId="{B40CE1CB-EF11-439E-97EF-0B20189F9169}" sibTransId="{9B399CDE-8F4E-4508-9A87-A54B521991A0}"/>
    <dgm:cxn modelId="{9AFB7337-9DA6-4C42-9753-46F42676B4A5}" type="presOf" srcId="{1B429853-1AF1-477A-8260-685C168B969E}" destId="{41B2F8B6-3CA6-4BC7-BE59-339915933498}" srcOrd="0" destOrd="1" presId="urn:microsoft.com/office/officeart/2005/8/layout/vList5"/>
    <dgm:cxn modelId="{40106C38-FF4F-40A9-BF30-74BC73E49A98}" type="presOf" srcId="{38129C46-B8D0-4F06-B4C9-5FAFC57A030A}" destId="{41B2F8B6-3CA6-4BC7-BE59-339915933498}" srcOrd="0" destOrd="0" presId="urn:microsoft.com/office/officeart/2005/8/layout/vList5"/>
    <dgm:cxn modelId="{E235F33C-B3E1-47B9-B330-6F1F4BA98976}" srcId="{3FE03CF7-1E85-4232-8645-09F7CD24B850}" destId="{17DF9F50-7BAA-4B13-A95D-5B2E0C0C75A9}" srcOrd="0" destOrd="0" parTransId="{E77B6240-F1F1-4D8B-BBD6-2A7A3A60ECD3}" sibTransId="{A02BC624-03DC-4B9D-96E0-803C15DBA0B5}"/>
    <dgm:cxn modelId="{7E0C3161-2098-4B22-B85C-8859979D8FB9}" srcId="{EE8B6D3A-9DFF-4B41-A626-716612027B84}" destId="{58C089FE-FD4E-4376-916A-860BD20587EE}" srcOrd="3" destOrd="0" parTransId="{F1F0D246-9694-4114-9F2D-D75467F0701F}" sibTransId="{455C72D5-BC11-4D99-BADF-985C7A8F2CBB}"/>
    <dgm:cxn modelId="{58CFE263-1A18-44BA-8030-7B6B4F343639}" type="presOf" srcId="{759CE420-820F-42FC-9E25-45BC78444D81}" destId="{3A0DCD8D-432E-4821-AD23-2E5330469361}" srcOrd="0" destOrd="0" presId="urn:microsoft.com/office/officeart/2005/8/layout/vList5"/>
    <dgm:cxn modelId="{343AF043-1BC9-41E9-9807-64884BDE45D4}" srcId="{98DCDB96-A343-4CA2-A3DC-124E5D08C148}" destId="{6534DABF-61BB-4E2F-84BD-7C105736686E}" srcOrd="0" destOrd="0" parTransId="{8FCA146A-F883-401F-B5C5-4565708008BB}" sibTransId="{4A043E0C-30F0-44DE-8788-94E2A503477D}"/>
    <dgm:cxn modelId="{732E0E6F-12B6-4050-A536-E662F4FA6A08}" srcId="{EE8B6D3A-9DFF-4B41-A626-716612027B84}" destId="{1B429853-1AF1-477A-8260-685C168B969E}" srcOrd="1" destOrd="0" parTransId="{4779472F-745C-4C5B-A54A-4073B10A009F}" sibTransId="{97CB8215-8E9C-4C16-AAC3-4677E99C0356}"/>
    <dgm:cxn modelId="{9B8E6572-DEF2-468D-A3BF-50BC5F5F1EE3}" srcId="{17DF9F50-7BAA-4B13-A95D-5B2E0C0C75A9}" destId="{759CE420-820F-42FC-9E25-45BC78444D81}" srcOrd="0" destOrd="0" parTransId="{B5B67BEE-6232-4276-BD41-0CA96EEFCE6A}" sibTransId="{B2762637-B7B4-4BE0-980E-41908C429D04}"/>
    <dgm:cxn modelId="{8C64837B-7F6E-4B1D-9293-DC71AC1D6DCD}" srcId="{98DCDB96-A343-4CA2-A3DC-124E5D08C148}" destId="{5214EAD7-B5B5-4D68-A382-F9DDF6393C8F}" srcOrd="1" destOrd="0" parTransId="{E0EF8B41-6015-4A81-B644-7AC1F7218A3D}" sibTransId="{B94D5C63-A26D-4453-8539-F8A22A07D849}"/>
    <dgm:cxn modelId="{B9D72B84-9C44-4D9A-B2E4-702C6F159AEA}" type="presOf" srcId="{6534DABF-61BB-4E2F-84BD-7C105736686E}" destId="{D06953F8-5D6F-4B57-A975-E29C9ED181EF}" srcOrd="0" destOrd="0" presId="urn:microsoft.com/office/officeart/2005/8/layout/vList5"/>
    <dgm:cxn modelId="{61C27289-A045-425C-94C4-32CC18FC72BC}" srcId="{98DCDB96-A343-4CA2-A3DC-124E5D08C148}" destId="{D5340740-FA63-449B-86E8-8DFEF6E75B00}" srcOrd="2" destOrd="0" parTransId="{D602D2E7-09A6-40EB-A944-628A94E6571E}" sibTransId="{8DE598D8-3563-4E9F-8E43-26290C854FDC}"/>
    <dgm:cxn modelId="{6CECD191-C156-4F3F-904B-446C6D7CD4F9}" type="presOf" srcId="{3FE03CF7-1E85-4232-8645-09F7CD24B850}" destId="{6D671539-5A8E-4510-A20E-ADD363236B4C}" srcOrd="0" destOrd="0" presId="urn:microsoft.com/office/officeart/2005/8/layout/vList5"/>
    <dgm:cxn modelId="{F70CDE9F-1C80-4890-8492-68BC897E066E}" type="presOf" srcId="{98DCDB96-A343-4CA2-A3DC-124E5D08C148}" destId="{135C4F3D-AB69-48D1-A97A-E7A138A5A37D}" srcOrd="0" destOrd="0" presId="urn:microsoft.com/office/officeart/2005/8/layout/vList5"/>
    <dgm:cxn modelId="{188455B7-DF38-42E6-97E1-CCD8D93C23FE}" srcId="{EE8B6D3A-9DFF-4B41-A626-716612027B84}" destId="{AD53F422-4E77-47D8-9D14-9FDD119D343B}" srcOrd="2" destOrd="0" parTransId="{3982EF30-CCAC-4DC7-B025-B4F804E460C6}" sibTransId="{16B58992-B19F-4531-8482-04CF0A6EEF71}"/>
    <dgm:cxn modelId="{A064ECBC-C295-428B-BF04-7688F3006709}" type="presOf" srcId="{D5340740-FA63-449B-86E8-8DFEF6E75B00}" destId="{D06953F8-5D6F-4B57-A975-E29C9ED181EF}" srcOrd="0" destOrd="2" presId="urn:microsoft.com/office/officeart/2005/8/layout/vList5"/>
    <dgm:cxn modelId="{F66435C6-D45A-4FCC-BD46-D8DE7A211BF8}" type="presOf" srcId="{AD53F422-4E77-47D8-9D14-9FDD119D343B}" destId="{41B2F8B6-3CA6-4BC7-BE59-339915933498}" srcOrd="0" destOrd="2" presId="urn:microsoft.com/office/officeart/2005/8/layout/vList5"/>
    <dgm:cxn modelId="{90FC40D3-9BDE-43EC-ABCC-6B0C7F345480}" type="presOf" srcId="{5214EAD7-B5B5-4D68-A382-F9DDF6393C8F}" destId="{D06953F8-5D6F-4B57-A975-E29C9ED181EF}" srcOrd="0" destOrd="1" presId="urn:microsoft.com/office/officeart/2005/8/layout/vList5"/>
    <dgm:cxn modelId="{B28323DE-8282-41A2-B207-1C7DE5FDE11E}" srcId="{EE8B6D3A-9DFF-4B41-A626-716612027B84}" destId="{38129C46-B8D0-4F06-B4C9-5FAFC57A030A}" srcOrd="0" destOrd="0" parTransId="{78866F12-8C49-4865-B60B-16622965FA93}" sibTransId="{070FE7F7-CBAE-47BA-ABFA-6ADA6D8FD7FA}"/>
    <dgm:cxn modelId="{7A1EF1E1-E86F-4135-9D8C-4684785D78AE}" type="presOf" srcId="{28CD6ECF-35A6-4E01-BE9B-1890A7BDBA0D}" destId="{3A0DCD8D-432E-4821-AD23-2E5330469361}" srcOrd="0" destOrd="2" presId="urn:microsoft.com/office/officeart/2005/8/layout/vList5"/>
    <dgm:cxn modelId="{DF2401E2-BD97-4DC6-836D-C63DBFA0715F}" type="presOf" srcId="{EE8B6D3A-9DFF-4B41-A626-716612027B84}" destId="{00DC2D53-03A5-48A8-B706-B0311B544147}" srcOrd="0" destOrd="0" presId="urn:microsoft.com/office/officeart/2005/8/layout/vList5"/>
    <dgm:cxn modelId="{40A2BCE5-BF3F-41ED-8A05-FF6F448FBC84}" srcId="{3FE03CF7-1E85-4232-8645-09F7CD24B850}" destId="{98DCDB96-A343-4CA2-A3DC-124E5D08C148}" srcOrd="2" destOrd="0" parTransId="{DBED54CA-9FBD-45A9-82C3-646851AF1FC9}" sibTransId="{F40BDFF1-EF20-42F8-BA83-8B8080ADE78C}"/>
    <dgm:cxn modelId="{92E473ED-C5D2-4C30-9860-8AF4AF1E11C0}" srcId="{17DF9F50-7BAA-4B13-A95D-5B2E0C0C75A9}" destId="{28CD6ECF-35A6-4E01-BE9B-1890A7BDBA0D}" srcOrd="2" destOrd="0" parTransId="{220B2701-52F1-43E9-9730-27A5355B900E}" sibTransId="{0C3B3514-2902-448F-93F5-DE1FB7DB8A80}"/>
    <dgm:cxn modelId="{BBF601B2-54B9-4CE4-BAB6-9CACDD9F10D3}" type="presParOf" srcId="{6D671539-5A8E-4510-A20E-ADD363236B4C}" destId="{9F3A02D5-1BF3-4DCE-BC46-818B91E490DF}" srcOrd="0" destOrd="0" presId="urn:microsoft.com/office/officeart/2005/8/layout/vList5"/>
    <dgm:cxn modelId="{39702EDB-B46A-4083-BF96-F5C7F1D48599}" type="presParOf" srcId="{9F3A02D5-1BF3-4DCE-BC46-818B91E490DF}" destId="{6B1CAF82-CDA6-47D7-907E-0CA5A5291B05}" srcOrd="0" destOrd="0" presId="urn:microsoft.com/office/officeart/2005/8/layout/vList5"/>
    <dgm:cxn modelId="{A4BB5961-A43C-4F40-A6FE-B1C44AE370E8}" type="presParOf" srcId="{9F3A02D5-1BF3-4DCE-BC46-818B91E490DF}" destId="{3A0DCD8D-432E-4821-AD23-2E5330469361}" srcOrd="1" destOrd="0" presId="urn:microsoft.com/office/officeart/2005/8/layout/vList5"/>
    <dgm:cxn modelId="{7BFEB62C-19F2-4573-A7E1-B86C1EBA44A1}" type="presParOf" srcId="{6D671539-5A8E-4510-A20E-ADD363236B4C}" destId="{1F13262D-FDA6-408C-B085-C73AE5612773}" srcOrd="1" destOrd="0" presId="urn:microsoft.com/office/officeart/2005/8/layout/vList5"/>
    <dgm:cxn modelId="{04FB6145-EB75-4E06-B441-252FF73E2D81}" type="presParOf" srcId="{6D671539-5A8E-4510-A20E-ADD363236B4C}" destId="{1910631B-AACE-4EDD-9430-5A924745A027}" srcOrd="2" destOrd="0" presId="urn:microsoft.com/office/officeart/2005/8/layout/vList5"/>
    <dgm:cxn modelId="{E91D8914-EB45-4544-9F0A-8DD188C39772}" type="presParOf" srcId="{1910631B-AACE-4EDD-9430-5A924745A027}" destId="{00DC2D53-03A5-48A8-B706-B0311B544147}" srcOrd="0" destOrd="0" presId="urn:microsoft.com/office/officeart/2005/8/layout/vList5"/>
    <dgm:cxn modelId="{D78F3FF2-C4E2-49B4-B2AC-DF2713DC6692}" type="presParOf" srcId="{1910631B-AACE-4EDD-9430-5A924745A027}" destId="{41B2F8B6-3CA6-4BC7-BE59-339915933498}" srcOrd="1" destOrd="0" presId="urn:microsoft.com/office/officeart/2005/8/layout/vList5"/>
    <dgm:cxn modelId="{2288E05A-D56B-4D47-AC48-12B63902E56C}" type="presParOf" srcId="{6D671539-5A8E-4510-A20E-ADD363236B4C}" destId="{4C63AD09-E445-4B74-A147-0B3536237D67}" srcOrd="3" destOrd="0" presId="urn:microsoft.com/office/officeart/2005/8/layout/vList5"/>
    <dgm:cxn modelId="{CB8E3D6C-C25F-472C-B031-7018C4945517}" type="presParOf" srcId="{6D671539-5A8E-4510-A20E-ADD363236B4C}" destId="{98B55C3B-7645-4C12-8043-A2B85E69E3A9}" srcOrd="4" destOrd="0" presId="urn:microsoft.com/office/officeart/2005/8/layout/vList5"/>
    <dgm:cxn modelId="{4536E5F1-6FBE-4189-A2B0-4E7FDDB94C86}" type="presParOf" srcId="{98B55C3B-7645-4C12-8043-A2B85E69E3A9}" destId="{135C4F3D-AB69-48D1-A97A-E7A138A5A37D}" srcOrd="0" destOrd="0" presId="urn:microsoft.com/office/officeart/2005/8/layout/vList5"/>
    <dgm:cxn modelId="{80136A72-B3AA-4F89-AB94-5D18551B2B33}" type="presParOf" srcId="{98B55C3B-7645-4C12-8043-A2B85E69E3A9}" destId="{D06953F8-5D6F-4B57-A975-E29C9ED181E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8EEBD2-D85D-47B3-AB52-2674F73E3603}" type="doc">
      <dgm:prSet loTypeId="urn:microsoft.com/office/officeart/2005/8/layout/equation1" loCatId="relationship" qsTypeId="urn:microsoft.com/office/officeart/2005/8/quickstyle/simple1" qsCatId="simple" csTypeId="urn:microsoft.com/office/officeart/2005/8/colors/accent0_3" csCatId="mainScheme" phldr="1"/>
      <dgm:spPr/>
    </dgm:pt>
    <dgm:pt modelId="{7E8A4DDD-354F-4BFA-98C4-A7CDBCEA5A26}">
      <dgm:prSet phldrT="[Text]"/>
      <dgm:spPr>
        <a:solidFill>
          <a:schemeClr val="accent1">
            <a:lumMod val="20000"/>
            <a:lumOff val="80000"/>
          </a:schemeClr>
        </a:solidFill>
      </dgm:spPr>
      <dgm:t>
        <a:bodyPr/>
        <a:lstStyle/>
        <a:p>
          <a:r>
            <a:rPr lang="en-US" b="1" dirty="0">
              <a:solidFill>
                <a:schemeClr val="bg2">
                  <a:lumMod val="10000"/>
                </a:schemeClr>
              </a:solidFill>
            </a:rPr>
            <a:t>Problem Situations</a:t>
          </a:r>
        </a:p>
      </dgm:t>
    </dgm:pt>
    <dgm:pt modelId="{17139A0E-3D89-4B06-B668-0AD0475EFB06}" type="parTrans" cxnId="{3F7A0E64-546B-4DD4-B780-C7C61E85F876}">
      <dgm:prSet/>
      <dgm:spPr/>
      <dgm:t>
        <a:bodyPr/>
        <a:lstStyle/>
        <a:p>
          <a:endParaRPr lang="en-US"/>
        </a:p>
      </dgm:t>
    </dgm:pt>
    <dgm:pt modelId="{37CE96DF-42B3-45BE-BD3B-2459A4A35D7B}" type="sibTrans" cxnId="{3F7A0E64-546B-4DD4-B780-C7C61E85F876}">
      <dgm:prSet/>
      <dgm:spPr/>
      <dgm:t>
        <a:bodyPr/>
        <a:lstStyle/>
        <a:p>
          <a:endParaRPr lang="en-US"/>
        </a:p>
      </dgm:t>
    </dgm:pt>
    <dgm:pt modelId="{DA04825B-E5A7-46A6-91BD-046C8800050D}">
      <dgm:prSet phldrT="[Text]"/>
      <dgm:spPr>
        <a:solidFill>
          <a:schemeClr val="accent2">
            <a:lumMod val="60000"/>
            <a:lumOff val="40000"/>
          </a:schemeClr>
        </a:solidFill>
      </dgm:spPr>
      <dgm:t>
        <a:bodyPr/>
        <a:lstStyle/>
        <a:p>
          <a:r>
            <a:rPr lang="en-US" b="1" dirty="0">
              <a:solidFill>
                <a:schemeClr val="bg2">
                  <a:lumMod val="10000"/>
                </a:schemeClr>
              </a:solidFill>
            </a:rPr>
            <a:t>Opportunity</a:t>
          </a:r>
        </a:p>
      </dgm:t>
    </dgm:pt>
    <dgm:pt modelId="{2B42226A-A9B7-4767-83F0-6CE9FE566994}" type="parTrans" cxnId="{07C1392A-8ACC-4AD1-8F5A-E77258267EC7}">
      <dgm:prSet/>
      <dgm:spPr/>
      <dgm:t>
        <a:bodyPr/>
        <a:lstStyle/>
        <a:p>
          <a:endParaRPr lang="en-US"/>
        </a:p>
      </dgm:t>
    </dgm:pt>
    <dgm:pt modelId="{C2A952D9-21C3-4D9A-A511-4BF478F887E4}" type="sibTrans" cxnId="{07C1392A-8ACC-4AD1-8F5A-E77258267EC7}">
      <dgm:prSet/>
      <dgm:spPr/>
      <dgm:t>
        <a:bodyPr/>
        <a:lstStyle/>
        <a:p>
          <a:endParaRPr lang="en-US"/>
        </a:p>
      </dgm:t>
    </dgm:pt>
    <dgm:pt modelId="{6CC5E0BA-7747-4731-9A49-21EF7848596F}" type="pres">
      <dgm:prSet presAssocID="{D48EEBD2-D85D-47B3-AB52-2674F73E3603}" presName="linearFlow" presStyleCnt="0">
        <dgm:presLayoutVars>
          <dgm:dir/>
          <dgm:resizeHandles val="exact"/>
        </dgm:presLayoutVars>
      </dgm:prSet>
      <dgm:spPr/>
    </dgm:pt>
    <dgm:pt modelId="{A642E0D1-6D55-48DA-BB33-1000EF706641}" type="pres">
      <dgm:prSet presAssocID="{7E8A4DDD-354F-4BFA-98C4-A7CDBCEA5A26}" presName="node" presStyleLbl="node1" presStyleIdx="0" presStyleCnt="2">
        <dgm:presLayoutVars>
          <dgm:bulletEnabled val="1"/>
        </dgm:presLayoutVars>
      </dgm:prSet>
      <dgm:spPr/>
    </dgm:pt>
    <dgm:pt modelId="{AA71A936-C927-4AA6-BD5A-C295E259ABD1}" type="pres">
      <dgm:prSet presAssocID="{37CE96DF-42B3-45BE-BD3B-2459A4A35D7B}" presName="spacerL" presStyleCnt="0"/>
      <dgm:spPr/>
    </dgm:pt>
    <dgm:pt modelId="{EEFAFB44-FC7C-4D78-B999-7B8472C33035}" type="pres">
      <dgm:prSet presAssocID="{37CE96DF-42B3-45BE-BD3B-2459A4A35D7B}" presName="sibTrans" presStyleLbl="sibTrans2D1" presStyleIdx="0" presStyleCnt="1"/>
      <dgm:spPr/>
    </dgm:pt>
    <dgm:pt modelId="{F0F246E7-E117-4B89-9019-25BA404CC5A0}" type="pres">
      <dgm:prSet presAssocID="{37CE96DF-42B3-45BE-BD3B-2459A4A35D7B}" presName="spacerR" presStyleCnt="0"/>
      <dgm:spPr/>
    </dgm:pt>
    <dgm:pt modelId="{6FDA4B75-E7F3-4358-B908-640CDA8D4E6B}" type="pres">
      <dgm:prSet presAssocID="{DA04825B-E5A7-46A6-91BD-046C8800050D}" presName="node" presStyleLbl="node1" presStyleIdx="1" presStyleCnt="2">
        <dgm:presLayoutVars>
          <dgm:bulletEnabled val="1"/>
        </dgm:presLayoutVars>
      </dgm:prSet>
      <dgm:spPr/>
    </dgm:pt>
  </dgm:ptLst>
  <dgm:cxnLst>
    <dgm:cxn modelId="{A968141E-7F0E-413E-98DD-A9DB86CF5DBF}" type="presOf" srcId="{DA04825B-E5A7-46A6-91BD-046C8800050D}" destId="{6FDA4B75-E7F3-4358-B908-640CDA8D4E6B}" srcOrd="0" destOrd="0" presId="urn:microsoft.com/office/officeart/2005/8/layout/equation1"/>
    <dgm:cxn modelId="{CEBE471F-3C93-49AA-8D9F-2354EC77A544}" type="presOf" srcId="{D48EEBD2-D85D-47B3-AB52-2674F73E3603}" destId="{6CC5E0BA-7747-4731-9A49-21EF7848596F}" srcOrd="0" destOrd="0" presId="urn:microsoft.com/office/officeart/2005/8/layout/equation1"/>
    <dgm:cxn modelId="{07C1392A-8ACC-4AD1-8F5A-E77258267EC7}" srcId="{D48EEBD2-D85D-47B3-AB52-2674F73E3603}" destId="{DA04825B-E5A7-46A6-91BD-046C8800050D}" srcOrd="1" destOrd="0" parTransId="{2B42226A-A9B7-4767-83F0-6CE9FE566994}" sibTransId="{C2A952D9-21C3-4D9A-A511-4BF478F887E4}"/>
    <dgm:cxn modelId="{6CC3092D-B8EF-412D-AEB3-C8411A7F5552}" type="presOf" srcId="{37CE96DF-42B3-45BE-BD3B-2459A4A35D7B}" destId="{EEFAFB44-FC7C-4D78-B999-7B8472C33035}" srcOrd="0" destOrd="0" presId="urn:microsoft.com/office/officeart/2005/8/layout/equation1"/>
    <dgm:cxn modelId="{3F7A0E64-546B-4DD4-B780-C7C61E85F876}" srcId="{D48EEBD2-D85D-47B3-AB52-2674F73E3603}" destId="{7E8A4DDD-354F-4BFA-98C4-A7CDBCEA5A26}" srcOrd="0" destOrd="0" parTransId="{17139A0E-3D89-4B06-B668-0AD0475EFB06}" sibTransId="{37CE96DF-42B3-45BE-BD3B-2459A4A35D7B}"/>
    <dgm:cxn modelId="{6FBA8153-F8AF-4E02-AB61-CCBC690A1994}" type="presOf" srcId="{7E8A4DDD-354F-4BFA-98C4-A7CDBCEA5A26}" destId="{A642E0D1-6D55-48DA-BB33-1000EF706641}" srcOrd="0" destOrd="0" presId="urn:microsoft.com/office/officeart/2005/8/layout/equation1"/>
    <dgm:cxn modelId="{4C6CFD7D-BC5B-4716-A5A6-E32C3DBE94AE}" type="presParOf" srcId="{6CC5E0BA-7747-4731-9A49-21EF7848596F}" destId="{A642E0D1-6D55-48DA-BB33-1000EF706641}" srcOrd="0" destOrd="0" presId="urn:microsoft.com/office/officeart/2005/8/layout/equation1"/>
    <dgm:cxn modelId="{A517609D-58FB-4FF7-82AC-2B09A77B7B7F}" type="presParOf" srcId="{6CC5E0BA-7747-4731-9A49-21EF7848596F}" destId="{AA71A936-C927-4AA6-BD5A-C295E259ABD1}" srcOrd="1" destOrd="0" presId="urn:microsoft.com/office/officeart/2005/8/layout/equation1"/>
    <dgm:cxn modelId="{CE750CA0-D2BB-40BD-BC8D-72E6BABAA47C}" type="presParOf" srcId="{6CC5E0BA-7747-4731-9A49-21EF7848596F}" destId="{EEFAFB44-FC7C-4D78-B999-7B8472C33035}" srcOrd="2" destOrd="0" presId="urn:microsoft.com/office/officeart/2005/8/layout/equation1"/>
    <dgm:cxn modelId="{A40505B4-4F77-42AE-9A95-2D039DDCC4C1}" type="presParOf" srcId="{6CC5E0BA-7747-4731-9A49-21EF7848596F}" destId="{F0F246E7-E117-4B89-9019-25BA404CC5A0}" srcOrd="3" destOrd="0" presId="urn:microsoft.com/office/officeart/2005/8/layout/equation1"/>
    <dgm:cxn modelId="{9D502C66-419D-45DB-81EC-1CDFD52C2385}" type="presParOf" srcId="{6CC5E0BA-7747-4731-9A49-21EF7848596F}" destId="{6FDA4B75-E7F3-4358-B908-640CDA8D4E6B}" srcOrd="4" destOrd="0" presId="urn:microsoft.com/office/officeart/2005/8/layout/equati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0DCD8D-432E-4821-AD23-2E5330469361}">
      <dsp:nvSpPr>
        <dsp:cNvPr id="0" name=""/>
        <dsp:cNvSpPr/>
      </dsp:nvSpPr>
      <dsp:spPr>
        <a:xfrm rot="5400000">
          <a:off x="4950216" y="-1893205"/>
          <a:ext cx="1114169" cy="5183342"/>
        </a:xfrm>
        <a:prstGeom prst="round2SameRect">
          <a:avLst/>
        </a:prstGeom>
        <a:solidFill>
          <a:schemeClr val="accent2">
            <a:lumMod val="40000"/>
            <a:lumOff val="60000"/>
          </a:schemeClr>
        </a:solidFill>
        <a:ln w="28575"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Poor guarantee</a:t>
          </a:r>
        </a:p>
        <a:p>
          <a:pPr marL="171450" lvl="1" indent="-171450" algn="l" defTabSz="800100">
            <a:lnSpc>
              <a:spcPct val="90000"/>
            </a:lnSpc>
            <a:spcBef>
              <a:spcPct val="0"/>
            </a:spcBef>
            <a:spcAft>
              <a:spcPct val="15000"/>
            </a:spcAft>
            <a:buChar char="•"/>
          </a:pPr>
          <a:r>
            <a:rPr lang="en-US" sz="1800" kern="1200" dirty="0"/>
            <a:t>Poor quality</a:t>
          </a:r>
        </a:p>
        <a:p>
          <a:pPr marL="171450" lvl="1" indent="-171450" algn="l" defTabSz="800100">
            <a:lnSpc>
              <a:spcPct val="90000"/>
            </a:lnSpc>
            <a:spcBef>
              <a:spcPct val="0"/>
            </a:spcBef>
            <a:spcAft>
              <a:spcPct val="15000"/>
            </a:spcAft>
            <a:buChar char="•"/>
          </a:pPr>
          <a:r>
            <a:rPr lang="en-US" sz="1800" kern="1200" dirty="0"/>
            <a:t>Price too high</a:t>
          </a:r>
        </a:p>
      </dsp:txBody>
      <dsp:txXfrm rot="-5400000">
        <a:off x="2915630" y="195770"/>
        <a:ext cx="5128953" cy="1005391"/>
      </dsp:txXfrm>
    </dsp:sp>
    <dsp:sp modelId="{6B1CAF82-CDA6-47D7-907E-0CA5A5291B05}">
      <dsp:nvSpPr>
        <dsp:cNvPr id="0" name=""/>
        <dsp:cNvSpPr/>
      </dsp:nvSpPr>
      <dsp:spPr>
        <a:xfrm>
          <a:off x="0" y="2110"/>
          <a:ext cx="2915630" cy="1392712"/>
        </a:xfrm>
        <a:prstGeom prst="roundRect">
          <a:avLst/>
        </a:prstGeom>
        <a:solidFill>
          <a:schemeClr val="accent2">
            <a:lumMod val="40000"/>
            <a:lumOff val="60000"/>
          </a:schemeClr>
        </a:solidFill>
        <a:ln w="28575"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n-US" sz="3900" b="1" kern="1200"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Value Turnoffs</a:t>
          </a:r>
        </a:p>
      </dsp:txBody>
      <dsp:txXfrm>
        <a:off x="67987" y="70097"/>
        <a:ext cx="2779656" cy="1256738"/>
      </dsp:txXfrm>
    </dsp:sp>
    <dsp:sp modelId="{41B2F8B6-3CA6-4BC7-BE59-339915933498}">
      <dsp:nvSpPr>
        <dsp:cNvPr id="0" name=""/>
        <dsp:cNvSpPr/>
      </dsp:nvSpPr>
      <dsp:spPr>
        <a:xfrm rot="5400000">
          <a:off x="4950216" y="-430857"/>
          <a:ext cx="1114169" cy="5183342"/>
        </a:xfrm>
        <a:prstGeom prst="round2SameRect">
          <a:avLst/>
        </a:prstGeom>
        <a:solidFill>
          <a:schemeClr val="accent2">
            <a:lumMod val="40000"/>
            <a:lumOff val="60000"/>
          </a:schemeClr>
        </a:solidFill>
        <a:ln w="28575"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Slow service</a:t>
          </a:r>
        </a:p>
        <a:p>
          <a:pPr marL="171450" lvl="1" indent="-171450" algn="l" defTabSz="800100">
            <a:lnSpc>
              <a:spcPct val="90000"/>
            </a:lnSpc>
            <a:spcBef>
              <a:spcPct val="0"/>
            </a:spcBef>
            <a:spcAft>
              <a:spcPct val="15000"/>
            </a:spcAft>
            <a:buChar char="•"/>
          </a:pPr>
          <a:r>
            <a:rPr lang="en-US" sz="1800" kern="1200" dirty="0"/>
            <a:t>Business place dirty, messy, cluttered</a:t>
          </a:r>
        </a:p>
        <a:p>
          <a:pPr marL="171450" lvl="1" indent="-171450" algn="l" defTabSz="800100">
            <a:lnSpc>
              <a:spcPct val="90000"/>
            </a:lnSpc>
            <a:spcBef>
              <a:spcPct val="0"/>
            </a:spcBef>
            <a:spcAft>
              <a:spcPct val="15000"/>
            </a:spcAft>
            <a:buChar char="•"/>
          </a:pPr>
          <a:r>
            <a:rPr lang="en-US" sz="1800" kern="1200" dirty="0"/>
            <a:t>Low selection of products</a:t>
          </a:r>
        </a:p>
        <a:p>
          <a:pPr marL="171450" lvl="1" indent="-171450" algn="l" defTabSz="800100">
            <a:lnSpc>
              <a:spcPct val="90000"/>
            </a:lnSpc>
            <a:spcBef>
              <a:spcPct val="0"/>
            </a:spcBef>
            <a:spcAft>
              <a:spcPct val="15000"/>
            </a:spcAft>
            <a:buChar char="•"/>
          </a:pPr>
          <a:r>
            <a:rPr lang="en-US" sz="1800" kern="1200" dirty="0"/>
            <a:t>Inconvenient location, layout, parking</a:t>
          </a:r>
        </a:p>
      </dsp:txBody>
      <dsp:txXfrm rot="-5400000">
        <a:off x="2915630" y="1658118"/>
        <a:ext cx="5128953" cy="1005391"/>
      </dsp:txXfrm>
    </dsp:sp>
    <dsp:sp modelId="{00DC2D53-03A5-48A8-B706-B0311B544147}">
      <dsp:nvSpPr>
        <dsp:cNvPr id="0" name=""/>
        <dsp:cNvSpPr/>
      </dsp:nvSpPr>
      <dsp:spPr>
        <a:xfrm>
          <a:off x="0" y="1464457"/>
          <a:ext cx="2915630" cy="1392712"/>
        </a:xfrm>
        <a:prstGeom prst="roundRect">
          <a:avLst/>
        </a:prstGeom>
        <a:solidFill>
          <a:schemeClr val="accent2">
            <a:lumMod val="40000"/>
            <a:lumOff val="60000"/>
          </a:schemeClr>
        </a:solidFill>
        <a:ln w="28575"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n-US" sz="3900" b="1" kern="1200"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Systems Turnoffs</a:t>
          </a:r>
        </a:p>
      </dsp:txBody>
      <dsp:txXfrm>
        <a:off x="67987" y="1532444"/>
        <a:ext cx="2779656" cy="1256738"/>
      </dsp:txXfrm>
    </dsp:sp>
    <dsp:sp modelId="{D06953F8-5D6F-4B57-A975-E29C9ED181EF}">
      <dsp:nvSpPr>
        <dsp:cNvPr id="0" name=""/>
        <dsp:cNvSpPr/>
      </dsp:nvSpPr>
      <dsp:spPr>
        <a:xfrm rot="5400000">
          <a:off x="4950216" y="1031490"/>
          <a:ext cx="1114169" cy="5183342"/>
        </a:xfrm>
        <a:prstGeom prst="round2SameRect">
          <a:avLst/>
        </a:prstGeom>
        <a:solidFill>
          <a:schemeClr val="accent2">
            <a:lumMod val="40000"/>
            <a:lumOff val="60000"/>
          </a:schemeClr>
        </a:solidFill>
        <a:ln w="28575"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Lack of courtesy, friendliness, attention</a:t>
          </a:r>
        </a:p>
        <a:p>
          <a:pPr marL="171450" lvl="1" indent="-171450" algn="l" defTabSz="800100">
            <a:lnSpc>
              <a:spcPct val="90000"/>
            </a:lnSpc>
            <a:spcBef>
              <a:spcPct val="0"/>
            </a:spcBef>
            <a:spcAft>
              <a:spcPct val="15000"/>
            </a:spcAft>
            <a:buChar char="•"/>
          </a:pPr>
          <a:r>
            <a:rPr lang="en-US" sz="1800" kern="1200" dirty="0"/>
            <a:t>Employees who lack knowledge</a:t>
          </a:r>
        </a:p>
        <a:p>
          <a:pPr marL="171450" lvl="1" indent="-171450" algn="l" defTabSz="800100">
            <a:lnSpc>
              <a:spcPct val="90000"/>
            </a:lnSpc>
            <a:spcBef>
              <a:spcPct val="0"/>
            </a:spcBef>
            <a:spcAft>
              <a:spcPct val="15000"/>
            </a:spcAft>
            <a:buChar char="•"/>
          </a:pPr>
          <a:r>
            <a:rPr lang="en-US" sz="1800" kern="1200" dirty="0"/>
            <a:t>Employee appearance</a:t>
          </a:r>
        </a:p>
      </dsp:txBody>
      <dsp:txXfrm rot="-5400000">
        <a:off x="2915630" y="3120466"/>
        <a:ext cx="5128953" cy="1005391"/>
      </dsp:txXfrm>
    </dsp:sp>
    <dsp:sp modelId="{135C4F3D-AB69-48D1-A97A-E7A138A5A37D}">
      <dsp:nvSpPr>
        <dsp:cNvPr id="0" name=""/>
        <dsp:cNvSpPr/>
      </dsp:nvSpPr>
      <dsp:spPr>
        <a:xfrm>
          <a:off x="0" y="2926805"/>
          <a:ext cx="2915630" cy="1392712"/>
        </a:xfrm>
        <a:prstGeom prst="roundRect">
          <a:avLst/>
        </a:prstGeom>
        <a:solidFill>
          <a:schemeClr val="accent2">
            <a:lumMod val="40000"/>
            <a:lumOff val="60000"/>
          </a:schemeClr>
        </a:solidFill>
        <a:ln w="28575" cap="flat" cmpd="sng" algn="ctr">
          <a:solidFill>
            <a:schemeClr val="accent4">
              <a:lumMod val="7500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74295" rIns="148590" bIns="74295" numCol="1" spcCol="1270" anchor="ctr" anchorCtr="0">
          <a:noAutofit/>
        </a:bodyPr>
        <a:lstStyle/>
        <a:p>
          <a:pPr marL="0" lvl="0" indent="0" algn="ctr" defTabSz="1733550">
            <a:lnSpc>
              <a:spcPct val="90000"/>
            </a:lnSpc>
            <a:spcBef>
              <a:spcPct val="0"/>
            </a:spcBef>
            <a:spcAft>
              <a:spcPct val="35000"/>
            </a:spcAft>
            <a:buNone/>
          </a:pPr>
          <a:r>
            <a:rPr lang="en-US" sz="3900" b="1" kern="1200"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People Turnoffs</a:t>
          </a:r>
        </a:p>
      </dsp:txBody>
      <dsp:txXfrm>
        <a:off x="67987" y="2994792"/>
        <a:ext cx="2779656" cy="12567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42E0D1-6D55-48DA-BB33-1000EF706641}">
      <dsp:nvSpPr>
        <dsp:cNvPr id="0" name=""/>
        <dsp:cNvSpPr/>
      </dsp:nvSpPr>
      <dsp:spPr>
        <a:xfrm>
          <a:off x="3228" y="921742"/>
          <a:ext cx="2220515" cy="2220515"/>
        </a:xfrm>
        <a:prstGeom prst="ellipse">
          <a:avLst/>
        </a:prstGeom>
        <a:solidFill>
          <a:schemeClr val="accent1">
            <a:lumMod val="20000"/>
            <a:lumOff val="8000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2">
                  <a:lumMod val="10000"/>
                </a:schemeClr>
              </a:solidFill>
            </a:rPr>
            <a:t>Problem Situations</a:t>
          </a:r>
        </a:p>
      </dsp:txBody>
      <dsp:txXfrm>
        <a:off x="328415" y="1246929"/>
        <a:ext cx="1570141" cy="1570141"/>
      </dsp:txXfrm>
    </dsp:sp>
    <dsp:sp modelId="{EEFAFB44-FC7C-4D78-B999-7B8472C33035}">
      <dsp:nvSpPr>
        <dsp:cNvPr id="0" name=""/>
        <dsp:cNvSpPr/>
      </dsp:nvSpPr>
      <dsp:spPr>
        <a:xfrm>
          <a:off x="2404050" y="1388050"/>
          <a:ext cx="1287899" cy="1287899"/>
        </a:xfrm>
        <a:prstGeom prst="mathEqual">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574761" y="1653357"/>
        <a:ext cx="946477" cy="757285"/>
      </dsp:txXfrm>
    </dsp:sp>
    <dsp:sp modelId="{6FDA4B75-E7F3-4358-B908-640CDA8D4E6B}">
      <dsp:nvSpPr>
        <dsp:cNvPr id="0" name=""/>
        <dsp:cNvSpPr/>
      </dsp:nvSpPr>
      <dsp:spPr>
        <a:xfrm>
          <a:off x="3872255" y="921742"/>
          <a:ext cx="2220515" cy="2220515"/>
        </a:xfrm>
        <a:prstGeom prst="ellipse">
          <a:avLst/>
        </a:prstGeom>
        <a:solidFill>
          <a:schemeClr val="accent2">
            <a:lumMod val="60000"/>
            <a:lumOff val="40000"/>
          </a:schemeClr>
        </a:solidFill>
        <a:ln w="12700"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solidFill>
                <a:schemeClr val="bg2">
                  <a:lumMod val="10000"/>
                </a:schemeClr>
              </a:solidFill>
            </a:rPr>
            <a:t>Opportunity</a:t>
          </a:r>
        </a:p>
      </dsp:txBody>
      <dsp:txXfrm>
        <a:off x="4197442" y="1246929"/>
        <a:ext cx="1570141" cy="1570141"/>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equation1">
  <dgm:title val=""/>
  <dgm:desc val=""/>
  <dgm:catLst>
    <dgm:cat type="relationship" pri="17000"/>
    <dgm:cat type="process"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choose name="Name0">
      <dgm:if name="Name1" func="var" arg="dir" op="equ" val="norm">
        <dgm:alg type="lin">
          <dgm:param type="fallback" val="2D"/>
        </dgm:alg>
      </dgm:if>
      <dgm:else name="Name2">
        <dgm:alg type="lin">
          <dgm:param type="linDir" val="fromR"/>
          <dgm:param type="fallback" val="2D"/>
        </dgm:alg>
      </dgm:else>
    </dgm:choose>
    <dgm:shape xmlns:r="http://schemas.openxmlformats.org/officeDocument/2006/relationships" r:blip="">
      <dgm:adjLst/>
    </dgm:shape>
    <dgm:presOf/>
    <dgm:constrLst>
      <dgm:constr type="w" for="ch" ptType="node" refType="w"/>
      <dgm:constr type="w" for="ch" ptType="sibTrans" refType="w" refFor="ch" refPtType="node" fact="0.58"/>
      <dgm:constr type="primFontSz" for="ch" ptType="node" op="equ" val="65"/>
      <dgm:constr type="primFontSz" for="ch" ptType="sibTrans" op="equ" val="55"/>
      <dgm:constr type="primFontSz" for="ch" ptType="sibTrans" refType="primFontSz" refFor="ch" refPtType="node" op="lte" fact="0.8"/>
      <dgm:constr type="w" for="ch" forName="spacerL" refType="w" refFor="ch" refPtType="sibTrans" fact="0.14"/>
      <dgm:constr type="w" for="ch" forName="spacerR" refType="w" refFor="ch" refPtType="sibTrans" fact="0.14"/>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sibTransForEach" axis="followSib" ptType="sibTrans" cnt="1">
        <dgm:layoutNode name="spacerL">
          <dgm:alg type="sp"/>
          <dgm:shape xmlns:r="http://schemas.openxmlformats.org/officeDocument/2006/relationships" r:blip="">
            <dgm:adjLst/>
          </dgm:shape>
          <dgm:presOf/>
          <dgm:constrLst/>
          <dgm:ruleLst/>
        </dgm:layoutNode>
        <dgm:layoutNode name="sibTrans">
          <dgm:alg type="tx"/>
          <dgm:choose name="Name3">
            <dgm:if name="Name4" axis="followSib" ptType="sibTrans" func="cnt" op="equ" val="0">
              <dgm:shape xmlns:r="http://schemas.openxmlformats.org/officeDocument/2006/relationships" type="mathEqual" r:blip="">
                <dgm:adjLst/>
              </dgm:shape>
            </dgm:if>
            <dgm:else name="Name5">
              <dgm:shape xmlns:r="http://schemas.openxmlformats.org/officeDocument/2006/relationships" type="mathPlus" r:blip="">
                <dgm:adjLst/>
              </dgm:shape>
            </dgm:else>
          </dgm:choose>
          <dgm:presOf axis="self"/>
          <dgm:constrLst>
            <dgm:constr type="h" refType="w"/>
            <dgm:constr type="lMarg"/>
            <dgm:constr type="rMarg"/>
            <dgm:constr type="tMarg"/>
            <dgm:constr type="bMarg"/>
          </dgm:constrLst>
          <dgm:ruleLst>
            <dgm:rule type="primFontSz" val="5" fact="NaN" max="NaN"/>
          </dgm:ruleLst>
        </dgm:layoutNode>
        <dgm:layoutNode name="spacerR">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48A87A34-81AB-432B-8DAE-1953F412C126}" type="datetimeFigureOut">
              <a:rPr lang="en-US" dirty="0"/>
              <a:t>4/23/2025</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4/23/2025</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4/23/2025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48A87A34-81AB-432B-8DAE-1953F412C126}" type="datetimeFigureOut">
              <a:rPr lang="en-US" dirty="0"/>
              <a:pPr/>
              <a:t>4/23/2025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48A87A34-81AB-432B-8DAE-1953F412C126}" type="datetimeFigureOut">
              <a:rPr lang="en-US" dirty="0"/>
              <a:pPr/>
              <a:t>4/23/2025</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48A87A34-81AB-432B-8DAE-1953F412C126}" type="datetimeFigureOut">
              <a:rPr lang="en-US" dirty="0"/>
              <a:pPr/>
              <a:t>4/23/2025</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4/23/2025</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hyperlink" Target="http://ronkaufman.com/media_post/how-to-build-a-better-customer-service-culture-in-your-business/" TargetMode="External"/><Relationship Id="rId3" Type="http://schemas.openxmlformats.org/officeDocument/2006/relationships/hyperlink" Target="http://www.managementstudyguide.com/moment-of-truth-services-marketing.htm" TargetMode="External"/><Relationship Id="rId7" Type="http://schemas.openxmlformats.org/officeDocument/2006/relationships/hyperlink" Target="http://www.knowledgetransfer.net/dictionary/ITIL/en/Service_Culture.htm" TargetMode="External"/><Relationship Id="rId2" Type="http://schemas.openxmlformats.org/officeDocument/2006/relationships/hyperlink" Target="http://slidegur.com/doc/312901/customer-turnoffs#sample1" TargetMode="External"/><Relationship Id="rId1" Type="http://schemas.openxmlformats.org/officeDocument/2006/relationships/slideLayout" Target="../slideLayouts/slideLayout2.xml"/><Relationship Id="rId6" Type="http://schemas.openxmlformats.org/officeDocument/2006/relationships/hyperlink" Target="http://blog.accessdevelopment.com/what-is-the-definition-of-customer-loyalty" TargetMode="External"/><Relationship Id="rId5" Type="http://schemas.openxmlformats.org/officeDocument/2006/relationships/hyperlink" Target="http://www.businessdictionary.com/definition/customer-loyalty.html" TargetMode="External"/><Relationship Id="rId4" Type="http://schemas.openxmlformats.org/officeDocument/2006/relationships/hyperlink" Target="http://www.managerwise.com/article.phtml?id=34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7943" y="1455063"/>
            <a:ext cx="9971964" cy="826584"/>
          </a:xfrm>
        </p:spPr>
        <p:txBody>
          <a:bodyPr>
            <a:normAutofit fontScale="90000"/>
          </a:bodyPr>
          <a:lstStyle/>
          <a:p>
            <a:r>
              <a:rPr lang="en-US" dirty="0"/>
              <a:t>CUSTOMER SERVICE: Unit 2</a:t>
            </a:r>
          </a:p>
        </p:txBody>
      </p:sp>
      <p:pic>
        <p:nvPicPr>
          <p:cNvPr id="3076" name="Picture 4" descr="Image result for hotel servi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6877" y="2379717"/>
            <a:ext cx="5078381" cy="258771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124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OBJECTIVES</a:t>
            </a:r>
          </a:p>
        </p:txBody>
      </p:sp>
      <p:sp>
        <p:nvSpPr>
          <p:cNvPr id="3" name="Content Placeholder 2"/>
          <p:cNvSpPr>
            <a:spLocks noGrp="1"/>
          </p:cNvSpPr>
          <p:nvPr>
            <p:ph idx="1"/>
          </p:nvPr>
        </p:nvSpPr>
        <p:spPr>
          <a:xfrm>
            <a:off x="1248092" y="1748020"/>
            <a:ext cx="8915400" cy="4198036"/>
          </a:xfrm>
        </p:spPr>
        <p:txBody>
          <a:bodyPr>
            <a:noAutofit/>
          </a:bodyPr>
          <a:lstStyle/>
          <a:p>
            <a:pPr marL="0" indent="0">
              <a:buNone/>
            </a:pPr>
            <a:r>
              <a:rPr lang="en-US" sz="2400" b="1" dirty="0"/>
              <a:t>Unit 2 – Developing Customer Loyalty</a:t>
            </a:r>
          </a:p>
          <a:p>
            <a:r>
              <a:rPr lang="en-US" sz="2400" dirty="0"/>
              <a:t>The Laws of Service</a:t>
            </a:r>
          </a:p>
          <a:p>
            <a:r>
              <a:rPr lang="en-US" sz="2400" dirty="0"/>
              <a:t>Moments of Truth</a:t>
            </a:r>
          </a:p>
          <a:p>
            <a:r>
              <a:rPr lang="en-US" sz="2400" dirty="0"/>
              <a:t>Creating Customer Loyalty</a:t>
            </a:r>
          </a:p>
          <a:p>
            <a:r>
              <a:rPr lang="en-US" sz="2400" dirty="0"/>
              <a:t>Customer Turnoffs</a:t>
            </a:r>
          </a:p>
          <a:p>
            <a:r>
              <a:rPr lang="en-US" sz="2400" dirty="0"/>
              <a:t>Zone of Indifference</a:t>
            </a:r>
          </a:p>
          <a:p>
            <a:r>
              <a:rPr lang="en-US" sz="2400" dirty="0"/>
              <a:t>Service Culture</a:t>
            </a:r>
          </a:p>
        </p:txBody>
      </p:sp>
    </p:spTree>
    <p:extLst>
      <p:ext uri="{BB962C8B-B14F-4D97-AF65-F5344CB8AC3E}">
        <p14:creationId xmlns:p14="http://schemas.microsoft.com/office/powerpoint/2010/main" val="3913034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LAW OF SERVICE</a:t>
            </a:r>
            <a:endParaRPr lang="en-JM" dirty="0"/>
          </a:p>
        </p:txBody>
      </p:sp>
      <p:sp>
        <p:nvSpPr>
          <p:cNvPr id="3" name="Content Placeholder 2"/>
          <p:cNvSpPr>
            <a:spLocks noGrp="1"/>
          </p:cNvSpPr>
          <p:nvPr>
            <p:ph idx="1"/>
          </p:nvPr>
        </p:nvSpPr>
        <p:spPr/>
        <p:txBody>
          <a:bodyPr vert="horz" lIns="91440" tIns="45720" rIns="91440" bIns="45720" rtlCol="0" anchor="t">
            <a:normAutofit lnSpcReduction="10000"/>
          </a:bodyPr>
          <a:lstStyle/>
          <a:p>
            <a:pPr marL="0" indent="0" algn="just">
              <a:buNone/>
            </a:pPr>
            <a:r>
              <a:rPr lang="en-US" dirty="0"/>
              <a:t>The First Law of Service dictates that:</a:t>
            </a:r>
          </a:p>
          <a:p>
            <a:pPr algn="just"/>
            <a:r>
              <a:rPr lang="en-US" b="1" dirty="0"/>
              <a:t>Satisfaction = Perception – Expectation</a:t>
            </a:r>
          </a:p>
          <a:p>
            <a:pPr algn="just"/>
            <a:r>
              <a:rPr lang="en-US" dirty="0"/>
              <a:t>The first important point about this law is that both variables, perception and expectations are psychological phenomena.</a:t>
            </a:r>
          </a:p>
          <a:p>
            <a:pPr algn="just"/>
            <a:r>
              <a:rPr lang="en-US" dirty="0"/>
              <a:t>One common mistake that service providers make is to judge performance or customer expectations based on what they feel the customer should think – not what the customer actually thinks.</a:t>
            </a:r>
          </a:p>
          <a:p>
            <a:pPr algn="just"/>
            <a:r>
              <a:rPr lang="en-US" dirty="0"/>
              <a:t>This law also says that if customers expect a certain level of service and perceive that an equal or higher level was delivered, they will be satisfied.</a:t>
            </a:r>
          </a:p>
          <a:p>
            <a:pPr algn="just"/>
            <a:r>
              <a:rPr lang="en-US" dirty="0"/>
              <a:t>On the other hand, even when the service was good (by objective standards) is delivered, if the expectation was for better service, customers will be dissatisfied.</a:t>
            </a:r>
            <a:endParaRPr lang="en-JM" dirty="0"/>
          </a:p>
        </p:txBody>
      </p:sp>
    </p:spTree>
    <p:extLst>
      <p:ext uri="{BB962C8B-B14F-4D97-AF65-F5344CB8AC3E}">
        <p14:creationId xmlns:p14="http://schemas.microsoft.com/office/powerpoint/2010/main" val="1086599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LAW OF SERVICE</a:t>
            </a:r>
            <a:endParaRPr lang="en-JM" dirty="0"/>
          </a:p>
        </p:txBody>
      </p:sp>
      <p:sp>
        <p:nvSpPr>
          <p:cNvPr id="3" name="Content Placeholder 2"/>
          <p:cNvSpPr>
            <a:spLocks noGrp="1"/>
          </p:cNvSpPr>
          <p:nvPr>
            <p:ph idx="1"/>
          </p:nvPr>
        </p:nvSpPr>
        <p:spPr>
          <a:xfrm>
            <a:off x="685800" y="2194560"/>
            <a:ext cx="10820400" cy="4304211"/>
          </a:xfrm>
        </p:spPr>
        <p:txBody>
          <a:bodyPr>
            <a:normAutofit/>
          </a:bodyPr>
          <a:lstStyle/>
          <a:p>
            <a:pPr algn="just"/>
            <a:r>
              <a:rPr lang="en-US" b="1" dirty="0"/>
              <a:t>Perception</a:t>
            </a:r>
            <a:r>
              <a:rPr lang="en-US" dirty="0"/>
              <a:t> can be defined as a marketing concept that encompasses a customer's impression, awareness and/or consciousness about a company or its offerings. </a:t>
            </a:r>
          </a:p>
          <a:p>
            <a:pPr algn="just"/>
            <a:r>
              <a:rPr lang="en-US" dirty="0"/>
              <a:t>Customer perception is typically affected by advertising, reviews, public relations, social media, personal experiences and other channels. Different customers may perceive the same product or service in different ways.</a:t>
            </a:r>
          </a:p>
          <a:p>
            <a:pPr algn="just"/>
            <a:r>
              <a:rPr lang="en-US" dirty="0"/>
              <a:t>Customer </a:t>
            </a:r>
            <a:r>
              <a:rPr lang="en-US" b="1" dirty="0"/>
              <a:t>satisfaction</a:t>
            </a:r>
            <a:r>
              <a:rPr lang="en-US" dirty="0"/>
              <a:t> is a marketing term that measures how products or services supplied by a company meet or surpass a customer's expectation. </a:t>
            </a:r>
          </a:p>
          <a:p>
            <a:pPr algn="just"/>
            <a:r>
              <a:rPr lang="en-US" dirty="0"/>
              <a:t>Customer satisfaction is an abstract concept and involves such factors as the quality of the product, the quality of the service provided, the atmosphere of the location where the product or service is purchased, and the price of the product or service. </a:t>
            </a:r>
            <a:endParaRPr lang="en-JM" dirty="0"/>
          </a:p>
        </p:txBody>
      </p:sp>
    </p:spTree>
    <p:extLst>
      <p:ext uri="{BB962C8B-B14F-4D97-AF65-F5344CB8AC3E}">
        <p14:creationId xmlns:p14="http://schemas.microsoft.com/office/powerpoint/2010/main" val="23874592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LAW OF SERVICE</a:t>
            </a:r>
            <a:endParaRPr lang="en-JM" dirty="0"/>
          </a:p>
        </p:txBody>
      </p:sp>
      <p:sp>
        <p:nvSpPr>
          <p:cNvPr id="3" name="Content Placeholder 2"/>
          <p:cNvSpPr>
            <a:spLocks noGrp="1"/>
          </p:cNvSpPr>
          <p:nvPr>
            <p:ph idx="1"/>
          </p:nvPr>
        </p:nvSpPr>
        <p:spPr>
          <a:xfrm>
            <a:off x="685800" y="2194560"/>
            <a:ext cx="10820400" cy="4413069"/>
          </a:xfrm>
        </p:spPr>
        <p:txBody>
          <a:bodyPr>
            <a:normAutofit lnSpcReduction="10000"/>
          </a:bodyPr>
          <a:lstStyle/>
          <a:p>
            <a:pPr marL="0" indent="0" algn="just">
              <a:buNone/>
            </a:pPr>
            <a:r>
              <a:rPr lang="en-US" dirty="0"/>
              <a:t>For customer-contact personnel to deliver service that meets customers' expectations, they must first understand what it is that the typical customer expects.  "Customer </a:t>
            </a:r>
            <a:r>
              <a:rPr lang="en-US" b="1" dirty="0"/>
              <a:t>expectation</a:t>
            </a:r>
            <a:r>
              <a:rPr lang="en-US" dirty="0"/>
              <a:t>" refers to the total perceived benefits a customer expects from a company's product or service. If the actual experience customers have with a product exceeds the expectation, they are typically satisfied. </a:t>
            </a:r>
          </a:p>
          <a:p>
            <a:pPr marL="0" indent="0" algn="just">
              <a:buNone/>
            </a:pPr>
            <a:r>
              <a:rPr lang="en-US" dirty="0"/>
              <a:t>These expectations fall into seven basic categories: </a:t>
            </a:r>
            <a:r>
              <a:rPr lang="en-US" b="1" dirty="0"/>
              <a:t>Accessibility - Courtesy - Personal Attention - Empathy - Job Knowledge - Consistency - Teamwork</a:t>
            </a:r>
            <a:r>
              <a:rPr lang="en-US" dirty="0"/>
              <a:t>.</a:t>
            </a:r>
          </a:p>
          <a:p>
            <a:pPr algn="just"/>
            <a:r>
              <a:rPr lang="en-US" b="1" dirty="0"/>
              <a:t>Accessibility. </a:t>
            </a:r>
            <a:r>
              <a:rPr lang="en-US" dirty="0"/>
              <a:t>Customers expect prompt and efficient service. This means that they must be able to get to someone in the organization who can help them. Whether it is waiting for initial processing or talking to someone about fixing a problem, they do not expect to go through a maze of paperwork and red tape. They want their questions answered and their needs met as soon as possible.</a:t>
            </a:r>
          </a:p>
          <a:p>
            <a:pPr algn="just"/>
            <a:endParaRPr lang="en-JM" b="1" dirty="0"/>
          </a:p>
        </p:txBody>
      </p:sp>
    </p:spTree>
    <p:extLst>
      <p:ext uri="{BB962C8B-B14F-4D97-AF65-F5344CB8AC3E}">
        <p14:creationId xmlns:p14="http://schemas.microsoft.com/office/powerpoint/2010/main" val="1999640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LAW OF SERVICE</a:t>
            </a:r>
            <a:endParaRPr lang="en-JM" dirty="0"/>
          </a:p>
        </p:txBody>
      </p:sp>
      <p:sp>
        <p:nvSpPr>
          <p:cNvPr id="3" name="Content Placeholder 2"/>
          <p:cNvSpPr>
            <a:spLocks noGrp="1"/>
          </p:cNvSpPr>
          <p:nvPr>
            <p:ph idx="1"/>
          </p:nvPr>
        </p:nvSpPr>
        <p:spPr>
          <a:xfrm>
            <a:off x="685800" y="1948543"/>
            <a:ext cx="10820400" cy="4800599"/>
          </a:xfrm>
        </p:spPr>
        <p:txBody>
          <a:bodyPr>
            <a:normAutofit/>
          </a:bodyPr>
          <a:lstStyle/>
          <a:p>
            <a:pPr algn="just"/>
            <a:r>
              <a:rPr lang="en-US" b="1" dirty="0"/>
              <a:t>Courtesy. </a:t>
            </a:r>
            <a:r>
              <a:rPr lang="en-US" dirty="0"/>
              <a:t>Customers expect to be treated in a professional manner. They react poorly to rudeness. Even in a situation where nothing can really be done to fix a problem, a kind word will go a long way toward soothing ruffled feathers. Customers expect their property to be treated with respect as well. Employees should treat customers' luggage, cars, and so on, as if it were their own. They also expect a neat and clean appearance. Disney, for example, has built a reputation for the way it keeps its theme parks and hotels bright and clean and its personnel under strict dress codes.</a:t>
            </a:r>
          </a:p>
          <a:p>
            <a:pPr algn="just"/>
            <a:r>
              <a:rPr lang="en-US" b="1" dirty="0"/>
              <a:t>Personal attention</a:t>
            </a:r>
            <a:r>
              <a:rPr lang="en-US" dirty="0"/>
              <a:t>. Customers want to be treated as unique individuals, not just another name on a long list. They want to know that the company they are dealing with cares about them as individuals. They expect to be told what services will be provided, and they expect someone to care about their problems (and do something about them). They do not want to have to find things out for themselves or be surprised. </a:t>
            </a:r>
          </a:p>
          <a:p>
            <a:pPr algn="just"/>
            <a:endParaRPr lang="en-JM" dirty="0"/>
          </a:p>
        </p:txBody>
      </p:sp>
    </p:spTree>
    <p:extLst>
      <p:ext uri="{BB962C8B-B14F-4D97-AF65-F5344CB8AC3E}">
        <p14:creationId xmlns:p14="http://schemas.microsoft.com/office/powerpoint/2010/main" val="29064942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LAW OF SERVICE</a:t>
            </a:r>
            <a:endParaRPr lang="en-JM" dirty="0"/>
          </a:p>
        </p:txBody>
      </p:sp>
      <p:sp>
        <p:nvSpPr>
          <p:cNvPr id="3" name="Content Placeholder 2"/>
          <p:cNvSpPr>
            <a:spLocks noGrp="1"/>
          </p:cNvSpPr>
          <p:nvPr>
            <p:ph idx="1"/>
          </p:nvPr>
        </p:nvSpPr>
        <p:spPr/>
        <p:txBody>
          <a:bodyPr>
            <a:normAutofit/>
          </a:bodyPr>
          <a:lstStyle/>
          <a:p>
            <a:pPr algn="just"/>
            <a:r>
              <a:rPr lang="en-US" b="1" dirty="0"/>
              <a:t>Empathy. </a:t>
            </a:r>
            <a:r>
              <a:rPr lang="en-US" dirty="0"/>
              <a:t>Empathy is a person's ability to see and feel things from someone else's point of view. Customers expect that service employees will understand what they care about. Empathy is the essence of a 'customer-oriented' philosophy. Customers do not expect to be treated as though their presence is an imposition on the employee or an interruption to an otherwise pleasant day.</a:t>
            </a:r>
          </a:p>
          <a:p>
            <a:pPr algn="just"/>
            <a:r>
              <a:rPr lang="en-US" b="1" dirty="0"/>
              <a:t>Job Knowledge. </a:t>
            </a:r>
            <a:r>
              <a:rPr lang="en-US" dirty="0"/>
              <a:t>Customers expect that employees will know the facts about their job and their company. They expect honest answers. On some special requests, they may accept an employee going to a supervisor for an answer, provided that the answer comes quickly. They do not, however, accept this as regular routine. </a:t>
            </a:r>
          </a:p>
          <a:p>
            <a:pPr marL="0" indent="0" algn="just">
              <a:buNone/>
            </a:pPr>
            <a:endParaRPr lang="en-JM" dirty="0"/>
          </a:p>
        </p:txBody>
      </p:sp>
    </p:spTree>
    <p:extLst>
      <p:ext uri="{BB962C8B-B14F-4D97-AF65-F5344CB8AC3E}">
        <p14:creationId xmlns:p14="http://schemas.microsoft.com/office/powerpoint/2010/main" val="1616120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LAW OF SERVICE</a:t>
            </a:r>
            <a:endParaRPr lang="en-JM" dirty="0"/>
          </a:p>
        </p:txBody>
      </p:sp>
      <p:sp>
        <p:nvSpPr>
          <p:cNvPr id="3" name="Content Placeholder 2"/>
          <p:cNvSpPr>
            <a:spLocks noGrp="1"/>
          </p:cNvSpPr>
          <p:nvPr>
            <p:ph idx="1"/>
          </p:nvPr>
        </p:nvSpPr>
        <p:spPr/>
        <p:txBody>
          <a:bodyPr>
            <a:normAutofit lnSpcReduction="10000"/>
          </a:bodyPr>
          <a:lstStyle/>
          <a:p>
            <a:pPr algn="just"/>
            <a:r>
              <a:rPr lang="en-US" b="1" dirty="0"/>
              <a:t>Consistency. </a:t>
            </a:r>
            <a:r>
              <a:rPr lang="en-US" dirty="0"/>
              <a:t>Customers expect to get the same answer no matter who they talk to. If everyone meets the criteria for job knowledge, there is no reason for two different employees to give conflicting answers. They also expect to get treated the same as they see other customers being treated. There are some instances where a variety of treatment may be acceptable (grocery store express checkout lines are a good example), but only when they see and understand an obvious and compelling reason for a difference in treatment. </a:t>
            </a:r>
          </a:p>
          <a:p>
            <a:pPr algn="just"/>
            <a:r>
              <a:rPr lang="en-US" b="1" dirty="0"/>
              <a:t>Teamwork. </a:t>
            </a:r>
            <a:r>
              <a:rPr lang="en-US" dirty="0"/>
              <a:t>The company may be composed of many different departments with different goals and methods of operation, but to customers it is a single entity. They do not expect internal turf battles to affect them nor do they expect to be passed from one department to another for answers to simple questions. </a:t>
            </a:r>
          </a:p>
          <a:p>
            <a:pPr marL="0" indent="0" algn="just">
              <a:buNone/>
            </a:pPr>
            <a:endParaRPr lang="en-JM" dirty="0"/>
          </a:p>
        </p:txBody>
      </p:sp>
    </p:spTree>
    <p:extLst>
      <p:ext uri="{BB962C8B-B14F-4D97-AF65-F5344CB8AC3E}">
        <p14:creationId xmlns:p14="http://schemas.microsoft.com/office/powerpoint/2010/main" val="3203756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SECOND LAW OF SERVICE</a:t>
            </a:r>
            <a:endParaRPr lang="en-JM"/>
          </a:p>
        </p:txBody>
      </p:sp>
      <p:sp>
        <p:nvSpPr>
          <p:cNvPr id="3" name="Content Placeholder 2"/>
          <p:cNvSpPr>
            <a:spLocks noGrp="1"/>
          </p:cNvSpPr>
          <p:nvPr>
            <p:ph idx="1"/>
          </p:nvPr>
        </p:nvSpPr>
        <p:spPr>
          <a:xfrm>
            <a:off x="685800" y="2057401"/>
            <a:ext cx="10820400" cy="4456611"/>
          </a:xfrm>
        </p:spPr>
        <p:txBody>
          <a:bodyPr>
            <a:noAutofit/>
          </a:bodyPr>
          <a:lstStyle/>
          <a:p>
            <a:pPr marL="0" indent="0" algn="just">
              <a:lnSpc>
                <a:spcPct val="100000"/>
              </a:lnSpc>
              <a:spcBef>
                <a:spcPts val="600"/>
              </a:spcBef>
              <a:buNone/>
            </a:pPr>
            <a:r>
              <a:rPr lang="en-US" dirty="0"/>
              <a:t>The Second Law of Service states that: </a:t>
            </a:r>
            <a:r>
              <a:rPr lang="en-US" b="1" dirty="0"/>
              <a:t>First Impressions are the most important</a:t>
            </a:r>
          </a:p>
          <a:p>
            <a:pPr algn="just">
              <a:lnSpc>
                <a:spcPct val="100000"/>
              </a:lnSpc>
              <a:spcBef>
                <a:spcPts val="600"/>
              </a:spcBef>
            </a:pPr>
            <a:r>
              <a:rPr lang="en-US" dirty="0"/>
              <a:t>You only have </a:t>
            </a:r>
            <a:r>
              <a:rPr lang="en-US" i="1" dirty="0"/>
              <a:t>one opportunity to make a good first impression</a:t>
            </a:r>
            <a:r>
              <a:rPr lang="en-US" dirty="0"/>
              <a:t>. Care must be taken to ensure all aspects of interactions with guests are favorable.</a:t>
            </a:r>
          </a:p>
          <a:p>
            <a:pPr algn="just">
              <a:lnSpc>
                <a:spcPct val="100000"/>
              </a:lnSpc>
              <a:spcBef>
                <a:spcPts val="600"/>
              </a:spcBef>
            </a:pPr>
            <a:r>
              <a:rPr lang="en-US" dirty="0"/>
              <a:t>The host / hostess area will in many cases set the tone for the meal for the guest. A host / hostess that walks up to a couple, without introducing herself, or welcoming them to the operation, and simply says "TWO?" has set the tone for the evening as one of being impersonal. </a:t>
            </a:r>
          </a:p>
          <a:p>
            <a:pPr algn="just">
              <a:lnSpc>
                <a:spcPct val="100000"/>
              </a:lnSpc>
              <a:spcBef>
                <a:spcPts val="600"/>
              </a:spcBef>
            </a:pPr>
            <a:r>
              <a:rPr lang="en-US" dirty="0"/>
              <a:t>Once you make a mistake it is hard to make it up to the guest since you have already let them down. </a:t>
            </a:r>
          </a:p>
          <a:p>
            <a:pPr algn="just">
              <a:lnSpc>
                <a:spcPct val="100000"/>
              </a:lnSpc>
              <a:spcBef>
                <a:spcPts val="600"/>
              </a:spcBef>
            </a:pPr>
            <a:r>
              <a:rPr lang="en-US" dirty="0"/>
              <a:t>On the opposite side, the halo effect, a good initial reaction or interaction carriers over to further interactions and helps pave the way to a favorable experience. Companies should also concentrate on the look and feel of their physical facilities. </a:t>
            </a:r>
            <a:endParaRPr lang="en-JM" dirty="0"/>
          </a:p>
        </p:txBody>
      </p:sp>
    </p:spTree>
    <p:extLst>
      <p:ext uri="{BB962C8B-B14F-4D97-AF65-F5344CB8AC3E}">
        <p14:creationId xmlns:p14="http://schemas.microsoft.com/office/powerpoint/2010/main" val="1880503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LAW OF SERVICE</a:t>
            </a:r>
            <a:endParaRPr lang="en-JM" dirty="0"/>
          </a:p>
        </p:txBody>
      </p:sp>
      <p:sp>
        <p:nvSpPr>
          <p:cNvPr id="3" name="Content Placeholder 2"/>
          <p:cNvSpPr>
            <a:spLocks noGrp="1"/>
          </p:cNvSpPr>
          <p:nvPr>
            <p:ph idx="1"/>
          </p:nvPr>
        </p:nvSpPr>
        <p:spPr>
          <a:xfrm>
            <a:off x="685800" y="1970314"/>
            <a:ext cx="10820400" cy="4735286"/>
          </a:xfrm>
        </p:spPr>
        <p:txBody>
          <a:bodyPr>
            <a:normAutofit/>
          </a:bodyPr>
          <a:lstStyle/>
          <a:p>
            <a:pPr marL="0" indent="0" algn="just">
              <a:buNone/>
            </a:pPr>
            <a:r>
              <a:rPr lang="en-US" dirty="0"/>
              <a:t>The Third Law of Service states that:</a:t>
            </a:r>
          </a:p>
          <a:p>
            <a:pPr marL="0" indent="0" algn="just">
              <a:buNone/>
            </a:pPr>
            <a:r>
              <a:rPr lang="en-US" b="1" dirty="0"/>
              <a:t>A service-oriented attitude alone will not assure good service.</a:t>
            </a:r>
          </a:p>
          <a:p>
            <a:pPr algn="just"/>
            <a:r>
              <a:rPr lang="en-US" dirty="0"/>
              <a:t>Product designers must look at the service from the customer’s point of view and create systems to meet the customer’s needs, not the internal company needs.</a:t>
            </a:r>
          </a:p>
          <a:p>
            <a:pPr algn="just"/>
            <a:r>
              <a:rPr lang="en-US" dirty="0"/>
              <a:t>It is important that the delivery of customer service be supported by the infrastructure of the operation. Policies and procedures of the operation must support the delivery of customer service rather than stand in its way. </a:t>
            </a:r>
          </a:p>
          <a:p>
            <a:pPr algn="just"/>
            <a:r>
              <a:rPr lang="en-US" dirty="0"/>
              <a:t>Company attitudes flow from the top down. It is not enough that managers preach customer service they must practice it also. Employees will listen to what management says, but follow more what management does. Management sets the example for all.</a:t>
            </a:r>
          </a:p>
        </p:txBody>
      </p:sp>
    </p:spTree>
    <p:extLst>
      <p:ext uri="{BB962C8B-B14F-4D97-AF65-F5344CB8AC3E}">
        <p14:creationId xmlns:p14="http://schemas.microsoft.com/office/powerpoint/2010/main" val="1295297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THIRD LAW OF SERVICE</a:t>
            </a:r>
            <a:endParaRPr lang="en-JM" dirty="0"/>
          </a:p>
        </p:txBody>
      </p:sp>
      <p:sp>
        <p:nvSpPr>
          <p:cNvPr id="3" name="Content Placeholder 2"/>
          <p:cNvSpPr>
            <a:spLocks noGrp="1"/>
          </p:cNvSpPr>
          <p:nvPr>
            <p:ph idx="1"/>
          </p:nvPr>
        </p:nvSpPr>
        <p:spPr>
          <a:xfrm>
            <a:off x="685800" y="1970314"/>
            <a:ext cx="10820400" cy="4735286"/>
          </a:xfrm>
        </p:spPr>
        <p:txBody>
          <a:bodyPr>
            <a:normAutofit/>
          </a:bodyPr>
          <a:lstStyle/>
          <a:p>
            <a:pPr marL="0" indent="0">
              <a:buNone/>
            </a:pPr>
            <a:r>
              <a:rPr lang="en-US" dirty="0"/>
              <a:t>Further examples of a supportive infrastructure: </a:t>
            </a:r>
          </a:p>
          <a:p>
            <a:r>
              <a:rPr lang="en-US" dirty="0"/>
              <a:t>Training needs to be ongoing so that it remains effective. </a:t>
            </a:r>
          </a:p>
          <a:p>
            <a:r>
              <a:rPr lang="en-US" dirty="0"/>
              <a:t>Staffing levels must be maintained at levels that will provide great service to guests. </a:t>
            </a:r>
          </a:p>
          <a:p>
            <a:r>
              <a:rPr lang="en-US" dirty="0"/>
              <a:t>Management must pledge ongoing support to customer service efforts for them to be a success. </a:t>
            </a:r>
            <a:endParaRPr lang="en-JM" dirty="0"/>
          </a:p>
        </p:txBody>
      </p:sp>
    </p:spTree>
    <p:extLst>
      <p:ext uri="{BB962C8B-B14F-4D97-AF65-F5344CB8AC3E}">
        <p14:creationId xmlns:p14="http://schemas.microsoft.com/office/powerpoint/2010/main" val="2419974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MOMENTS OF TRUTH</a:t>
            </a:r>
            <a:endParaRPr lang="en-JM" dirty="0"/>
          </a:p>
        </p:txBody>
      </p:sp>
      <p:sp>
        <p:nvSpPr>
          <p:cNvPr id="3" name="Content Placeholder 2"/>
          <p:cNvSpPr>
            <a:spLocks noGrp="1"/>
          </p:cNvSpPr>
          <p:nvPr>
            <p:ph idx="1"/>
          </p:nvPr>
        </p:nvSpPr>
        <p:spPr/>
        <p:txBody>
          <a:bodyPr>
            <a:normAutofit/>
          </a:bodyPr>
          <a:lstStyle/>
          <a:p>
            <a:pPr marL="0" indent="0" algn="just">
              <a:buNone/>
            </a:pPr>
            <a:r>
              <a:rPr lang="en-US" dirty="0"/>
              <a:t>Moments of Truth are also known as Service Encounters</a:t>
            </a:r>
          </a:p>
          <a:p>
            <a:pPr algn="just"/>
            <a:r>
              <a:rPr lang="en-US" dirty="0"/>
              <a:t>A moment of truth is usually defined as an instance wherein the customer and the organization come into contact with one another in a manner that gives the customer an opportunity to either form or change an impression about the firm. </a:t>
            </a:r>
          </a:p>
          <a:p>
            <a:pPr algn="just"/>
            <a:r>
              <a:rPr lang="en-US" dirty="0"/>
              <a:t>Such an interaction could occur through the product of the firm, its service offering or both. </a:t>
            </a:r>
          </a:p>
          <a:p>
            <a:pPr algn="just"/>
            <a:r>
              <a:rPr lang="en-US" dirty="0"/>
              <a:t>Various instances could constitute a moment of truth - such as greeting the customer, handling customer queries or complaints, promoting special offers or giving discounts and the closing of the interaction.</a:t>
            </a:r>
          </a:p>
          <a:p>
            <a:pPr algn="just"/>
            <a:endParaRPr lang="en-US" dirty="0"/>
          </a:p>
          <a:p>
            <a:pPr algn="just"/>
            <a:endParaRPr lang="en-JM" dirty="0"/>
          </a:p>
        </p:txBody>
      </p:sp>
    </p:spTree>
    <p:extLst>
      <p:ext uri="{BB962C8B-B14F-4D97-AF65-F5344CB8AC3E}">
        <p14:creationId xmlns:p14="http://schemas.microsoft.com/office/powerpoint/2010/main" val="14951195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MOMENTS OF TRUTH</a:t>
            </a:r>
            <a:endParaRPr lang="en-JM" dirty="0"/>
          </a:p>
        </p:txBody>
      </p:sp>
      <p:sp>
        <p:nvSpPr>
          <p:cNvPr id="3" name="Content Placeholder 2"/>
          <p:cNvSpPr>
            <a:spLocks noGrp="1"/>
          </p:cNvSpPr>
          <p:nvPr>
            <p:ph idx="1"/>
          </p:nvPr>
        </p:nvSpPr>
        <p:spPr>
          <a:xfrm>
            <a:off x="685800" y="2194560"/>
            <a:ext cx="10820400" cy="4413069"/>
          </a:xfrm>
        </p:spPr>
        <p:txBody>
          <a:bodyPr>
            <a:normAutofit/>
          </a:bodyPr>
          <a:lstStyle/>
          <a:p>
            <a:pPr algn="just"/>
            <a:r>
              <a:rPr lang="en-US" dirty="0"/>
              <a:t>In today’s increasingly service driven markets and with the proliferation of multiple providers for every type of product or service, moments of truth have become an important fact of customer interaction that marketers need to keep in mind. </a:t>
            </a:r>
          </a:p>
          <a:p>
            <a:pPr algn="just"/>
            <a:r>
              <a:rPr lang="en-US" dirty="0"/>
              <a:t>They are critical as they determine a customer’s perception of, and reaction to, a brand. Moments of truth can make or break an organization’s relationship with its customers.</a:t>
            </a:r>
          </a:p>
          <a:p>
            <a:pPr algn="just"/>
            <a:r>
              <a:rPr lang="en-US" dirty="0"/>
              <a:t>This is more so in the case of service providers since they are selling intangibles by creating customer expectations. Services are often differentiated in the minds of the customer by promises of what is to come.</a:t>
            </a:r>
          </a:p>
          <a:p>
            <a:pPr algn="just"/>
            <a:r>
              <a:rPr lang="en-US" dirty="0"/>
              <a:t>Managing these expectations constitutes a critical component of creating favorable moments of truth which in turn are critical for business success</a:t>
            </a:r>
          </a:p>
          <a:p>
            <a:pPr algn="just"/>
            <a:endParaRPr lang="en-JM" dirty="0"/>
          </a:p>
        </p:txBody>
      </p:sp>
    </p:spTree>
    <p:extLst>
      <p:ext uri="{BB962C8B-B14F-4D97-AF65-F5344CB8AC3E}">
        <p14:creationId xmlns:p14="http://schemas.microsoft.com/office/powerpoint/2010/main" val="1884497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MOMEMTS OF MAGIC</a:t>
            </a:r>
            <a:endParaRPr lang="en-JM" dirty="0"/>
          </a:p>
        </p:txBody>
      </p:sp>
      <p:sp>
        <p:nvSpPr>
          <p:cNvPr id="3" name="Content Placeholder 2"/>
          <p:cNvSpPr>
            <a:spLocks noGrp="1"/>
          </p:cNvSpPr>
          <p:nvPr>
            <p:ph idx="1"/>
          </p:nvPr>
        </p:nvSpPr>
        <p:spPr/>
        <p:txBody>
          <a:bodyPr/>
          <a:lstStyle/>
          <a:p>
            <a:pPr algn="just"/>
            <a:r>
              <a:rPr lang="en-US" dirty="0"/>
              <a:t>Favorable moments of truth have been termed as ’moments of magic’.</a:t>
            </a:r>
          </a:p>
          <a:p>
            <a:pPr algn="just"/>
            <a:r>
              <a:rPr lang="en-US" dirty="0"/>
              <a:t>These are instances where the customer has been served in a manner that exceeds his expectations. </a:t>
            </a:r>
          </a:p>
          <a:p>
            <a:pPr algn="just"/>
            <a:r>
              <a:rPr lang="en-US" dirty="0" err="1"/>
              <a:t>E.g</a:t>
            </a:r>
            <a:r>
              <a:rPr lang="en-US" dirty="0"/>
              <a:t>: An airline passenger being upgraded to from an economy to a business class ticket or the 100th (or 1000th) customer of a new department store being given a special discount on his purchase.</a:t>
            </a:r>
          </a:p>
          <a:p>
            <a:pPr algn="just"/>
            <a:r>
              <a:rPr lang="en-US" dirty="0"/>
              <a:t>Such gestures can go a long way in creating a regular and loyal customer base. However, a moment of magic need not necessarily involve such grand gestures. </a:t>
            </a:r>
          </a:p>
          <a:p>
            <a:pPr algn="just"/>
            <a:r>
              <a:rPr lang="en-US" dirty="0"/>
              <a:t>Even the efficient and timely service consistently provided by the coffee shop assistant can create a moment of magic for the customers.</a:t>
            </a:r>
            <a:endParaRPr lang="en-JM" dirty="0"/>
          </a:p>
        </p:txBody>
      </p:sp>
    </p:spTree>
    <p:extLst>
      <p:ext uri="{BB962C8B-B14F-4D97-AF65-F5344CB8AC3E}">
        <p14:creationId xmlns:p14="http://schemas.microsoft.com/office/powerpoint/2010/main" val="1158480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Moments of misery</a:t>
            </a:r>
            <a:endParaRPr lang="en-JM" dirty="0"/>
          </a:p>
        </p:txBody>
      </p:sp>
      <p:sp>
        <p:nvSpPr>
          <p:cNvPr id="3" name="Content Placeholder 2"/>
          <p:cNvSpPr>
            <a:spLocks noGrp="1"/>
          </p:cNvSpPr>
          <p:nvPr>
            <p:ph idx="1"/>
          </p:nvPr>
        </p:nvSpPr>
        <p:spPr/>
        <p:txBody>
          <a:bodyPr/>
          <a:lstStyle/>
          <a:p>
            <a:pPr algn="just"/>
            <a:r>
              <a:rPr lang="en-US" dirty="0"/>
              <a:t>These are instances where the customer interaction has a negative outcome. </a:t>
            </a:r>
          </a:p>
          <a:p>
            <a:pPr algn="just"/>
            <a:r>
              <a:rPr lang="en-US" dirty="0"/>
              <a:t>A delayed flight, rude and inattentive shop assistants or poor quality of food served at a restaurant all qualify as moments of misery for the customers.</a:t>
            </a:r>
          </a:p>
          <a:p>
            <a:pPr algn="just"/>
            <a:r>
              <a:rPr lang="en-US" dirty="0"/>
              <a:t>Though lapses in service cannot be totally avoided, how such a lapse is handled can go a long way in converting a moment of misery in to a moment of magic and creating a lasting impact on the customer.</a:t>
            </a:r>
          </a:p>
          <a:p>
            <a:pPr algn="just"/>
            <a:r>
              <a:rPr lang="en-US" dirty="0"/>
              <a:t>Moments of truth may occur at various “Touchpoints” during the service interaction.</a:t>
            </a:r>
            <a:endParaRPr lang="en-JM" dirty="0"/>
          </a:p>
        </p:txBody>
      </p:sp>
    </p:spTree>
    <p:extLst>
      <p:ext uri="{BB962C8B-B14F-4D97-AF65-F5344CB8AC3E}">
        <p14:creationId xmlns:p14="http://schemas.microsoft.com/office/powerpoint/2010/main" val="30051477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touchpoints</a:t>
            </a:r>
            <a:endParaRPr lang="en-JM" dirty="0"/>
          </a:p>
        </p:txBody>
      </p:sp>
      <p:sp>
        <p:nvSpPr>
          <p:cNvPr id="3" name="Content Placeholder 2"/>
          <p:cNvSpPr>
            <a:spLocks noGrp="1"/>
          </p:cNvSpPr>
          <p:nvPr>
            <p:ph idx="1"/>
          </p:nvPr>
        </p:nvSpPr>
        <p:spPr>
          <a:xfrm>
            <a:off x="685800" y="2057401"/>
            <a:ext cx="10820400" cy="4593769"/>
          </a:xfrm>
        </p:spPr>
        <p:txBody>
          <a:bodyPr>
            <a:normAutofit lnSpcReduction="10000"/>
          </a:bodyPr>
          <a:lstStyle/>
          <a:p>
            <a:pPr marL="0" indent="0" fontAlgn="base">
              <a:buNone/>
            </a:pPr>
            <a:r>
              <a:rPr lang="en-US" dirty="0"/>
              <a:t>These are points of contact or interaction, especially between a business and its customers or consumers:</a:t>
            </a:r>
          </a:p>
          <a:p>
            <a:pPr fontAlgn="base"/>
            <a:r>
              <a:rPr lang="en-US" dirty="0"/>
              <a:t>The first time potential guests visit a website and leave their email address to receive more information</a:t>
            </a:r>
          </a:p>
          <a:p>
            <a:pPr fontAlgn="base"/>
            <a:r>
              <a:rPr lang="en-US" dirty="0"/>
              <a:t>The moment a reservation is made and the company captures their personal details</a:t>
            </a:r>
          </a:p>
          <a:p>
            <a:pPr fontAlgn="base"/>
            <a:r>
              <a:rPr lang="en-US" dirty="0"/>
              <a:t>The in-person service encounters from the front desk to the parking lot</a:t>
            </a:r>
          </a:p>
          <a:p>
            <a:pPr fontAlgn="base"/>
            <a:r>
              <a:rPr lang="en-US" dirty="0"/>
              <a:t>Welcome notes, personalized menus, friendly hellos, and other touches throughout the interaction</a:t>
            </a:r>
          </a:p>
          <a:p>
            <a:pPr fontAlgn="base"/>
            <a:r>
              <a:rPr lang="en-US" dirty="0"/>
              <a:t>Background messages including clean facilities and equipment in good repair, pleasant decor and ambiance (flowers, etc.)</a:t>
            </a:r>
          </a:p>
          <a:p>
            <a:pPr fontAlgn="base"/>
            <a:r>
              <a:rPr lang="en-US" dirty="0"/>
              <a:t>Follow-up communications like a newsletter</a:t>
            </a:r>
          </a:p>
          <a:p>
            <a:pPr fontAlgn="base"/>
            <a:r>
              <a:rPr lang="en-US" dirty="0"/>
              <a:t>Further interactions on social media</a:t>
            </a:r>
          </a:p>
        </p:txBody>
      </p:sp>
    </p:spTree>
    <p:extLst>
      <p:ext uri="{BB962C8B-B14F-4D97-AF65-F5344CB8AC3E}">
        <p14:creationId xmlns:p14="http://schemas.microsoft.com/office/powerpoint/2010/main" val="3957331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Customer Turnoffs</a:t>
            </a:r>
          </a:p>
        </p:txBody>
      </p:sp>
      <p:sp>
        <p:nvSpPr>
          <p:cNvPr id="3" name="Content Placeholder 2"/>
          <p:cNvSpPr>
            <a:spLocks noGrp="1"/>
          </p:cNvSpPr>
          <p:nvPr>
            <p:ph idx="1"/>
          </p:nvPr>
        </p:nvSpPr>
        <p:spPr>
          <a:xfrm>
            <a:off x="685800" y="2194560"/>
            <a:ext cx="10820400" cy="4434840"/>
          </a:xfrm>
        </p:spPr>
        <p:txBody>
          <a:bodyPr>
            <a:normAutofit/>
          </a:bodyPr>
          <a:lstStyle/>
          <a:p>
            <a:pPr marL="0" indent="0">
              <a:buNone/>
            </a:pPr>
            <a:r>
              <a:rPr lang="en-US" dirty="0"/>
              <a:t>According to statistics very common customer turnoffs may be:</a:t>
            </a:r>
          </a:p>
          <a:p>
            <a:pPr lvl="1"/>
            <a:r>
              <a:rPr lang="en-US" sz="2200" dirty="0"/>
              <a:t>Being ignored, receiving rude or indifferent service</a:t>
            </a:r>
          </a:p>
          <a:p>
            <a:pPr lvl="1"/>
            <a:r>
              <a:rPr lang="en-US" sz="2200" dirty="0"/>
              <a:t>Having to wait too long</a:t>
            </a:r>
          </a:p>
          <a:p>
            <a:pPr lvl="1"/>
            <a:r>
              <a:rPr lang="en-US" sz="2200" dirty="0"/>
              <a:t>Poor-quality work (especially on repair jobs) or shoddy products</a:t>
            </a:r>
          </a:p>
          <a:p>
            <a:pPr lvl="1"/>
            <a:r>
              <a:rPr lang="en-US" sz="2200" dirty="0"/>
              <a:t>Sale items that are not in stock</a:t>
            </a:r>
          </a:p>
          <a:p>
            <a:pPr lvl="1"/>
            <a:r>
              <a:rPr lang="en-US" sz="2200" dirty="0"/>
              <a:t>Merchandise prices not marked, forcing a price check at cashier</a:t>
            </a:r>
          </a:p>
          <a:p>
            <a:pPr lvl="1"/>
            <a:r>
              <a:rPr lang="en-US" sz="2200" dirty="0"/>
              <a:t>Dirty restaurants or restrooms</a:t>
            </a:r>
          </a:p>
          <a:p>
            <a:pPr lvl="1"/>
            <a:r>
              <a:rPr lang="en-US" sz="2200" dirty="0"/>
              <a:t>Phone calls put on hold forcing you to select from a long menu of choices</a:t>
            </a:r>
          </a:p>
          <a:p>
            <a:pPr lvl="1"/>
            <a:r>
              <a:rPr lang="en-US" sz="2200" dirty="0"/>
              <a:t>Employees lacking product knowledge (who may also try to bluff customers)</a:t>
            </a:r>
          </a:p>
          <a:p>
            <a:pPr lvl="1"/>
            <a:r>
              <a:rPr lang="en-US" sz="2200" dirty="0"/>
              <a:t>High-pressure sales tactics</a:t>
            </a:r>
          </a:p>
          <a:p>
            <a:endParaRPr lang="en-US" dirty="0"/>
          </a:p>
        </p:txBody>
      </p:sp>
    </p:spTree>
    <p:extLst>
      <p:ext uri="{BB962C8B-B14F-4D97-AF65-F5344CB8AC3E}">
        <p14:creationId xmlns:p14="http://schemas.microsoft.com/office/powerpoint/2010/main" val="765638351"/>
      </p:ext>
    </p:extLst>
  </p:cSld>
  <p:clrMapOvr>
    <a:masterClrMapping/>
  </p:clrMapOvr>
  <p:transition>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Getting to know your customer</a:t>
            </a:r>
          </a:p>
        </p:txBody>
      </p:sp>
      <p:sp>
        <p:nvSpPr>
          <p:cNvPr id="3" name="Content Placeholder 2"/>
          <p:cNvSpPr>
            <a:spLocks noGrp="1"/>
          </p:cNvSpPr>
          <p:nvPr>
            <p:ph idx="1"/>
          </p:nvPr>
        </p:nvSpPr>
        <p:spPr>
          <a:xfrm>
            <a:off x="685800" y="2194560"/>
            <a:ext cx="10820400" cy="4511040"/>
          </a:xfrm>
        </p:spPr>
        <p:txBody>
          <a:bodyPr>
            <a:normAutofit/>
          </a:bodyPr>
          <a:lstStyle/>
          <a:p>
            <a:pPr algn="just"/>
            <a:r>
              <a:rPr lang="en-US" dirty="0">
                <a:solidFill>
                  <a:schemeClr val="bg2">
                    <a:lumMod val="10000"/>
                  </a:schemeClr>
                </a:solidFill>
              </a:rPr>
              <a:t>It is in the best interest of an organization to get to KNOW their customers.  The easiest way to understand a customer is to recognize a customer’s satisfaction and/or dissatisfaction.</a:t>
            </a:r>
          </a:p>
          <a:p>
            <a:pPr algn="just"/>
            <a:r>
              <a:rPr lang="en-US" dirty="0"/>
              <a:t>At the end of the day…what do your customers like or dislike?</a:t>
            </a:r>
          </a:p>
          <a:p>
            <a:pPr algn="just"/>
            <a:r>
              <a:rPr lang="en-US" dirty="0"/>
              <a:t>What are several methods that may be used to pinpoint customer satisfaction and/or dissatisfaction?</a:t>
            </a:r>
          </a:p>
          <a:p>
            <a:pPr marL="0" indent="0" algn="just">
              <a:buNone/>
            </a:pPr>
            <a:endParaRPr lang="en-US" dirty="0"/>
          </a:p>
          <a:p>
            <a:pPr lvl="2" algn="just"/>
            <a:r>
              <a:rPr lang="en-US" sz="2200" dirty="0"/>
              <a:t>Customer Surveys</a:t>
            </a:r>
          </a:p>
          <a:p>
            <a:pPr lvl="2" algn="just"/>
            <a:r>
              <a:rPr lang="en-US" sz="2200" dirty="0"/>
              <a:t>Customer Feedback Questionnaires</a:t>
            </a:r>
          </a:p>
          <a:p>
            <a:pPr lvl="2" algn="just"/>
            <a:r>
              <a:rPr lang="en-US" sz="2200" dirty="0"/>
              <a:t>Customer Focus Groups</a:t>
            </a:r>
          </a:p>
          <a:p>
            <a:pPr lvl="2" algn="just"/>
            <a:r>
              <a:rPr lang="en-US" sz="2200" dirty="0"/>
              <a:t>Customer Interviews</a:t>
            </a:r>
          </a:p>
          <a:p>
            <a:pPr lvl="2" algn="just"/>
            <a:r>
              <a:rPr lang="en-US" sz="2200" dirty="0"/>
              <a:t>Customer Advisory groups</a:t>
            </a:r>
          </a:p>
        </p:txBody>
      </p:sp>
      <p:pic>
        <p:nvPicPr>
          <p:cNvPr id="12292" name="Picture 4" descr="http://makemoneyideas.in/images/paid-surveys.jpg"/>
          <p:cNvPicPr>
            <a:picLocks noChangeAspect="1" noChangeArrowheads="1"/>
          </p:cNvPicPr>
          <p:nvPr/>
        </p:nvPicPr>
        <p:blipFill>
          <a:blip r:embed="rId2" cstate="print"/>
          <a:srcRect/>
          <a:stretch>
            <a:fillRect/>
          </a:stretch>
        </p:blipFill>
        <p:spPr bwMode="auto">
          <a:xfrm>
            <a:off x="7696200" y="4495800"/>
            <a:ext cx="2476500" cy="20268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360937539"/>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Categorizing Customer Turnoffs</a:t>
            </a:r>
          </a:p>
        </p:txBody>
      </p:sp>
      <p:sp>
        <p:nvSpPr>
          <p:cNvPr id="3" name="Content Placeholder 2"/>
          <p:cNvSpPr>
            <a:spLocks noGrp="1"/>
          </p:cNvSpPr>
          <p:nvPr>
            <p:ph idx="1"/>
          </p:nvPr>
        </p:nvSpPr>
        <p:spPr/>
        <p:txBody>
          <a:bodyPr>
            <a:normAutofit/>
          </a:bodyPr>
          <a:lstStyle/>
          <a:p>
            <a:pPr algn="just"/>
            <a:r>
              <a:rPr lang="en-JM" b="1" dirty="0"/>
              <a:t>Customer Turnoffs </a:t>
            </a:r>
            <a:r>
              <a:rPr lang="en-JM" dirty="0"/>
              <a:t>can be defined as “Actions or omissions on the part of the service provider that result in customer frustration and/or dissatisfaction”.</a:t>
            </a:r>
            <a:endParaRPr lang="en-US" dirty="0"/>
          </a:p>
          <a:p>
            <a:pPr algn="just"/>
            <a:r>
              <a:rPr lang="en-US" dirty="0"/>
              <a:t>Through extensive research customer turnoffs can be categorized into three distinct categories:</a:t>
            </a:r>
          </a:p>
          <a:p>
            <a:pPr marL="0" indent="0" algn="just">
              <a:buNone/>
            </a:pPr>
            <a:endParaRPr lang="en-US" dirty="0"/>
          </a:p>
          <a:p>
            <a:pPr lvl="1" algn="just"/>
            <a:r>
              <a:rPr lang="en-US" sz="2200" b="1" dirty="0">
                <a:solidFill>
                  <a:schemeClr val="bg2">
                    <a:lumMod val="10000"/>
                  </a:schemeClr>
                </a:solidFill>
              </a:rPr>
              <a:t>Value</a:t>
            </a:r>
            <a:r>
              <a:rPr lang="en-US" sz="2200" dirty="0">
                <a:solidFill>
                  <a:schemeClr val="bg2">
                    <a:lumMod val="10000"/>
                  </a:schemeClr>
                </a:solidFill>
              </a:rPr>
              <a:t> Turnoffs</a:t>
            </a:r>
          </a:p>
          <a:p>
            <a:pPr lvl="1" algn="just"/>
            <a:r>
              <a:rPr lang="en-US" sz="2200" b="1" dirty="0">
                <a:solidFill>
                  <a:schemeClr val="bg2">
                    <a:lumMod val="10000"/>
                  </a:schemeClr>
                </a:solidFill>
              </a:rPr>
              <a:t>System</a:t>
            </a:r>
            <a:r>
              <a:rPr lang="en-US" sz="2200" dirty="0">
                <a:solidFill>
                  <a:schemeClr val="bg2">
                    <a:lumMod val="10000"/>
                  </a:schemeClr>
                </a:solidFill>
              </a:rPr>
              <a:t> Turnoffs </a:t>
            </a:r>
          </a:p>
          <a:p>
            <a:pPr lvl="1" algn="just"/>
            <a:r>
              <a:rPr lang="en-US" sz="2200" b="1" dirty="0">
                <a:solidFill>
                  <a:schemeClr val="bg2">
                    <a:lumMod val="10000"/>
                  </a:schemeClr>
                </a:solidFill>
              </a:rPr>
              <a:t>People</a:t>
            </a:r>
            <a:r>
              <a:rPr lang="en-US" sz="2200" dirty="0">
                <a:solidFill>
                  <a:schemeClr val="bg2">
                    <a:lumMod val="10000"/>
                  </a:schemeClr>
                </a:solidFill>
              </a:rPr>
              <a:t> Turnoffs</a:t>
            </a:r>
          </a:p>
        </p:txBody>
      </p:sp>
      <p:pic>
        <p:nvPicPr>
          <p:cNvPr id="11266" name="Picture 2" descr="http://www.kissyourcompetitiongoodbye.com/wp-content/uploads/2009/08/bigstockphoto_fix_it_button_49212701.jpg"/>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7477027" y="3657600"/>
            <a:ext cx="2543273" cy="2466976"/>
          </a:xfrm>
          <a:prstGeom prst="rect">
            <a:avLst/>
          </a:prstGeom>
          <a:noFill/>
        </p:spPr>
      </p:pic>
    </p:spTree>
    <p:extLst>
      <p:ext uri="{BB962C8B-B14F-4D97-AF65-F5344CB8AC3E}">
        <p14:creationId xmlns:p14="http://schemas.microsoft.com/office/powerpoint/2010/main" val="1573501286"/>
      </p:ext>
    </p:extLst>
  </p:cSld>
  <p:clrMapOvr>
    <a:masterClrMapping/>
  </p:clrMapOvr>
  <p:transition spd="med">
    <p:dissolv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Turnoffs</a:t>
            </a:r>
          </a:p>
        </p:txBody>
      </p:sp>
      <p:sp>
        <p:nvSpPr>
          <p:cNvPr id="3" name="Content Placeholder 2"/>
          <p:cNvSpPr>
            <a:spLocks noGrp="1"/>
          </p:cNvSpPr>
          <p:nvPr>
            <p:ph idx="1"/>
          </p:nvPr>
        </p:nvSpPr>
        <p:spPr/>
        <p:txBody>
          <a:bodyPr>
            <a:normAutofit lnSpcReduction="10000"/>
          </a:bodyPr>
          <a:lstStyle/>
          <a:p>
            <a:pPr algn="just">
              <a:lnSpc>
                <a:spcPct val="100000"/>
              </a:lnSpc>
              <a:spcBef>
                <a:spcPts val="600"/>
              </a:spcBef>
            </a:pPr>
            <a:r>
              <a:rPr lang="en-US" dirty="0">
                <a:solidFill>
                  <a:schemeClr val="bg2">
                    <a:lumMod val="10000"/>
                  </a:schemeClr>
                </a:solidFill>
              </a:rPr>
              <a:t>In short, value turnoffs can be described as “</a:t>
            </a:r>
            <a:r>
              <a:rPr lang="en-US" i="1" dirty="0">
                <a:solidFill>
                  <a:schemeClr val="bg2">
                    <a:lumMod val="10000"/>
                  </a:schemeClr>
                </a:solidFill>
              </a:rPr>
              <a:t>not getting the value of what you have paid for”.</a:t>
            </a:r>
          </a:p>
          <a:p>
            <a:pPr lvl="1" algn="just">
              <a:lnSpc>
                <a:spcPct val="100000"/>
              </a:lnSpc>
              <a:spcBef>
                <a:spcPts val="600"/>
              </a:spcBef>
            </a:pPr>
            <a:r>
              <a:rPr lang="en-US" sz="2200" dirty="0">
                <a:solidFill>
                  <a:schemeClr val="bg2">
                    <a:lumMod val="10000"/>
                  </a:schemeClr>
                </a:solidFill>
              </a:rPr>
              <a:t>Example:  You receive a 30 minute massage from the massage therapist in your chiropractors office, it is terrible.  You feel like you have just been run over by a lawnmower, not to mention that the office has just raised the fees for a massage by 50%.</a:t>
            </a:r>
          </a:p>
          <a:p>
            <a:pPr lvl="1" algn="just">
              <a:lnSpc>
                <a:spcPct val="100000"/>
              </a:lnSpc>
              <a:spcBef>
                <a:spcPts val="600"/>
              </a:spcBef>
            </a:pPr>
            <a:r>
              <a:rPr lang="en-US" sz="2200" dirty="0">
                <a:solidFill>
                  <a:schemeClr val="bg2">
                    <a:lumMod val="10000"/>
                  </a:schemeClr>
                </a:solidFill>
              </a:rPr>
              <a:t>Value can be defined as:  quality relative to price</a:t>
            </a:r>
          </a:p>
          <a:p>
            <a:pPr lvl="1" algn="just">
              <a:lnSpc>
                <a:spcPct val="100000"/>
              </a:lnSpc>
              <a:spcBef>
                <a:spcPts val="600"/>
              </a:spcBef>
            </a:pPr>
            <a:r>
              <a:rPr lang="en-US" sz="2200" dirty="0">
                <a:solidFill>
                  <a:schemeClr val="bg2">
                    <a:lumMod val="10000"/>
                  </a:schemeClr>
                </a:solidFill>
              </a:rPr>
              <a:t>Examples of value turnoffs:  </a:t>
            </a:r>
          </a:p>
          <a:p>
            <a:pPr lvl="2" algn="just">
              <a:lnSpc>
                <a:spcPct val="100000"/>
              </a:lnSpc>
              <a:spcBef>
                <a:spcPts val="600"/>
              </a:spcBef>
            </a:pPr>
            <a:r>
              <a:rPr lang="en-US" sz="2200" dirty="0">
                <a:solidFill>
                  <a:schemeClr val="bg2">
                    <a:lumMod val="10000"/>
                  </a:schemeClr>
                </a:solidFill>
              </a:rPr>
              <a:t>Poor guarantee or failure to back up products</a:t>
            </a:r>
          </a:p>
          <a:p>
            <a:pPr lvl="2" algn="just">
              <a:lnSpc>
                <a:spcPct val="100000"/>
              </a:lnSpc>
              <a:spcBef>
                <a:spcPts val="600"/>
              </a:spcBef>
            </a:pPr>
            <a:r>
              <a:rPr lang="en-US" sz="2200" dirty="0">
                <a:solidFill>
                  <a:schemeClr val="bg2">
                    <a:lumMod val="10000"/>
                  </a:schemeClr>
                </a:solidFill>
              </a:rPr>
              <a:t>Quality not good as expected</a:t>
            </a:r>
          </a:p>
          <a:p>
            <a:pPr lvl="2" algn="just">
              <a:lnSpc>
                <a:spcPct val="100000"/>
              </a:lnSpc>
              <a:spcBef>
                <a:spcPts val="600"/>
              </a:spcBef>
            </a:pPr>
            <a:r>
              <a:rPr lang="en-US" sz="2200" dirty="0">
                <a:solidFill>
                  <a:schemeClr val="bg2">
                    <a:lumMod val="10000"/>
                  </a:schemeClr>
                </a:solidFill>
              </a:rPr>
              <a:t>Price too high for value received</a:t>
            </a:r>
            <a:endParaRPr lang="en-US" dirty="0">
              <a:solidFill>
                <a:schemeClr val="bg2">
                  <a:lumMod val="10000"/>
                </a:schemeClr>
              </a:solidFill>
            </a:endParaRPr>
          </a:p>
        </p:txBody>
      </p:sp>
      <p:pic>
        <p:nvPicPr>
          <p:cNvPr id="10244" name="Picture 4" descr="http://www.iandrinstitute.org/Fist%20of%20Money.gif"/>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8674554" y="4240099"/>
            <a:ext cx="1895475" cy="2115745"/>
          </a:xfrm>
          <a:prstGeom prst="rect">
            <a:avLst/>
          </a:prstGeom>
          <a:noFill/>
        </p:spPr>
      </p:pic>
    </p:spTree>
    <p:extLst>
      <p:ext uri="{BB962C8B-B14F-4D97-AF65-F5344CB8AC3E}">
        <p14:creationId xmlns:p14="http://schemas.microsoft.com/office/powerpoint/2010/main" val="1296768093"/>
      </p:ext>
    </p:extLst>
  </p:cSld>
  <p:clrMapOvr>
    <a:masterClrMapping/>
  </p:clrMapOvr>
  <p:transition spd="med">
    <p:pull dir="l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ttp://intericonsindia.com/images/project_management.jpg"/>
          <p:cNvPicPr>
            <a:picLocks noChangeAspect="1" noChangeArrowheads="1"/>
          </p:cNvPicPr>
          <p:nvPr/>
        </p:nvPicPr>
        <p:blipFill>
          <a:blip r:embed="rId2" cstate="print">
            <a:clrChange>
              <a:clrFrom>
                <a:srgbClr val="F0F0F0"/>
              </a:clrFrom>
              <a:clrTo>
                <a:srgbClr val="F0F0F0">
                  <a:alpha val="0"/>
                </a:srgbClr>
              </a:clrTo>
            </a:clrChange>
          </a:blip>
          <a:srcRect/>
          <a:stretch>
            <a:fillRect/>
          </a:stretch>
        </p:blipFill>
        <p:spPr bwMode="auto">
          <a:xfrm>
            <a:off x="8305801" y="4419599"/>
            <a:ext cx="2391336" cy="2168145"/>
          </a:xfrm>
          <a:prstGeom prst="rect">
            <a:avLst/>
          </a:prstGeom>
          <a:noFill/>
        </p:spPr>
      </p:pic>
      <p:sp>
        <p:nvSpPr>
          <p:cNvPr id="2" name="Title 1"/>
          <p:cNvSpPr>
            <a:spLocks noGrp="1"/>
          </p:cNvSpPr>
          <p:nvPr>
            <p:ph type="title"/>
          </p:nvPr>
        </p:nvSpPr>
        <p:spPr/>
        <p:txBody>
          <a:bodyPr>
            <a:normAutofit/>
          </a:bodyPr>
          <a:lstStyle/>
          <a:p>
            <a:r>
              <a:rPr lang="en-US" dirty="0"/>
              <a:t>Where do value decisions originate from?</a:t>
            </a:r>
          </a:p>
        </p:txBody>
      </p:sp>
      <p:sp>
        <p:nvSpPr>
          <p:cNvPr id="3" name="Content Placeholder 2"/>
          <p:cNvSpPr>
            <a:spLocks noGrp="1"/>
          </p:cNvSpPr>
          <p:nvPr>
            <p:ph idx="1"/>
          </p:nvPr>
        </p:nvSpPr>
        <p:spPr/>
        <p:txBody>
          <a:bodyPr>
            <a:normAutofit/>
          </a:bodyPr>
          <a:lstStyle/>
          <a:p>
            <a:pPr algn="just"/>
            <a:r>
              <a:rPr lang="en-US" sz="2400" dirty="0">
                <a:solidFill>
                  <a:schemeClr val="bg2">
                    <a:lumMod val="10000"/>
                  </a:schemeClr>
                </a:solidFill>
              </a:rPr>
              <a:t>Value decisions usually come from management or the head of an organization.  In a medical or dental facility value decisions may be regulated by a medical or dental board</a:t>
            </a:r>
          </a:p>
          <a:p>
            <a:pPr algn="just"/>
            <a:r>
              <a:rPr lang="en-US" sz="2400" dirty="0">
                <a:solidFill>
                  <a:schemeClr val="bg2">
                    <a:lumMod val="10000"/>
                  </a:schemeClr>
                </a:solidFill>
              </a:rPr>
              <a:t>The head of an organization will define what is called the; </a:t>
            </a:r>
          </a:p>
          <a:p>
            <a:pPr lvl="1" algn="just"/>
            <a:r>
              <a:rPr lang="en-US" sz="2400" dirty="0">
                <a:solidFill>
                  <a:schemeClr val="bg2">
                    <a:lumMod val="10000"/>
                  </a:schemeClr>
                </a:solidFill>
              </a:rPr>
              <a:t>value proposition—what the company intends to exchange with its customers.</a:t>
            </a:r>
          </a:p>
          <a:p>
            <a:pPr algn="just"/>
            <a:endParaRPr lang="en-US" sz="2400" dirty="0">
              <a:solidFill>
                <a:schemeClr val="bg2">
                  <a:lumMod val="10000"/>
                </a:schemeClr>
              </a:solidFill>
            </a:endParaRPr>
          </a:p>
        </p:txBody>
      </p:sp>
    </p:spTree>
    <p:extLst>
      <p:ext uri="{BB962C8B-B14F-4D97-AF65-F5344CB8AC3E}">
        <p14:creationId xmlns:p14="http://schemas.microsoft.com/office/powerpoint/2010/main" val="423563440"/>
      </p:ext>
    </p:extLst>
  </p:cSld>
  <p:clrMapOvr>
    <a:masterClrMapping/>
  </p:clrMapOvr>
  <p:transition spd="slow">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Turnoffs</a:t>
            </a:r>
          </a:p>
        </p:txBody>
      </p:sp>
      <p:sp>
        <p:nvSpPr>
          <p:cNvPr id="3" name="Content Placeholder 2"/>
          <p:cNvSpPr>
            <a:spLocks noGrp="1"/>
          </p:cNvSpPr>
          <p:nvPr>
            <p:ph idx="1"/>
          </p:nvPr>
        </p:nvSpPr>
        <p:spPr>
          <a:xfrm>
            <a:off x="685800" y="2057401"/>
            <a:ext cx="10820400" cy="4663440"/>
          </a:xfrm>
        </p:spPr>
        <p:txBody>
          <a:bodyPr>
            <a:normAutofit/>
          </a:bodyPr>
          <a:lstStyle/>
          <a:p>
            <a:r>
              <a:rPr lang="en-US" sz="2400" dirty="0">
                <a:solidFill>
                  <a:schemeClr val="bg2">
                    <a:lumMod val="10000"/>
                  </a:schemeClr>
                </a:solidFill>
              </a:rPr>
              <a:t>System turnoffs arise from the way a company delivers its products or services.  </a:t>
            </a:r>
          </a:p>
          <a:p>
            <a:r>
              <a:rPr lang="en-US" sz="2400" dirty="0">
                <a:solidFill>
                  <a:schemeClr val="bg2">
                    <a:lumMod val="10000"/>
                  </a:schemeClr>
                </a:solidFill>
              </a:rPr>
              <a:t>A system is - any process, procedure, or policy used to ‘Deliver’ the product or service to the customer.  Systems are the processes that we use to get value to the customer.</a:t>
            </a:r>
          </a:p>
          <a:p>
            <a:pPr lvl="1"/>
            <a:endParaRPr lang="en-US" sz="2400" dirty="0">
              <a:solidFill>
                <a:schemeClr val="bg2">
                  <a:lumMod val="10000"/>
                </a:schemeClr>
              </a:solidFill>
            </a:endParaRPr>
          </a:p>
          <a:p>
            <a:pPr lvl="1"/>
            <a:endParaRPr lang="en-US" dirty="0">
              <a:solidFill>
                <a:schemeClr val="bg2">
                  <a:lumMod val="10000"/>
                </a:schemeClr>
              </a:solidFill>
            </a:endParaRPr>
          </a:p>
          <a:p>
            <a:endParaRPr lang="en-US" dirty="0">
              <a:solidFill>
                <a:schemeClr val="bg2">
                  <a:lumMod val="10000"/>
                </a:schemeClr>
              </a:solidFill>
            </a:endParaRPr>
          </a:p>
        </p:txBody>
      </p:sp>
      <p:pic>
        <p:nvPicPr>
          <p:cNvPr id="8194" name="Picture 2" descr="http://www.uhd.edu/about/hr/images/redesign/policies.jpg"/>
          <p:cNvPicPr>
            <a:picLocks noChangeAspect="1" noChangeArrowheads="1"/>
          </p:cNvPicPr>
          <p:nvPr/>
        </p:nvPicPr>
        <p:blipFill>
          <a:blip r:embed="rId2" cstate="print"/>
          <a:srcRect/>
          <a:stretch>
            <a:fillRect/>
          </a:stretch>
        </p:blipFill>
        <p:spPr bwMode="auto">
          <a:xfrm>
            <a:off x="7228114" y="4038214"/>
            <a:ext cx="3276600" cy="2180471"/>
          </a:xfrm>
          <a:prstGeom prst="rect">
            <a:avLst/>
          </a:prstGeom>
          <a:ln>
            <a:noFill/>
          </a:ln>
          <a:effectLst>
            <a:softEdge rad="112500"/>
          </a:effectLst>
        </p:spPr>
      </p:pic>
    </p:spTree>
    <p:extLst>
      <p:ext uri="{BB962C8B-B14F-4D97-AF65-F5344CB8AC3E}">
        <p14:creationId xmlns:p14="http://schemas.microsoft.com/office/powerpoint/2010/main" val="1112258225"/>
      </p:ext>
    </p:extLst>
  </p:cSld>
  <p:clrMapOvr>
    <a:masterClrMapping/>
  </p:clrMapOvr>
  <p:transition spd="slow">
    <p:spli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Turnoffs</a:t>
            </a:r>
          </a:p>
        </p:txBody>
      </p:sp>
      <p:sp>
        <p:nvSpPr>
          <p:cNvPr id="3" name="Content Placeholder 2"/>
          <p:cNvSpPr>
            <a:spLocks noGrp="1"/>
          </p:cNvSpPr>
          <p:nvPr>
            <p:ph idx="1"/>
          </p:nvPr>
        </p:nvSpPr>
        <p:spPr>
          <a:xfrm>
            <a:off x="685800" y="2057401"/>
            <a:ext cx="10820400" cy="4663440"/>
          </a:xfrm>
        </p:spPr>
        <p:txBody>
          <a:bodyPr>
            <a:normAutofit/>
          </a:bodyPr>
          <a:lstStyle/>
          <a:p>
            <a:pPr marL="0" indent="0">
              <a:buNone/>
            </a:pPr>
            <a:r>
              <a:rPr lang="en-US" sz="2400" dirty="0">
                <a:solidFill>
                  <a:schemeClr val="bg2">
                    <a:lumMod val="10000"/>
                  </a:schemeClr>
                </a:solidFill>
              </a:rPr>
              <a:t>Systems include things such as:</a:t>
            </a:r>
          </a:p>
          <a:p>
            <a:pPr marL="0" indent="0">
              <a:buNone/>
            </a:pPr>
            <a:endParaRPr lang="en-US" sz="2400" dirty="0">
              <a:solidFill>
                <a:schemeClr val="bg2">
                  <a:lumMod val="10000"/>
                </a:schemeClr>
              </a:solidFill>
            </a:endParaRPr>
          </a:p>
          <a:p>
            <a:pPr lvl="1"/>
            <a:r>
              <a:rPr lang="en-US" sz="2200" dirty="0">
                <a:solidFill>
                  <a:schemeClr val="bg2">
                    <a:lumMod val="10000"/>
                  </a:schemeClr>
                </a:solidFill>
              </a:rPr>
              <a:t>Company location, layout, parking facilities, phone lines</a:t>
            </a:r>
          </a:p>
          <a:p>
            <a:pPr lvl="1"/>
            <a:r>
              <a:rPr lang="en-US" sz="2200" dirty="0">
                <a:solidFill>
                  <a:schemeClr val="bg2">
                    <a:lumMod val="10000"/>
                  </a:schemeClr>
                </a:solidFill>
              </a:rPr>
              <a:t>Employee training and staffing</a:t>
            </a:r>
          </a:p>
          <a:p>
            <a:pPr lvl="1"/>
            <a:r>
              <a:rPr lang="en-US" sz="2200" dirty="0">
                <a:solidFill>
                  <a:schemeClr val="bg2">
                    <a:lumMod val="10000"/>
                  </a:schemeClr>
                </a:solidFill>
              </a:rPr>
              <a:t>Record keeping (including computer systems for handling customer transactions)</a:t>
            </a:r>
          </a:p>
          <a:p>
            <a:pPr lvl="1"/>
            <a:r>
              <a:rPr lang="en-US" sz="2200" dirty="0">
                <a:solidFill>
                  <a:schemeClr val="bg2">
                    <a:lumMod val="10000"/>
                  </a:schemeClr>
                </a:solidFill>
              </a:rPr>
              <a:t>Policies regarding guarantees and product returns</a:t>
            </a:r>
          </a:p>
          <a:p>
            <a:pPr lvl="1"/>
            <a:r>
              <a:rPr lang="en-US" sz="2200" dirty="0">
                <a:solidFill>
                  <a:schemeClr val="bg2">
                    <a:lumMod val="10000"/>
                  </a:schemeClr>
                </a:solidFill>
              </a:rPr>
              <a:t>Delivery or pickup services</a:t>
            </a:r>
          </a:p>
          <a:p>
            <a:pPr lvl="1"/>
            <a:r>
              <a:rPr lang="en-US" sz="2200" dirty="0">
                <a:solidFill>
                  <a:schemeClr val="bg2">
                    <a:lumMod val="10000"/>
                  </a:schemeClr>
                </a:solidFill>
              </a:rPr>
              <a:t>Merchandise displays</a:t>
            </a:r>
          </a:p>
          <a:p>
            <a:pPr lvl="1"/>
            <a:r>
              <a:rPr lang="en-US" sz="2200" dirty="0">
                <a:solidFill>
                  <a:schemeClr val="bg2">
                    <a:lumMod val="10000"/>
                  </a:schemeClr>
                </a:solidFill>
              </a:rPr>
              <a:t>Customer follow-up procedures</a:t>
            </a:r>
          </a:p>
          <a:p>
            <a:pPr lvl="1"/>
            <a:r>
              <a:rPr lang="en-US" sz="2200" dirty="0">
                <a:solidFill>
                  <a:schemeClr val="bg2">
                    <a:lumMod val="10000"/>
                  </a:schemeClr>
                </a:solidFill>
              </a:rPr>
              <a:t>Billing and accounting processes</a:t>
            </a:r>
          </a:p>
        </p:txBody>
      </p:sp>
    </p:spTree>
    <p:extLst>
      <p:ext uri="{BB962C8B-B14F-4D97-AF65-F5344CB8AC3E}">
        <p14:creationId xmlns:p14="http://schemas.microsoft.com/office/powerpoint/2010/main" val="1400568478"/>
      </p:ext>
    </p:extLst>
  </p:cSld>
  <p:clrMapOvr>
    <a:masterClrMapping/>
  </p:clrMapOvr>
  <p:transition spd="slow">
    <p:spli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Where do system decisions originate from?</a:t>
            </a:r>
          </a:p>
        </p:txBody>
      </p:sp>
      <p:sp>
        <p:nvSpPr>
          <p:cNvPr id="3" name="Content Placeholder 2"/>
          <p:cNvSpPr>
            <a:spLocks noGrp="1"/>
          </p:cNvSpPr>
          <p:nvPr>
            <p:ph idx="1"/>
          </p:nvPr>
        </p:nvSpPr>
        <p:spPr>
          <a:xfrm>
            <a:off x="685800" y="2194560"/>
            <a:ext cx="10820400" cy="4663440"/>
          </a:xfrm>
        </p:spPr>
        <p:txBody>
          <a:bodyPr>
            <a:normAutofit/>
          </a:bodyPr>
          <a:lstStyle/>
          <a:p>
            <a:pPr algn="just"/>
            <a:r>
              <a:rPr lang="en-US" dirty="0">
                <a:solidFill>
                  <a:schemeClr val="bg2">
                    <a:lumMod val="10000"/>
                  </a:schemeClr>
                </a:solidFill>
              </a:rPr>
              <a:t>The responsibility for minimizing system turnoffs lies with managers, and owners.  System changes often require spending organizational resources which are usually authorized by managers or the head of an organization.</a:t>
            </a:r>
          </a:p>
          <a:p>
            <a:pPr algn="just"/>
            <a:r>
              <a:rPr lang="en-US" dirty="0">
                <a:solidFill>
                  <a:schemeClr val="bg2">
                    <a:lumMod val="10000"/>
                  </a:schemeClr>
                </a:solidFill>
              </a:rPr>
              <a:t>A companies decision to add personnel, provide additional training, change locations  or implement new delivery methods, will require management approval.</a:t>
            </a:r>
          </a:p>
          <a:p>
            <a:pPr algn="just"/>
            <a:r>
              <a:rPr lang="en-US" dirty="0">
                <a:solidFill>
                  <a:schemeClr val="bg2">
                    <a:lumMod val="10000"/>
                  </a:schemeClr>
                </a:solidFill>
              </a:rPr>
              <a:t>This does not mean that non-management employees should not be involved in suggesting system changes.  </a:t>
            </a:r>
          </a:p>
          <a:p>
            <a:pPr algn="just"/>
            <a:r>
              <a:rPr lang="en-US" dirty="0">
                <a:solidFill>
                  <a:schemeClr val="bg2">
                    <a:lumMod val="10000"/>
                  </a:schemeClr>
                </a:solidFill>
              </a:rPr>
              <a:t>Customers may also indirectly be involved in system changes through customer feedback question, surveys etc…about company systems.</a:t>
            </a:r>
          </a:p>
        </p:txBody>
      </p:sp>
    </p:spTree>
    <p:extLst>
      <p:ext uri="{BB962C8B-B14F-4D97-AF65-F5344CB8AC3E}">
        <p14:creationId xmlns:p14="http://schemas.microsoft.com/office/powerpoint/2010/main" val="846970707"/>
      </p:ext>
    </p:extLst>
  </p:cSld>
  <p:clrMapOvr>
    <a:masterClrMapping/>
  </p:clrMapOvr>
  <p:transition spd="slow">
    <p:pull dir="l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turnoffs</a:t>
            </a:r>
          </a:p>
        </p:txBody>
      </p:sp>
      <p:sp>
        <p:nvSpPr>
          <p:cNvPr id="3" name="Content Placeholder 2"/>
          <p:cNvSpPr>
            <a:spLocks noGrp="1"/>
          </p:cNvSpPr>
          <p:nvPr>
            <p:ph idx="1"/>
          </p:nvPr>
        </p:nvSpPr>
        <p:spPr>
          <a:xfrm>
            <a:off x="685800" y="2194560"/>
            <a:ext cx="10820400" cy="4663440"/>
          </a:xfrm>
        </p:spPr>
        <p:txBody>
          <a:bodyPr>
            <a:normAutofit/>
          </a:bodyPr>
          <a:lstStyle/>
          <a:p>
            <a:r>
              <a:rPr lang="en-US" dirty="0">
                <a:solidFill>
                  <a:schemeClr val="bg2">
                    <a:lumMod val="10000"/>
                  </a:schemeClr>
                </a:solidFill>
              </a:rPr>
              <a:t>Examples of system turnoffs:  </a:t>
            </a:r>
          </a:p>
          <a:p>
            <a:pPr lvl="1"/>
            <a:r>
              <a:rPr lang="en-US" sz="2200" dirty="0">
                <a:solidFill>
                  <a:schemeClr val="bg2">
                    <a:lumMod val="10000"/>
                  </a:schemeClr>
                </a:solidFill>
              </a:rPr>
              <a:t>Slow service</a:t>
            </a:r>
          </a:p>
          <a:p>
            <a:pPr lvl="1"/>
            <a:r>
              <a:rPr lang="en-US" sz="2200" dirty="0">
                <a:solidFill>
                  <a:schemeClr val="bg2">
                    <a:lumMod val="10000"/>
                  </a:schemeClr>
                </a:solidFill>
              </a:rPr>
              <a:t>Long lines</a:t>
            </a:r>
          </a:p>
          <a:p>
            <a:pPr lvl="1"/>
            <a:r>
              <a:rPr lang="en-US" sz="2200" dirty="0">
                <a:solidFill>
                  <a:schemeClr val="bg2">
                    <a:lumMod val="10000"/>
                  </a:schemeClr>
                </a:solidFill>
              </a:rPr>
              <a:t>Untrained employees</a:t>
            </a:r>
          </a:p>
          <a:p>
            <a:pPr lvl="1"/>
            <a:r>
              <a:rPr lang="en-US" sz="2200" dirty="0">
                <a:solidFill>
                  <a:schemeClr val="bg2">
                    <a:lumMod val="10000"/>
                  </a:schemeClr>
                </a:solidFill>
              </a:rPr>
              <a:t>Poor signage</a:t>
            </a:r>
          </a:p>
          <a:p>
            <a:pPr lvl="1"/>
            <a:r>
              <a:rPr lang="en-US" sz="2200" dirty="0">
                <a:solidFill>
                  <a:schemeClr val="bg2">
                    <a:lumMod val="10000"/>
                  </a:schemeClr>
                </a:solidFill>
              </a:rPr>
              <a:t>When transactions are unnecessarily complicated or inefficient (example:  complicated forms)</a:t>
            </a:r>
          </a:p>
        </p:txBody>
      </p:sp>
    </p:spTree>
    <p:extLst>
      <p:ext uri="{BB962C8B-B14F-4D97-AF65-F5344CB8AC3E}">
        <p14:creationId xmlns:p14="http://schemas.microsoft.com/office/powerpoint/2010/main" val="2816883146"/>
      </p:ext>
    </p:extLst>
  </p:cSld>
  <p:clrMapOvr>
    <a:masterClrMapping/>
  </p:clrMapOvr>
  <p:transition spd="slow">
    <p:pull dir="l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Turnoffs in a HOTEL RECEPTION</a:t>
            </a:r>
          </a:p>
        </p:txBody>
      </p:sp>
      <p:sp>
        <p:nvSpPr>
          <p:cNvPr id="3" name="Content Placeholder 2"/>
          <p:cNvSpPr>
            <a:spLocks noGrp="1"/>
          </p:cNvSpPr>
          <p:nvPr>
            <p:ph idx="1"/>
          </p:nvPr>
        </p:nvSpPr>
        <p:spPr>
          <a:xfrm>
            <a:off x="685800" y="2057401"/>
            <a:ext cx="10820400" cy="4024125"/>
          </a:xfrm>
        </p:spPr>
        <p:txBody>
          <a:bodyPr>
            <a:noAutofit/>
          </a:bodyPr>
          <a:lstStyle/>
          <a:p>
            <a:r>
              <a:rPr lang="en-US" sz="2100" dirty="0">
                <a:solidFill>
                  <a:schemeClr val="bg2">
                    <a:lumMod val="10000"/>
                  </a:schemeClr>
                </a:solidFill>
              </a:rPr>
              <a:t>Can you think of a system turnoff in a hotel reception?</a:t>
            </a:r>
          </a:p>
          <a:p>
            <a:pPr lvl="1"/>
            <a:r>
              <a:rPr lang="en-US" sz="2100" dirty="0">
                <a:solidFill>
                  <a:schemeClr val="bg2">
                    <a:lumMod val="10000"/>
                  </a:schemeClr>
                </a:solidFill>
              </a:rPr>
              <a:t>employees who lack the knowledge to answer customer questions </a:t>
            </a:r>
          </a:p>
          <a:p>
            <a:pPr lvl="1"/>
            <a:r>
              <a:rPr lang="en-US" sz="2100" dirty="0">
                <a:solidFill>
                  <a:schemeClr val="bg2">
                    <a:lumMod val="10000"/>
                  </a:schemeClr>
                </a:solidFill>
              </a:rPr>
              <a:t>telephone menus that are unnecessarily complicated</a:t>
            </a:r>
          </a:p>
          <a:p>
            <a:pPr lvl="1"/>
            <a:r>
              <a:rPr lang="en-US" sz="2100" dirty="0">
                <a:solidFill>
                  <a:schemeClr val="bg2">
                    <a:lumMod val="10000"/>
                  </a:schemeClr>
                </a:solidFill>
              </a:rPr>
              <a:t>poor location</a:t>
            </a:r>
          </a:p>
          <a:p>
            <a:pPr lvl="1"/>
            <a:r>
              <a:rPr lang="en-US" sz="2100" dirty="0">
                <a:solidFill>
                  <a:schemeClr val="bg2">
                    <a:lumMod val="10000"/>
                  </a:schemeClr>
                </a:solidFill>
              </a:rPr>
              <a:t>cluttered workplace</a:t>
            </a:r>
          </a:p>
          <a:p>
            <a:pPr lvl="1"/>
            <a:r>
              <a:rPr lang="en-US" sz="2100" dirty="0">
                <a:solidFill>
                  <a:schemeClr val="bg2">
                    <a:lumMod val="10000"/>
                  </a:schemeClr>
                </a:solidFill>
              </a:rPr>
              <a:t>lack of adequate seating</a:t>
            </a:r>
          </a:p>
          <a:p>
            <a:pPr lvl="1"/>
            <a:r>
              <a:rPr lang="en-US" sz="2100" dirty="0">
                <a:solidFill>
                  <a:schemeClr val="bg2">
                    <a:lumMod val="10000"/>
                  </a:schemeClr>
                </a:solidFill>
              </a:rPr>
              <a:t>dirty facilities</a:t>
            </a:r>
          </a:p>
          <a:p>
            <a:pPr lvl="1"/>
            <a:r>
              <a:rPr lang="en-US" sz="2100" dirty="0">
                <a:solidFill>
                  <a:schemeClr val="bg2">
                    <a:lumMod val="10000"/>
                  </a:schemeClr>
                </a:solidFill>
              </a:rPr>
              <a:t>clumsy or repetitious paperwork requirements</a:t>
            </a:r>
          </a:p>
          <a:p>
            <a:pPr lvl="1"/>
            <a:r>
              <a:rPr lang="en-US" sz="2100" dirty="0">
                <a:solidFill>
                  <a:schemeClr val="bg2">
                    <a:lumMod val="10000"/>
                  </a:schemeClr>
                </a:solidFill>
              </a:rPr>
              <a:t>lack of parking</a:t>
            </a:r>
          </a:p>
          <a:p>
            <a:pPr lvl="1"/>
            <a:r>
              <a:rPr lang="en-US" sz="2100" dirty="0">
                <a:solidFill>
                  <a:schemeClr val="bg2">
                    <a:lumMod val="10000"/>
                  </a:schemeClr>
                </a:solidFill>
              </a:rPr>
              <a:t>long periods of waiting</a:t>
            </a:r>
          </a:p>
          <a:p>
            <a:r>
              <a:rPr lang="en-US" sz="2100" dirty="0">
                <a:solidFill>
                  <a:schemeClr val="bg2">
                    <a:lumMod val="10000"/>
                  </a:schemeClr>
                </a:solidFill>
              </a:rPr>
              <a:t>What do you think is the number one system turnoff according to customer research?</a:t>
            </a:r>
          </a:p>
          <a:p>
            <a:pPr lvl="1"/>
            <a:r>
              <a:rPr lang="en-US" sz="2100" dirty="0">
                <a:solidFill>
                  <a:schemeClr val="bg2">
                    <a:lumMod val="10000"/>
                  </a:schemeClr>
                </a:solidFill>
              </a:rPr>
              <a:t>Slow service and/or having to wait</a:t>
            </a:r>
          </a:p>
          <a:p>
            <a:pPr lvl="1"/>
            <a:endParaRPr lang="en-US" sz="2100" dirty="0">
              <a:solidFill>
                <a:schemeClr val="bg2">
                  <a:lumMod val="10000"/>
                </a:schemeClr>
              </a:solidFill>
            </a:endParaRPr>
          </a:p>
        </p:txBody>
      </p:sp>
    </p:spTree>
    <p:extLst>
      <p:ext uri="{BB962C8B-B14F-4D97-AF65-F5344CB8AC3E}">
        <p14:creationId xmlns:p14="http://schemas.microsoft.com/office/powerpoint/2010/main" val="4259436243"/>
      </p:ext>
    </p:extLst>
  </p:cSld>
  <p:clrMapOvr>
    <a:masterClrMapping/>
  </p:clrMapOvr>
  <p:transition spd="slow">
    <p:newsfla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People Turnoffs</a:t>
            </a:r>
          </a:p>
        </p:txBody>
      </p:sp>
      <p:sp>
        <p:nvSpPr>
          <p:cNvPr id="3" name="Content Placeholder 2"/>
          <p:cNvSpPr>
            <a:spLocks noGrp="1"/>
          </p:cNvSpPr>
          <p:nvPr>
            <p:ph sz="half" idx="1"/>
          </p:nvPr>
        </p:nvSpPr>
        <p:spPr>
          <a:xfrm>
            <a:off x="664029" y="2155371"/>
            <a:ext cx="8284028" cy="4321629"/>
          </a:xfrm>
        </p:spPr>
        <p:txBody>
          <a:bodyPr>
            <a:normAutofit/>
          </a:bodyPr>
          <a:lstStyle/>
          <a:p>
            <a:pPr algn="just"/>
            <a:r>
              <a:rPr lang="en-US" dirty="0">
                <a:solidFill>
                  <a:schemeClr val="bg2">
                    <a:lumMod val="10000"/>
                  </a:schemeClr>
                </a:solidFill>
              </a:rPr>
              <a:t>Employees that fail to communicate properly with words or nonverbally without words will almost always lead to people turnoffs.</a:t>
            </a:r>
          </a:p>
          <a:p>
            <a:pPr algn="just"/>
            <a:r>
              <a:rPr lang="en-US" dirty="0">
                <a:solidFill>
                  <a:schemeClr val="bg2">
                    <a:lumMod val="10000"/>
                  </a:schemeClr>
                </a:solidFill>
              </a:rPr>
              <a:t>Employees at all levels may create people turnoffs unconsciously.  </a:t>
            </a:r>
          </a:p>
          <a:p>
            <a:pPr algn="just"/>
            <a:r>
              <a:rPr lang="en-US" dirty="0">
                <a:solidFill>
                  <a:schemeClr val="bg2">
                    <a:lumMod val="10000"/>
                  </a:schemeClr>
                </a:solidFill>
              </a:rPr>
              <a:t>This usually happens because people fail to understand how they are perceived by others</a:t>
            </a:r>
          </a:p>
          <a:p>
            <a:pPr algn="just"/>
            <a:r>
              <a:rPr lang="en-US" dirty="0">
                <a:solidFill>
                  <a:schemeClr val="bg2">
                    <a:lumMod val="10000"/>
                  </a:schemeClr>
                </a:solidFill>
              </a:rPr>
              <a:t>How can this be remedied? Use </a:t>
            </a:r>
            <a:r>
              <a:rPr lang="en-US" dirty="0" err="1">
                <a:solidFill>
                  <a:schemeClr val="bg2">
                    <a:lumMod val="10000"/>
                  </a:schemeClr>
                </a:solidFill>
              </a:rPr>
              <a:t>behaviours</a:t>
            </a:r>
            <a:r>
              <a:rPr lang="en-US" dirty="0">
                <a:solidFill>
                  <a:schemeClr val="bg2">
                    <a:lumMod val="10000"/>
                  </a:schemeClr>
                </a:solidFill>
              </a:rPr>
              <a:t> that engage customers and be aware of how and what you are communicating to a customer. </a:t>
            </a:r>
          </a:p>
          <a:p>
            <a:pPr algn="just"/>
            <a:r>
              <a:rPr lang="en-US" dirty="0">
                <a:solidFill>
                  <a:schemeClr val="bg2">
                    <a:lumMod val="10000"/>
                  </a:schemeClr>
                </a:solidFill>
              </a:rPr>
              <a:t>The responsibility for reducing people turnoffs lies with the employee.</a:t>
            </a:r>
          </a:p>
          <a:p>
            <a:pPr algn="just"/>
            <a:endParaRPr lang="en-US" dirty="0">
              <a:solidFill>
                <a:schemeClr val="bg2">
                  <a:lumMod val="10000"/>
                </a:schemeClr>
              </a:solidFill>
            </a:endParaRPr>
          </a:p>
        </p:txBody>
      </p:sp>
      <p:pic>
        <p:nvPicPr>
          <p:cNvPr id="5122" name="Picture 2" descr="http://www.cjsni.gov.uk/uploads/images/YouthZone_chars_01.jpg"/>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8782050" y="1197428"/>
            <a:ext cx="2724150" cy="4905376"/>
          </a:xfrm>
          <a:prstGeom prst="rect">
            <a:avLst/>
          </a:prstGeom>
          <a:noFill/>
        </p:spPr>
      </p:pic>
    </p:spTree>
    <p:extLst>
      <p:ext uri="{BB962C8B-B14F-4D97-AF65-F5344CB8AC3E}">
        <p14:creationId xmlns:p14="http://schemas.microsoft.com/office/powerpoint/2010/main" val="3428746808"/>
      </p:ext>
    </p:extLst>
  </p:cSld>
  <p:clrMapOvr>
    <a:masterClrMapping/>
  </p:clrMapOvr>
  <p:transition spd="slow">
    <p:cut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Examples of People Turnoffs</a:t>
            </a:r>
          </a:p>
        </p:txBody>
      </p:sp>
      <p:sp>
        <p:nvSpPr>
          <p:cNvPr id="3" name="Content Placeholder 2"/>
          <p:cNvSpPr>
            <a:spLocks noGrp="1"/>
          </p:cNvSpPr>
          <p:nvPr>
            <p:ph idx="1"/>
          </p:nvPr>
        </p:nvSpPr>
        <p:spPr/>
        <p:txBody>
          <a:bodyPr>
            <a:normAutofit/>
          </a:bodyPr>
          <a:lstStyle/>
          <a:p>
            <a:pPr lvl="0"/>
            <a:r>
              <a:rPr lang="en-US" dirty="0"/>
              <a:t>Employees who fail to greet or even smile at a customer</a:t>
            </a:r>
          </a:p>
          <a:p>
            <a:pPr lvl="0"/>
            <a:r>
              <a:rPr lang="en-US" dirty="0"/>
              <a:t>People who give inaccurate information or convey a lack of knowledge</a:t>
            </a:r>
          </a:p>
          <a:p>
            <a:pPr lvl="0"/>
            <a:r>
              <a:rPr lang="en-US" dirty="0"/>
              <a:t>Employees chatting amongst themselves or allowing telephone interruptions while ignoring a customer</a:t>
            </a:r>
          </a:p>
          <a:p>
            <a:pPr lvl="0"/>
            <a:r>
              <a:rPr lang="en-US" dirty="0" err="1"/>
              <a:t>Behaviours</a:t>
            </a:r>
            <a:r>
              <a:rPr lang="en-US" dirty="0"/>
              <a:t> that project a rude or uncaring attitude</a:t>
            </a:r>
          </a:p>
          <a:p>
            <a:pPr lvl="0"/>
            <a:r>
              <a:rPr lang="en-US" dirty="0"/>
              <a:t>Work locations that appear dirty or sloppy</a:t>
            </a:r>
          </a:p>
          <a:p>
            <a:pPr lvl="0"/>
            <a:r>
              <a:rPr lang="en-US" dirty="0"/>
              <a:t>Employees who are dressed inappropriately or have poor grooming</a:t>
            </a:r>
          </a:p>
          <a:p>
            <a:pPr lvl="0"/>
            <a:r>
              <a:rPr lang="en-US" dirty="0"/>
              <a:t>Any communicated message that causes the customer to feel uncomfortable</a:t>
            </a:r>
          </a:p>
          <a:p>
            <a:endParaRPr lang="en-US" dirty="0"/>
          </a:p>
        </p:txBody>
      </p:sp>
    </p:spTree>
    <p:extLst>
      <p:ext uri="{BB962C8B-B14F-4D97-AF65-F5344CB8AC3E}">
        <p14:creationId xmlns:p14="http://schemas.microsoft.com/office/powerpoint/2010/main" val="3199061903"/>
      </p:ext>
    </p:extLst>
  </p:cSld>
  <p:clrMapOvr>
    <a:masterClrMapping/>
  </p:clrMapOvr>
  <p:transition spd="slow">
    <p:strips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4"/>
          <p:cNvSpPr>
            <a:spLocks noGrp="1"/>
          </p:cNvSpPr>
          <p:nvPr>
            <p:ph type="title"/>
          </p:nvPr>
        </p:nvSpPr>
        <p:spPr/>
        <p:txBody>
          <a:bodyPr>
            <a:normAutofit/>
          </a:bodyPr>
          <a:lstStyle/>
          <a:p>
            <a:pPr eaLnBrk="1" hangingPunct="1"/>
            <a:r>
              <a:rPr lang="en-US" altLang="en-US" sz="3600" dirty="0"/>
              <a:t>SUMMARY OF TURNOFFS</a:t>
            </a:r>
          </a:p>
        </p:txBody>
      </p:sp>
      <p:graphicFrame>
        <p:nvGraphicFramePr>
          <p:cNvPr id="12" name="Content Placeholder 11"/>
          <p:cNvGraphicFramePr>
            <a:graphicFrameLocks noGrp="1"/>
          </p:cNvGraphicFramePr>
          <p:nvPr>
            <p:ph idx="1"/>
            <p:extLst>
              <p:ext uri="{D42A27DB-BD31-4B8C-83A1-F6EECF244321}">
                <p14:modId xmlns:p14="http://schemas.microsoft.com/office/powerpoint/2010/main" val="3789316890"/>
              </p:ext>
            </p:extLst>
          </p:nvPr>
        </p:nvGraphicFramePr>
        <p:xfrm>
          <a:off x="1807027" y="1948542"/>
          <a:ext cx="8098973" cy="43216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4185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customer zones</a:t>
            </a:r>
            <a:endParaRPr lang="en-JM" dirty="0"/>
          </a:p>
        </p:txBody>
      </p:sp>
      <p:sp>
        <p:nvSpPr>
          <p:cNvPr id="3" name="Content Placeholder 2"/>
          <p:cNvSpPr>
            <a:spLocks noGrp="1"/>
          </p:cNvSpPr>
          <p:nvPr>
            <p:ph idx="1"/>
          </p:nvPr>
        </p:nvSpPr>
        <p:spPr>
          <a:xfrm>
            <a:off x="685800" y="2057401"/>
            <a:ext cx="10820400" cy="4669969"/>
          </a:xfrm>
        </p:spPr>
        <p:txBody>
          <a:bodyPr>
            <a:noAutofit/>
          </a:bodyPr>
          <a:lstStyle/>
          <a:p>
            <a:pPr marL="0" indent="0" algn="just">
              <a:lnSpc>
                <a:spcPct val="100000"/>
              </a:lnSpc>
              <a:spcBef>
                <a:spcPts val="600"/>
              </a:spcBef>
              <a:buNone/>
            </a:pPr>
            <a:r>
              <a:rPr lang="en-US" sz="2400" b="1" dirty="0"/>
              <a:t>Zone 1: The Zone of Indifference</a:t>
            </a:r>
            <a:endParaRPr lang="en-US" sz="2400" dirty="0"/>
          </a:p>
          <a:p>
            <a:pPr algn="just">
              <a:lnSpc>
                <a:spcPct val="100000"/>
              </a:lnSpc>
              <a:spcBef>
                <a:spcPts val="600"/>
              </a:spcBef>
            </a:pPr>
            <a:r>
              <a:rPr lang="en-US" sz="2400" dirty="0"/>
              <a:t>This includes all those customer needs and wants that are basic to fulfilling the contract between you and them. </a:t>
            </a:r>
          </a:p>
          <a:p>
            <a:pPr algn="just">
              <a:lnSpc>
                <a:spcPct val="100000"/>
              </a:lnSpc>
              <a:spcBef>
                <a:spcPts val="600"/>
              </a:spcBef>
            </a:pPr>
            <a:r>
              <a:rPr lang="en-US" sz="2400" dirty="0"/>
              <a:t>For example, customers expect to be treated with courtesy and respect, but if you MEET but do not EXCEED these needs then the customer is said to feel INDIFFERENT. </a:t>
            </a:r>
          </a:p>
          <a:p>
            <a:pPr algn="just">
              <a:lnSpc>
                <a:spcPct val="100000"/>
              </a:lnSpc>
              <a:spcBef>
                <a:spcPts val="600"/>
              </a:spcBef>
            </a:pPr>
            <a:r>
              <a:rPr lang="en-US" sz="2400" dirty="0"/>
              <a:t>They are neither SATISIFIED or DISSATISFIED by the service that they received.</a:t>
            </a:r>
          </a:p>
        </p:txBody>
      </p:sp>
    </p:spTree>
    <p:extLst>
      <p:ext uri="{BB962C8B-B14F-4D97-AF65-F5344CB8AC3E}">
        <p14:creationId xmlns:p14="http://schemas.microsoft.com/office/powerpoint/2010/main" val="3131186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customer zones</a:t>
            </a:r>
            <a:endParaRPr lang="en-JM" dirty="0"/>
          </a:p>
        </p:txBody>
      </p:sp>
      <p:sp>
        <p:nvSpPr>
          <p:cNvPr id="3" name="Content Placeholder 2"/>
          <p:cNvSpPr>
            <a:spLocks noGrp="1"/>
          </p:cNvSpPr>
          <p:nvPr>
            <p:ph idx="1"/>
          </p:nvPr>
        </p:nvSpPr>
        <p:spPr>
          <a:xfrm>
            <a:off x="685800" y="2057401"/>
            <a:ext cx="10820400" cy="4669969"/>
          </a:xfrm>
        </p:spPr>
        <p:txBody>
          <a:bodyPr>
            <a:noAutofit/>
          </a:bodyPr>
          <a:lstStyle/>
          <a:p>
            <a:pPr marL="0" indent="0" algn="just">
              <a:lnSpc>
                <a:spcPct val="100000"/>
              </a:lnSpc>
              <a:spcAft>
                <a:spcPts val="600"/>
              </a:spcAft>
              <a:buNone/>
            </a:pPr>
            <a:r>
              <a:rPr lang="en-US" sz="2400" b="1" dirty="0"/>
              <a:t>Zone 2: The Zone of Satisfaction</a:t>
            </a:r>
            <a:endParaRPr lang="en-US" sz="2400" dirty="0"/>
          </a:p>
          <a:p>
            <a:pPr algn="just">
              <a:lnSpc>
                <a:spcPct val="100000"/>
              </a:lnSpc>
              <a:spcAft>
                <a:spcPts val="600"/>
              </a:spcAft>
            </a:pPr>
            <a:r>
              <a:rPr lang="en-US" sz="2400" dirty="0"/>
              <a:t>This is where your customer actually TELLS you what is important to them. Listen carefully here, as this is a key stepping stone to customer loyalty. </a:t>
            </a:r>
          </a:p>
          <a:p>
            <a:pPr algn="just">
              <a:lnSpc>
                <a:spcPct val="100000"/>
              </a:lnSpc>
              <a:spcAft>
                <a:spcPts val="600"/>
              </a:spcAft>
            </a:pPr>
            <a:r>
              <a:rPr lang="en-US" sz="2400" dirty="0"/>
              <a:t>Meeting a customer's needs here will cause SATISFACTION, whereas not meeting them will cause DISSATISFACTION. </a:t>
            </a:r>
          </a:p>
          <a:p>
            <a:pPr algn="just">
              <a:lnSpc>
                <a:spcPct val="100000"/>
              </a:lnSpc>
              <a:spcAft>
                <a:spcPts val="600"/>
              </a:spcAft>
            </a:pPr>
            <a:r>
              <a:rPr lang="en-US" sz="2400" dirty="0"/>
              <a:t>For example, a customer might expect a volume discount on a purchase, but knows that they have to specifically ask (or negotiate) for it. It is an expectation, simply because other organizations that the customer deals with provide this benefit.</a:t>
            </a:r>
            <a:endParaRPr lang="en-JM" sz="2400" dirty="0"/>
          </a:p>
        </p:txBody>
      </p:sp>
    </p:spTree>
    <p:extLst>
      <p:ext uri="{BB962C8B-B14F-4D97-AF65-F5344CB8AC3E}">
        <p14:creationId xmlns:p14="http://schemas.microsoft.com/office/powerpoint/2010/main" val="11035279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customer zones</a:t>
            </a:r>
            <a:endParaRPr lang="en-JM" dirty="0"/>
          </a:p>
        </p:txBody>
      </p:sp>
      <p:sp>
        <p:nvSpPr>
          <p:cNvPr id="3" name="Content Placeholder 2"/>
          <p:cNvSpPr>
            <a:spLocks noGrp="1"/>
          </p:cNvSpPr>
          <p:nvPr>
            <p:ph idx="1"/>
          </p:nvPr>
        </p:nvSpPr>
        <p:spPr>
          <a:xfrm>
            <a:off x="685800" y="1791789"/>
            <a:ext cx="10820400" cy="4870268"/>
          </a:xfrm>
        </p:spPr>
        <p:txBody>
          <a:bodyPr>
            <a:noAutofit/>
          </a:bodyPr>
          <a:lstStyle/>
          <a:p>
            <a:pPr marL="0" indent="0" algn="just">
              <a:buNone/>
            </a:pPr>
            <a:r>
              <a:rPr lang="en-US" sz="2400" b="1" dirty="0"/>
              <a:t>Zone 3: The Zone of Delight</a:t>
            </a:r>
            <a:endParaRPr lang="en-US" sz="2400" dirty="0"/>
          </a:p>
          <a:p>
            <a:pPr algn="just"/>
            <a:r>
              <a:rPr lang="en-US" sz="2400" dirty="0"/>
              <a:t>This is where your customer HOPES for something, ASKS for it, but really does not expect you to provide it. </a:t>
            </a:r>
          </a:p>
          <a:p>
            <a:pPr algn="just"/>
            <a:r>
              <a:rPr lang="en-US" sz="2400" dirty="0"/>
              <a:t>This is your opportunity to provide something beyond their expectations and by so doing will create DELIGHT. </a:t>
            </a:r>
          </a:p>
          <a:p>
            <a:pPr algn="just"/>
            <a:r>
              <a:rPr lang="en-US" sz="2400" dirty="0"/>
              <a:t>For example, a customer might ask for something that is usually available only in a premium priced product. </a:t>
            </a:r>
          </a:p>
          <a:p>
            <a:pPr algn="just"/>
            <a:r>
              <a:rPr lang="en-US" sz="2400" dirty="0"/>
              <a:t>Not providing it will unlikely cause dissatisfaction. Therefore this is an area for particular attention in building a LOYAL customer base.</a:t>
            </a:r>
            <a:endParaRPr lang="en-JM" sz="2400" dirty="0"/>
          </a:p>
        </p:txBody>
      </p:sp>
    </p:spTree>
    <p:extLst>
      <p:ext uri="{BB962C8B-B14F-4D97-AF65-F5344CB8AC3E}">
        <p14:creationId xmlns:p14="http://schemas.microsoft.com/office/powerpoint/2010/main" val="42060528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customer zones</a:t>
            </a:r>
            <a:endParaRPr lang="en-JM" dirty="0"/>
          </a:p>
        </p:txBody>
      </p:sp>
      <p:sp>
        <p:nvSpPr>
          <p:cNvPr id="3" name="Content Placeholder 2"/>
          <p:cNvSpPr>
            <a:spLocks noGrp="1"/>
          </p:cNvSpPr>
          <p:nvPr>
            <p:ph idx="1"/>
          </p:nvPr>
        </p:nvSpPr>
        <p:spPr>
          <a:xfrm>
            <a:off x="685800" y="1791789"/>
            <a:ext cx="10820400" cy="4870268"/>
          </a:xfrm>
        </p:spPr>
        <p:txBody>
          <a:bodyPr>
            <a:noAutofit/>
          </a:bodyPr>
          <a:lstStyle/>
          <a:p>
            <a:pPr marL="0" indent="0" algn="just">
              <a:lnSpc>
                <a:spcPct val="100000"/>
              </a:lnSpc>
              <a:spcAft>
                <a:spcPts val="600"/>
              </a:spcAft>
              <a:buNone/>
              <a:tabLst>
                <a:tab pos="4919663" algn="l"/>
              </a:tabLst>
            </a:pPr>
            <a:r>
              <a:rPr lang="en-US" sz="2400" b="1" dirty="0"/>
              <a:t>Zone 4: The Zone of Loyalty</a:t>
            </a:r>
            <a:endParaRPr lang="en-US" sz="2400" dirty="0"/>
          </a:p>
          <a:p>
            <a:pPr algn="just">
              <a:lnSpc>
                <a:spcPct val="100000"/>
              </a:lnSpc>
              <a:spcAft>
                <a:spcPts val="600"/>
              </a:spcAft>
              <a:tabLst>
                <a:tab pos="4919663" algn="l"/>
              </a:tabLst>
            </a:pPr>
            <a:r>
              <a:rPr lang="en-US" sz="2400" dirty="0"/>
              <a:t>This is an area where your expertise in whatever product or service you provide and the customer's lack of expertise can really pay off!</a:t>
            </a:r>
          </a:p>
          <a:p>
            <a:pPr algn="just">
              <a:lnSpc>
                <a:spcPct val="100000"/>
              </a:lnSpc>
              <a:spcAft>
                <a:spcPts val="600"/>
              </a:spcAft>
              <a:tabLst>
                <a:tab pos="4919663" algn="l"/>
              </a:tabLst>
            </a:pPr>
            <a:r>
              <a:rPr lang="en-US" sz="2400" dirty="0"/>
              <a:t>Providing benefits above and beyond what the customer is even aware of can create a LOYAL customer. This requires you to be really proactive in suggesting to customers new innovations that they can really benefit from. Many customers will be even willing to pay extra for this. </a:t>
            </a:r>
          </a:p>
          <a:p>
            <a:pPr algn="just">
              <a:lnSpc>
                <a:spcPct val="100000"/>
              </a:lnSpc>
              <a:spcAft>
                <a:spcPts val="600"/>
              </a:spcAft>
              <a:tabLst>
                <a:tab pos="4919663" algn="l"/>
              </a:tabLst>
            </a:pPr>
            <a:r>
              <a:rPr lang="en-US" sz="2400" dirty="0"/>
              <a:t>For example, airbags in automobiles when first introduced were an innovation that saved lives, but customers had no way of asking for this innovation, or expecting it, before it became known to them.</a:t>
            </a:r>
            <a:endParaRPr lang="en-JM" sz="2400" dirty="0"/>
          </a:p>
        </p:txBody>
      </p:sp>
    </p:spTree>
    <p:extLst>
      <p:ext uri="{BB962C8B-B14F-4D97-AF65-F5344CB8AC3E}">
        <p14:creationId xmlns:p14="http://schemas.microsoft.com/office/powerpoint/2010/main" val="38410127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Box 3"/>
          <p:cNvSpPr txBox="1">
            <a:spLocks noChangeArrowheads="1"/>
          </p:cNvSpPr>
          <p:nvPr/>
        </p:nvSpPr>
        <p:spPr bwMode="auto">
          <a:xfrm>
            <a:off x="3537857" y="2674617"/>
            <a:ext cx="53448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eaLnBrk="1" hangingPunct="1"/>
            <a:r>
              <a:rPr lang="en-US" altLang="en-US" dirty="0"/>
              <a:t>Dissatisfied </a:t>
            </a:r>
            <a:r>
              <a:rPr lang="en-US" altLang="en-US" dirty="0">
                <a:sym typeface="Wingdings" panose="05000000000000000000" pitchFamily="2" charset="2"/>
              </a:rPr>
              <a:t></a:t>
            </a:r>
            <a:r>
              <a:rPr lang="en-US" altLang="en-US" dirty="0"/>
              <a:t> Satisfied </a:t>
            </a:r>
            <a:r>
              <a:rPr lang="en-US" altLang="en-US" dirty="0">
                <a:sym typeface="Wingdings" panose="05000000000000000000" pitchFamily="2" charset="2"/>
              </a:rPr>
              <a:t></a:t>
            </a:r>
            <a:r>
              <a:rPr lang="en-US" altLang="en-US" dirty="0"/>
              <a:t> Motivated </a:t>
            </a:r>
          </a:p>
        </p:txBody>
      </p:sp>
      <p:sp>
        <p:nvSpPr>
          <p:cNvPr id="14340" name="TextBox 4"/>
          <p:cNvSpPr txBox="1">
            <a:spLocks noChangeArrowheads="1"/>
          </p:cNvSpPr>
          <p:nvPr/>
        </p:nvSpPr>
        <p:spPr bwMode="auto">
          <a:xfrm>
            <a:off x="5257800" y="4147459"/>
            <a:ext cx="1905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eaLnBrk="1" hangingPunct="1"/>
            <a:r>
              <a:rPr lang="en-US" altLang="en-US"/>
              <a:t>Zone of Indifference</a:t>
            </a:r>
          </a:p>
        </p:txBody>
      </p:sp>
      <p:sp>
        <p:nvSpPr>
          <p:cNvPr id="14341" name="Left Arrow 5"/>
          <p:cNvSpPr>
            <a:spLocks noChangeArrowheads="1"/>
          </p:cNvSpPr>
          <p:nvPr/>
        </p:nvSpPr>
        <p:spPr bwMode="auto">
          <a:xfrm>
            <a:off x="2971800" y="4147458"/>
            <a:ext cx="2057400" cy="914400"/>
          </a:xfrm>
          <a:prstGeom prst="leftArrow">
            <a:avLst>
              <a:gd name="adj1" fmla="val 50000"/>
              <a:gd name="adj2" fmla="val 50000"/>
            </a:avLst>
          </a:prstGeom>
          <a:solidFill>
            <a:schemeClr val="accent1">
              <a:lumMod val="20000"/>
              <a:lumOff val="80000"/>
            </a:schemeClr>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eaLnBrk="1" hangingPunct="1"/>
            <a:endParaRPr lang="en-US" altLang="en-US"/>
          </a:p>
        </p:txBody>
      </p:sp>
      <p:sp>
        <p:nvSpPr>
          <p:cNvPr id="14342" name="Left Arrow 7"/>
          <p:cNvSpPr>
            <a:spLocks noChangeArrowheads="1"/>
          </p:cNvSpPr>
          <p:nvPr/>
        </p:nvSpPr>
        <p:spPr bwMode="auto">
          <a:xfrm rot="10800000">
            <a:off x="7315200" y="4147458"/>
            <a:ext cx="2057400" cy="914400"/>
          </a:xfrm>
          <a:prstGeom prst="leftArrow">
            <a:avLst>
              <a:gd name="adj1" fmla="val 50000"/>
              <a:gd name="adj2" fmla="val 50000"/>
            </a:avLst>
          </a:prstGeom>
          <a:solidFill>
            <a:schemeClr val="accent2">
              <a:lumMod val="60000"/>
              <a:lumOff val="40000"/>
            </a:schemeClr>
          </a:solidFill>
          <a:ln w="9525" algn="ctr">
            <a:solidFill>
              <a:schemeClr val="tx1"/>
            </a:solidFill>
            <a:miter lim="800000"/>
            <a:headEnd/>
            <a:tailEnd/>
          </a:ln>
        </p:spPr>
        <p:txBody>
          <a:bodyPr wrap="none"/>
          <a:lstStyle>
            <a:lvl1pPr eaLnBrk="0" hangingPunct="0">
              <a:defRPr sz="2400">
                <a:solidFill>
                  <a:schemeClr val="tx1"/>
                </a:solidFill>
                <a:latin typeface="Tahoma" panose="020B0604030504040204" pitchFamily="34" charset="0"/>
                <a:ea typeface="ＭＳ Ｐゴシック" panose="020B0600070205080204" pitchFamily="34" charset="-128"/>
              </a:defRPr>
            </a:lvl1pPr>
            <a:lvl2pPr marL="742950" indent="-285750" eaLnBrk="0" hangingPunct="0">
              <a:defRPr sz="2400">
                <a:solidFill>
                  <a:schemeClr val="tx1"/>
                </a:solidFill>
                <a:latin typeface="Tahoma" panose="020B0604030504040204" pitchFamily="34" charset="0"/>
                <a:ea typeface="ＭＳ Ｐゴシック" panose="020B0600070205080204" pitchFamily="34" charset="-128"/>
              </a:defRPr>
            </a:lvl2pPr>
            <a:lvl3pPr marL="1143000" indent="-228600" eaLnBrk="0" hangingPunct="0">
              <a:defRPr sz="2400">
                <a:solidFill>
                  <a:schemeClr val="tx1"/>
                </a:solidFill>
                <a:latin typeface="Tahoma" panose="020B0604030504040204" pitchFamily="34" charset="0"/>
                <a:ea typeface="ＭＳ Ｐゴシック" panose="020B0600070205080204" pitchFamily="34" charset="-128"/>
              </a:defRPr>
            </a:lvl3pPr>
            <a:lvl4pPr marL="1600200" indent="-228600" eaLnBrk="0" hangingPunct="0">
              <a:defRPr sz="2400">
                <a:solidFill>
                  <a:schemeClr val="tx1"/>
                </a:solidFill>
                <a:latin typeface="Tahoma" panose="020B0604030504040204" pitchFamily="34" charset="0"/>
                <a:ea typeface="ＭＳ Ｐゴシック" panose="020B0600070205080204" pitchFamily="34" charset="-128"/>
              </a:defRPr>
            </a:lvl4pPr>
            <a:lvl5pPr marL="2057400" indent="-228600" eaLnBrk="0" hangingPunct="0">
              <a:defRPr sz="2400">
                <a:solidFill>
                  <a:schemeClr val="tx1"/>
                </a:solidFill>
                <a:latin typeface="Tahom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ahoma" panose="020B0604030504040204" pitchFamily="34" charset="0"/>
                <a:ea typeface="ＭＳ Ｐゴシック" panose="020B0600070205080204" pitchFamily="34" charset="-128"/>
              </a:defRPr>
            </a:lvl9pPr>
          </a:lstStyle>
          <a:p>
            <a:pPr eaLnBrk="1" hangingPunct="1"/>
            <a:endParaRPr lang="en-US" altLang="en-US"/>
          </a:p>
        </p:txBody>
      </p:sp>
      <p:sp>
        <p:nvSpPr>
          <p:cNvPr id="2" name="Title 1"/>
          <p:cNvSpPr>
            <a:spLocks noGrp="1"/>
          </p:cNvSpPr>
          <p:nvPr>
            <p:ph type="title"/>
          </p:nvPr>
        </p:nvSpPr>
        <p:spPr>
          <a:xfrm>
            <a:off x="3009900" y="832079"/>
            <a:ext cx="8610600" cy="1293028"/>
          </a:xfrm>
        </p:spPr>
        <p:txBody>
          <a:bodyPr/>
          <a:lstStyle/>
          <a:p>
            <a:r>
              <a:rPr lang="en-US" dirty="0"/>
              <a:t>The zone of indifference</a:t>
            </a:r>
            <a:endParaRPr lang="en-JM" dirty="0"/>
          </a:p>
        </p:txBody>
      </p:sp>
    </p:spTree>
    <p:extLst>
      <p:ext uri="{BB962C8B-B14F-4D97-AF65-F5344CB8AC3E}">
        <p14:creationId xmlns:p14="http://schemas.microsoft.com/office/powerpoint/2010/main" val="17953156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p:txBody>
          <a:bodyPr/>
          <a:lstStyle/>
          <a:p>
            <a:pPr eaLnBrk="1" hangingPunct="1"/>
            <a:r>
              <a:rPr lang="en-US" altLang="en-US" dirty="0"/>
              <a:t>Showing customers that you truly care is fundamental to building loyalty.</a:t>
            </a:r>
          </a:p>
        </p:txBody>
      </p:sp>
      <p:graphicFrame>
        <p:nvGraphicFramePr>
          <p:cNvPr id="4" name="Diagram 3"/>
          <p:cNvGraphicFramePr/>
          <p:nvPr>
            <p:extLst>
              <p:ext uri="{D42A27DB-BD31-4B8C-83A1-F6EECF244321}">
                <p14:modId xmlns:p14="http://schemas.microsoft.com/office/powerpoint/2010/main" val="1078933712"/>
              </p:ext>
            </p:extLst>
          </p:nvPr>
        </p:nvGraphicFramePr>
        <p:xfrm>
          <a:off x="2971800" y="1905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lstStyle/>
          <a:p>
            <a:r>
              <a:rPr lang="en-US" altLang="en-US" dirty="0">
                <a:solidFill>
                  <a:schemeClr val="bg2">
                    <a:lumMod val="10000"/>
                  </a:schemeClr>
                </a:solidFill>
              </a:rPr>
              <a:t>Value Service Recovery</a:t>
            </a:r>
            <a:endParaRPr lang="en-JM" dirty="0">
              <a:solidFill>
                <a:schemeClr val="bg2">
                  <a:lumMod val="10000"/>
                </a:schemeClr>
              </a:solidFill>
            </a:endParaRPr>
          </a:p>
        </p:txBody>
      </p:sp>
    </p:spTree>
    <p:extLst>
      <p:ext uri="{BB962C8B-B14F-4D97-AF65-F5344CB8AC3E}">
        <p14:creationId xmlns:p14="http://schemas.microsoft.com/office/powerpoint/2010/main" val="33489086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REASONS WHY CUSTOMERS COMPLAIN</a:t>
            </a:r>
            <a:endParaRPr lang="en-JM" dirty="0"/>
          </a:p>
        </p:txBody>
      </p:sp>
      <p:sp>
        <p:nvSpPr>
          <p:cNvPr id="3" name="Content Placeholder 2"/>
          <p:cNvSpPr>
            <a:spLocks noGrp="1"/>
          </p:cNvSpPr>
          <p:nvPr>
            <p:ph idx="1"/>
          </p:nvPr>
        </p:nvSpPr>
        <p:spPr/>
        <p:txBody>
          <a:bodyPr/>
          <a:lstStyle/>
          <a:p>
            <a:pPr marL="0" lvl="0" indent="0">
              <a:buNone/>
            </a:pPr>
            <a:r>
              <a:rPr lang="en-JM" dirty="0"/>
              <a:t>Reasons why customers complain:</a:t>
            </a:r>
          </a:p>
          <a:p>
            <a:pPr marL="0" lvl="0" indent="0">
              <a:buNone/>
            </a:pPr>
            <a:endParaRPr lang="en-JM" dirty="0"/>
          </a:p>
          <a:p>
            <a:pPr lvl="0"/>
            <a:r>
              <a:rPr lang="en-JM" dirty="0"/>
              <a:t>Emotional release from frustration</a:t>
            </a:r>
          </a:p>
          <a:p>
            <a:pPr lvl="0"/>
            <a:r>
              <a:rPr lang="en-JM" dirty="0"/>
              <a:t>Show awareness of discrepancies between expectation and service</a:t>
            </a:r>
          </a:p>
          <a:p>
            <a:pPr lvl="0"/>
            <a:r>
              <a:rPr lang="en-JM" dirty="0"/>
              <a:t>To give organisations a chance to correct deficiencies</a:t>
            </a:r>
          </a:p>
          <a:p>
            <a:pPr lvl="0"/>
            <a:r>
              <a:rPr lang="en-JM" dirty="0"/>
              <a:t>To create an impression of being intelligent and discerning</a:t>
            </a:r>
          </a:p>
          <a:p>
            <a:pPr lvl="0"/>
            <a:r>
              <a:rPr lang="en-JM" dirty="0"/>
              <a:t>To see if others (employees/customers) agree with their judgment </a:t>
            </a:r>
          </a:p>
          <a:p>
            <a:pPr lvl="0"/>
            <a:r>
              <a:rPr lang="en-JM" dirty="0"/>
              <a:t>To solicit sympathy from the service provider</a:t>
            </a:r>
          </a:p>
          <a:p>
            <a:pPr lvl="0"/>
            <a:r>
              <a:rPr lang="en-JM" dirty="0"/>
              <a:t>To feel in control by spreading negative publicity</a:t>
            </a:r>
          </a:p>
          <a:p>
            <a:endParaRPr lang="en-JM" dirty="0"/>
          </a:p>
        </p:txBody>
      </p:sp>
    </p:spTree>
    <p:extLst>
      <p:ext uri="{BB962C8B-B14F-4D97-AF65-F5344CB8AC3E}">
        <p14:creationId xmlns:p14="http://schemas.microsoft.com/office/powerpoint/2010/main" val="1278632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RECOVERY STRATEGIES</a:t>
            </a:r>
            <a:endParaRPr lang="en-JM" dirty="0"/>
          </a:p>
        </p:txBody>
      </p:sp>
      <p:sp>
        <p:nvSpPr>
          <p:cNvPr id="3" name="Content Placeholder 2"/>
          <p:cNvSpPr>
            <a:spLocks noGrp="1"/>
          </p:cNvSpPr>
          <p:nvPr>
            <p:ph idx="1"/>
          </p:nvPr>
        </p:nvSpPr>
        <p:spPr>
          <a:xfrm>
            <a:off x="685800" y="2194560"/>
            <a:ext cx="10820400" cy="4456611"/>
          </a:xfrm>
        </p:spPr>
        <p:txBody>
          <a:bodyPr>
            <a:normAutofit/>
          </a:bodyPr>
          <a:lstStyle/>
          <a:p>
            <a:pPr marL="0" indent="0" algn="just">
              <a:lnSpc>
                <a:spcPct val="120000"/>
              </a:lnSpc>
              <a:buNone/>
            </a:pPr>
            <a:r>
              <a:rPr lang="en-US" b="1" dirty="0"/>
              <a:t>Service recovery </a:t>
            </a:r>
            <a:r>
              <a:rPr lang="en-US" dirty="0"/>
              <a:t>refers to the actions taken by a service organization in response to a service failure. </a:t>
            </a:r>
            <a:r>
              <a:rPr lang="en-US" b="1" dirty="0"/>
              <a:t>Service failure </a:t>
            </a:r>
            <a:r>
              <a:rPr lang="en-US" dirty="0"/>
              <a:t>is service performance that fails to meet the customer’s expectations. </a:t>
            </a:r>
            <a:r>
              <a:rPr lang="en-JM" dirty="0"/>
              <a:t>Some ways to execute service recovery are:</a:t>
            </a:r>
          </a:p>
          <a:p>
            <a:pPr marL="0" lvl="0" indent="0">
              <a:buNone/>
            </a:pPr>
            <a:endParaRPr lang="en-JM" dirty="0"/>
          </a:p>
          <a:p>
            <a:pPr lvl="0"/>
            <a:r>
              <a:rPr lang="en-JM" dirty="0"/>
              <a:t>Acknowledge the problem</a:t>
            </a:r>
          </a:p>
          <a:p>
            <a:pPr lvl="0"/>
            <a:r>
              <a:rPr lang="en-JM" dirty="0"/>
              <a:t>Take responsibility for the problem</a:t>
            </a:r>
          </a:p>
          <a:p>
            <a:pPr lvl="0"/>
            <a:r>
              <a:rPr lang="en-JM" dirty="0"/>
              <a:t>Explain the cause of the problem</a:t>
            </a:r>
          </a:p>
          <a:p>
            <a:pPr lvl="0"/>
            <a:r>
              <a:rPr lang="en-JM" dirty="0"/>
              <a:t>Correct the problem</a:t>
            </a:r>
          </a:p>
          <a:p>
            <a:pPr lvl="0"/>
            <a:r>
              <a:rPr lang="en-JM" dirty="0"/>
              <a:t>Apologise for the inconvenience</a:t>
            </a:r>
          </a:p>
          <a:p>
            <a:endParaRPr lang="en-JM" dirty="0"/>
          </a:p>
        </p:txBody>
      </p:sp>
      <p:sp>
        <p:nvSpPr>
          <p:cNvPr id="4" name="Content Placeholder 2"/>
          <p:cNvSpPr txBox="1">
            <a:spLocks/>
          </p:cNvSpPr>
          <p:nvPr/>
        </p:nvSpPr>
        <p:spPr>
          <a:xfrm>
            <a:off x="6204856" y="2194560"/>
            <a:ext cx="5203371" cy="44566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a:lstStyle>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a:p>
            <a:pPr marL="0" indent="0">
              <a:buFont typeface="Arial" panose="020B0604020202020204" pitchFamily="34" charset="0"/>
              <a:buNone/>
            </a:pPr>
            <a:endParaRPr lang="en-JM" dirty="0"/>
          </a:p>
          <a:p>
            <a:r>
              <a:rPr lang="en-JM" dirty="0"/>
              <a:t>Explain company rules or policies</a:t>
            </a:r>
          </a:p>
          <a:p>
            <a:r>
              <a:rPr lang="en-JM" dirty="0"/>
              <a:t>Compensate/refund the customer</a:t>
            </a:r>
          </a:p>
          <a:p>
            <a:r>
              <a:rPr lang="en-JM" dirty="0"/>
              <a:t>Present options/alternatives</a:t>
            </a:r>
          </a:p>
          <a:p>
            <a:r>
              <a:rPr lang="en-JM" dirty="0"/>
              <a:t>Management intervention</a:t>
            </a:r>
          </a:p>
          <a:p>
            <a:endParaRPr lang="en-JM" dirty="0"/>
          </a:p>
        </p:txBody>
      </p:sp>
    </p:spTree>
    <p:extLst>
      <p:ext uri="{BB962C8B-B14F-4D97-AF65-F5344CB8AC3E}">
        <p14:creationId xmlns:p14="http://schemas.microsoft.com/office/powerpoint/2010/main" val="30482876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LOYALTY</a:t>
            </a:r>
            <a:endParaRPr lang="en-JM" dirty="0"/>
          </a:p>
        </p:txBody>
      </p:sp>
      <p:sp>
        <p:nvSpPr>
          <p:cNvPr id="3" name="Content Placeholder 2"/>
          <p:cNvSpPr>
            <a:spLocks noGrp="1"/>
          </p:cNvSpPr>
          <p:nvPr>
            <p:ph idx="1"/>
          </p:nvPr>
        </p:nvSpPr>
        <p:spPr>
          <a:xfrm>
            <a:off x="685800" y="2194560"/>
            <a:ext cx="10820400" cy="4336869"/>
          </a:xfrm>
        </p:spPr>
        <p:txBody>
          <a:bodyPr>
            <a:normAutofit lnSpcReduction="10000"/>
          </a:bodyPr>
          <a:lstStyle/>
          <a:p>
            <a:pPr marL="0" indent="0" algn="just">
              <a:buNone/>
            </a:pPr>
            <a:r>
              <a:rPr lang="en-US" dirty="0"/>
              <a:t>What is customer loyalty?</a:t>
            </a:r>
          </a:p>
          <a:p>
            <a:pPr algn="just"/>
            <a:r>
              <a:rPr lang="en-US" dirty="0"/>
              <a:t>Likelihood of previous customers to continue to buy from a specific organization.</a:t>
            </a:r>
          </a:p>
          <a:p>
            <a:pPr algn="just"/>
            <a:r>
              <a:rPr lang="en-US" dirty="0"/>
              <a:t>When a person transacts with a brand (or purchases a specific product) on an ongoing basis.</a:t>
            </a:r>
          </a:p>
          <a:p>
            <a:pPr algn="just"/>
            <a:r>
              <a:rPr lang="en-US" dirty="0"/>
              <a:t>It is both an attitudinal and behavioral tendency to favor one brand over all others, whether due to satisfaction with the product or service, its convenience or performance, or simply familiarity and comfort with the brand.</a:t>
            </a:r>
          </a:p>
          <a:p>
            <a:pPr algn="just"/>
            <a:r>
              <a:rPr lang="en-US" dirty="0"/>
              <a:t>Loyalty can be defined as a customer continuing to believe that your organization’s product/service offer is their best option. It best fulfills their value proposition whatever that may be. They take that offer whenever faced with that purchasing decision.</a:t>
            </a:r>
            <a:endParaRPr lang="en-JM" dirty="0"/>
          </a:p>
        </p:txBody>
      </p:sp>
    </p:spTree>
    <p:extLst>
      <p:ext uri="{BB962C8B-B14F-4D97-AF65-F5344CB8AC3E}">
        <p14:creationId xmlns:p14="http://schemas.microsoft.com/office/powerpoint/2010/main" val="4350896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26429" y="762000"/>
            <a:ext cx="6814457" cy="903514"/>
          </a:xfrm>
        </p:spPr>
        <p:txBody>
          <a:bodyPr/>
          <a:lstStyle/>
          <a:p>
            <a:r>
              <a:rPr lang="en-US" sz="3600" dirty="0"/>
              <a:t>Creating Loyal Customers</a:t>
            </a:r>
          </a:p>
        </p:txBody>
      </p:sp>
      <p:sp>
        <p:nvSpPr>
          <p:cNvPr id="4" name="Text Placeholder 3"/>
          <p:cNvSpPr>
            <a:spLocks noGrp="1"/>
          </p:cNvSpPr>
          <p:nvPr>
            <p:ph type="body" idx="2"/>
          </p:nvPr>
        </p:nvSpPr>
        <p:spPr>
          <a:xfrm>
            <a:off x="685799" y="1948543"/>
            <a:ext cx="7663544" cy="4572000"/>
          </a:xfrm>
        </p:spPr>
        <p:txBody>
          <a:bodyPr>
            <a:normAutofit/>
          </a:bodyPr>
          <a:lstStyle/>
          <a:p>
            <a:pPr marL="342900" indent="-342900" algn="just">
              <a:buFont typeface="Arial" panose="020B0604020202020204" pitchFamily="34" charset="0"/>
              <a:buChar char="•"/>
            </a:pPr>
            <a:r>
              <a:rPr lang="en-US" sz="2200" dirty="0">
                <a:solidFill>
                  <a:schemeClr val="bg2">
                    <a:lumMod val="10000"/>
                  </a:schemeClr>
                </a:solidFill>
              </a:rPr>
              <a:t>A satisfied customer may not necessarily be a loyal, motivated or repeat customer.  </a:t>
            </a:r>
          </a:p>
          <a:p>
            <a:pPr marL="342900" indent="-342900" algn="just">
              <a:buFont typeface="Arial" panose="020B0604020202020204" pitchFamily="34" charset="0"/>
              <a:buChar char="•"/>
            </a:pPr>
            <a:r>
              <a:rPr lang="en-US" sz="2200" dirty="0">
                <a:solidFill>
                  <a:schemeClr val="bg2">
                    <a:lumMod val="10000"/>
                  </a:schemeClr>
                </a:solidFill>
              </a:rPr>
              <a:t>A bad service experience may push the customer over the edge and lean them towards becoming a Dissatisfied Customer.</a:t>
            </a:r>
          </a:p>
          <a:p>
            <a:pPr marL="342900" indent="-342900" algn="just">
              <a:buFont typeface="Arial" panose="020B0604020202020204" pitchFamily="34" charset="0"/>
              <a:buChar char="•"/>
            </a:pPr>
            <a:r>
              <a:rPr lang="en-US" sz="2200" dirty="0">
                <a:solidFill>
                  <a:schemeClr val="bg2">
                    <a:lumMod val="10000"/>
                  </a:schemeClr>
                </a:solidFill>
              </a:rPr>
              <a:t>Service only becomes meaningful when it becomes and internal dynamic within an organization.</a:t>
            </a:r>
          </a:p>
          <a:p>
            <a:pPr marL="342900" indent="-342900" algn="just">
              <a:buFont typeface="Arial" panose="020B0604020202020204" pitchFamily="34" charset="0"/>
              <a:buChar char="•"/>
            </a:pPr>
            <a:r>
              <a:rPr lang="en-US" sz="2200" dirty="0">
                <a:solidFill>
                  <a:schemeClr val="bg2">
                    <a:lumMod val="10000"/>
                  </a:schemeClr>
                </a:solidFill>
              </a:rPr>
              <a:t>Customers’ quickly see the depth of a company’s commitment to service.</a:t>
            </a:r>
          </a:p>
          <a:p>
            <a:pPr marL="342900" indent="-342900" algn="just">
              <a:buFont typeface="Arial" panose="020B0604020202020204" pitchFamily="34" charset="0"/>
              <a:buChar char="•"/>
            </a:pPr>
            <a:r>
              <a:rPr lang="en-US" sz="2200" dirty="0">
                <a:solidFill>
                  <a:schemeClr val="bg2">
                    <a:lumMod val="10000"/>
                  </a:schemeClr>
                </a:solidFill>
              </a:rPr>
              <a:t>It is only when organizations realize that service is the foundation of any business that they will begin to serve customers effectively.</a:t>
            </a:r>
            <a:endParaRPr lang="en-US" sz="2200" b="1" dirty="0">
              <a:solidFill>
                <a:schemeClr val="bg2">
                  <a:lumMod val="10000"/>
                </a:schemeClr>
              </a:solidFill>
            </a:endParaRPr>
          </a:p>
          <a:p>
            <a:pPr marL="342900" indent="-342900" algn="just">
              <a:buFont typeface="Arial" panose="020B0604020202020204" pitchFamily="34" charset="0"/>
              <a:buChar char="•"/>
            </a:pPr>
            <a:endParaRPr lang="en-US" sz="2200" dirty="0">
              <a:solidFill>
                <a:schemeClr val="bg2">
                  <a:lumMod val="10000"/>
                </a:schemeClr>
              </a:solidFill>
            </a:endParaRPr>
          </a:p>
          <a:p>
            <a:pPr marL="285750" indent="-285750" algn="just">
              <a:buFont typeface="Arial" panose="020B0604020202020204" pitchFamily="34" charset="0"/>
              <a:buChar char="•"/>
            </a:pPr>
            <a:endParaRPr lang="en-US" sz="2200" dirty="0">
              <a:solidFill>
                <a:schemeClr val="bg2">
                  <a:lumMod val="10000"/>
                </a:schemeClr>
              </a:solidFill>
            </a:endParaRPr>
          </a:p>
        </p:txBody>
      </p:sp>
      <p:pic>
        <p:nvPicPr>
          <p:cNvPr id="3074" name="Picture 2" descr="http://nancycartwright.com/wp/wp-content/uploads/2009/06/cartoon13.jpg"/>
          <p:cNvPicPr>
            <a:picLocks noChangeAspect="1" noChangeArrowheads="1"/>
          </p:cNvPicPr>
          <p:nvPr/>
        </p:nvPicPr>
        <p:blipFill>
          <a:blip r:embed="rId2" cstate="print"/>
          <a:srcRect/>
          <a:stretch>
            <a:fillRect/>
          </a:stretch>
        </p:blipFill>
        <p:spPr bwMode="auto">
          <a:xfrm rot="512701">
            <a:off x="8734446" y="3729707"/>
            <a:ext cx="3045644" cy="2177636"/>
          </a:xfrm>
          <a:prstGeom prst="roundRect">
            <a:avLst>
              <a:gd name="adj" fmla="val 11111"/>
            </a:avLst>
          </a:prstGeom>
          <a:ln w="190500" cap="rnd">
            <a:solidFill>
              <a:srgbClr val="C8C6BD"/>
            </a:solidFill>
            <a:prstDash val="solid"/>
          </a:ln>
          <a:effectLst>
            <a:outerShdw blurRad="101600" dist="50800" dir="7200000" algn="tl" rotWithShape="0">
              <a:srgbClr val="000000">
                <a:alpha val="45000"/>
              </a:srgbClr>
            </a:outerShdw>
          </a:effectLst>
          <a:scene3d>
            <a:camera prst="perspectiveFront" fov="5400000"/>
            <a:lightRig rig="threePt" dir="t">
              <a:rot lat="0" lon="0" rev="19200000"/>
            </a:lightRig>
          </a:scene3d>
          <a:sp3d extrusionH="25400">
            <a:bevelT w="304800" h="152400" prst="hardEdge"/>
            <a:extrusionClr>
              <a:srgbClr val="FFFFFF"/>
            </a:extrusionClr>
          </a:sp3d>
        </p:spPr>
      </p:pic>
    </p:spTree>
    <p:extLst>
      <p:ext uri="{BB962C8B-B14F-4D97-AF65-F5344CB8AC3E}">
        <p14:creationId xmlns:p14="http://schemas.microsoft.com/office/powerpoint/2010/main" val="614529283"/>
      </p:ext>
    </p:extLst>
  </p:cSld>
  <p:clrMapOvr>
    <a:masterClrMapping/>
  </p:clrMapOvr>
  <p:transition spd="slow">
    <p:wheel spokes="2"/>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How to Create Loyal Customers</a:t>
            </a:r>
          </a:p>
        </p:txBody>
      </p:sp>
      <p:sp>
        <p:nvSpPr>
          <p:cNvPr id="3" name="Content Placeholder 2"/>
          <p:cNvSpPr>
            <a:spLocks noGrp="1"/>
          </p:cNvSpPr>
          <p:nvPr>
            <p:ph idx="1"/>
          </p:nvPr>
        </p:nvSpPr>
        <p:spPr>
          <a:xfrm>
            <a:off x="751113" y="2057401"/>
            <a:ext cx="10417629" cy="4504989"/>
          </a:xfrm>
        </p:spPr>
        <p:txBody>
          <a:bodyPr>
            <a:noAutofit/>
          </a:bodyPr>
          <a:lstStyle/>
          <a:p>
            <a:pPr marL="582930" indent="-514350">
              <a:buFont typeface="+mj-lt"/>
              <a:buAutoNum type="arabicPeriod"/>
            </a:pPr>
            <a:r>
              <a:rPr lang="en-US" dirty="0">
                <a:solidFill>
                  <a:schemeClr val="bg2">
                    <a:lumMod val="10000"/>
                  </a:schemeClr>
                </a:solidFill>
              </a:rPr>
              <a:t>Reduce or eliminate value, systems and people turnoffs</a:t>
            </a:r>
          </a:p>
          <a:p>
            <a:pPr marL="582930" indent="-514350">
              <a:buFont typeface="+mj-lt"/>
              <a:buAutoNum type="arabicPeriod"/>
            </a:pPr>
            <a:r>
              <a:rPr lang="en-US" dirty="0">
                <a:solidFill>
                  <a:schemeClr val="bg2">
                    <a:lumMod val="10000"/>
                  </a:schemeClr>
                </a:solidFill>
              </a:rPr>
              <a:t>Exceed customer expectations to create, positive awareness</a:t>
            </a:r>
          </a:p>
          <a:p>
            <a:pPr marL="582930" indent="-514350">
              <a:buFont typeface="+mj-lt"/>
              <a:buAutoNum type="arabicPeriod"/>
            </a:pPr>
            <a:r>
              <a:rPr lang="en-US" dirty="0">
                <a:solidFill>
                  <a:schemeClr val="bg2">
                    <a:lumMod val="10000"/>
                  </a:schemeClr>
                </a:solidFill>
              </a:rPr>
              <a:t>Loyalty comes from customers awareness that “Service Is Your Business”</a:t>
            </a:r>
          </a:p>
          <a:p>
            <a:pPr marL="514350" indent="-514350">
              <a:buFont typeface="+mj-lt"/>
              <a:buAutoNum type="arabicPeriod"/>
            </a:pPr>
            <a:r>
              <a:rPr lang="en-US" altLang="en-US" dirty="0"/>
              <a:t>Look for turnoffs and determine who in the organization  can best deal with each.</a:t>
            </a:r>
          </a:p>
          <a:p>
            <a:pPr marL="514350" indent="-514350">
              <a:buFont typeface="+mj-lt"/>
              <a:buAutoNum type="arabicPeriod"/>
            </a:pPr>
            <a:r>
              <a:rPr lang="en-US" altLang="en-US" dirty="0"/>
              <a:t>Employees at all levels should be aware of possible turnoffs.</a:t>
            </a:r>
          </a:p>
          <a:p>
            <a:pPr marL="514350" indent="-514350">
              <a:buFont typeface="+mj-lt"/>
              <a:buAutoNum type="arabicPeriod"/>
            </a:pPr>
            <a:r>
              <a:rPr lang="en-US" altLang="en-US" dirty="0"/>
              <a:t>Analysis of potential turnoffs must be an ongoing process.</a:t>
            </a:r>
          </a:p>
          <a:p>
            <a:pPr marL="0" indent="0">
              <a:buNone/>
            </a:pPr>
            <a:endParaRPr lang="en-US" altLang="en-US" dirty="0"/>
          </a:p>
          <a:p>
            <a:pPr marL="0" indent="0">
              <a:buNone/>
            </a:pPr>
            <a:r>
              <a:rPr lang="en-US" dirty="0">
                <a:solidFill>
                  <a:schemeClr val="bg2">
                    <a:lumMod val="10000"/>
                  </a:schemeClr>
                </a:solidFill>
              </a:rPr>
              <a:t>Companies have to acknowledge that without their customers they would not exist.</a:t>
            </a:r>
          </a:p>
          <a:p>
            <a:pPr marL="0" indent="0">
              <a:buNone/>
            </a:pPr>
            <a:endParaRPr lang="en-US" dirty="0">
              <a:solidFill>
                <a:schemeClr val="bg2">
                  <a:lumMod val="10000"/>
                </a:schemeClr>
              </a:solidFill>
            </a:endParaRPr>
          </a:p>
          <a:p>
            <a:endParaRPr lang="en-US" dirty="0">
              <a:solidFill>
                <a:schemeClr val="bg2">
                  <a:lumMod val="10000"/>
                </a:schemeClr>
              </a:solidFill>
            </a:endParaRPr>
          </a:p>
        </p:txBody>
      </p:sp>
    </p:spTree>
    <p:extLst>
      <p:ext uri="{BB962C8B-B14F-4D97-AF65-F5344CB8AC3E}">
        <p14:creationId xmlns:p14="http://schemas.microsoft.com/office/powerpoint/2010/main" val="1320624384"/>
      </p:ext>
    </p:extLst>
  </p:cSld>
  <p:clrMapOvr>
    <a:masterClrMapping/>
  </p:clrMapOvr>
  <p:transition spd="slow">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BENEFITS OF CUSTOMER LOYALTY</a:t>
            </a:r>
          </a:p>
        </p:txBody>
      </p:sp>
      <p:sp>
        <p:nvSpPr>
          <p:cNvPr id="3" name="Content Placeholder 2"/>
          <p:cNvSpPr>
            <a:spLocks noGrp="1"/>
          </p:cNvSpPr>
          <p:nvPr>
            <p:ph idx="1"/>
          </p:nvPr>
        </p:nvSpPr>
        <p:spPr/>
        <p:txBody>
          <a:bodyPr>
            <a:normAutofit/>
          </a:bodyPr>
          <a:lstStyle/>
          <a:p>
            <a:pPr lvl="0" algn="just"/>
            <a:r>
              <a:rPr lang="en-US" dirty="0">
                <a:solidFill>
                  <a:schemeClr val="bg2">
                    <a:lumMod val="10000"/>
                  </a:schemeClr>
                </a:solidFill>
              </a:rPr>
              <a:t>Studies have shown that: a customer who encounters a problem with a company and that problem is </a:t>
            </a:r>
            <a:r>
              <a:rPr lang="en-US" i="1" dirty="0">
                <a:solidFill>
                  <a:schemeClr val="bg2">
                    <a:lumMod val="10000"/>
                  </a:schemeClr>
                </a:solidFill>
              </a:rPr>
              <a:t>addressed promptly and effectively—</a:t>
            </a:r>
            <a:r>
              <a:rPr lang="en-US" dirty="0">
                <a:solidFill>
                  <a:schemeClr val="bg2">
                    <a:lumMod val="10000"/>
                  </a:schemeClr>
                </a:solidFill>
              </a:rPr>
              <a:t>this</a:t>
            </a:r>
            <a:r>
              <a:rPr lang="en-US" i="1" dirty="0">
                <a:solidFill>
                  <a:schemeClr val="bg2">
                    <a:lumMod val="10000"/>
                  </a:schemeClr>
                </a:solidFill>
              </a:rPr>
              <a:t> </a:t>
            </a:r>
            <a:r>
              <a:rPr lang="en-US" dirty="0">
                <a:solidFill>
                  <a:schemeClr val="bg2">
                    <a:lumMod val="10000"/>
                  </a:schemeClr>
                </a:solidFill>
              </a:rPr>
              <a:t>customer will be more likely to remain loyal than a customer who never had a problem.</a:t>
            </a:r>
          </a:p>
          <a:p>
            <a:pPr lvl="0" algn="just"/>
            <a:r>
              <a:rPr lang="en-US" sz="2200" dirty="0">
                <a:solidFill>
                  <a:schemeClr val="bg2">
                    <a:lumMod val="10000"/>
                  </a:schemeClr>
                </a:solidFill>
              </a:rPr>
              <a:t>Even in cases where the customer’s problem was not resolved 100 percent in their </a:t>
            </a:r>
            <a:r>
              <a:rPr lang="en-US" sz="2200" dirty="0" err="1">
                <a:solidFill>
                  <a:schemeClr val="bg2">
                    <a:lumMod val="10000"/>
                  </a:schemeClr>
                </a:solidFill>
              </a:rPr>
              <a:t>favour</a:t>
            </a:r>
            <a:r>
              <a:rPr lang="en-US" sz="2200" dirty="0">
                <a:solidFill>
                  <a:schemeClr val="bg2">
                    <a:lumMod val="10000"/>
                  </a:schemeClr>
                </a:solidFill>
              </a:rPr>
              <a:t>, the loyalty still increases</a:t>
            </a:r>
          </a:p>
          <a:p>
            <a:pPr lvl="0" algn="just"/>
            <a:r>
              <a:rPr lang="en-US" dirty="0">
                <a:solidFill>
                  <a:schemeClr val="bg2">
                    <a:lumMod val="10000"/>
                  </a:schemeClr>
                </a:solidFill>
              </a:rPr>
              <a:t>J</a:t>
            </a:r>
            <a:r>
              <a:rPr lang="en-US" sz="2200" dirty="0">
                <a:solidFill>
                  <a:schemeClr val="bg2">
                    <a:lumMod val="10000"/>
                  </a:schemeClr>
                </a:solidFill>
              </a:rPr>
              <a:t>ust the fact that the problem was acknowledged and addressed seems to be the key variable in strengthening the customer relationship</a:t>
            </a:r>
          </a:p>
          <a:p>
            <a:pPr algn="just">
              <a:buNone/>
            </a:pPr>
            <a:endParaRPr lang="en-US" dirty="0">
              <a:solidFill>
                <a:schemeClr val="bg2">
                  <a:lumMod val="10000"/>
                </a:schemeClr>
              </a:solidFill>
            </a:endParaRPr>
          </a:p>
          <a:p>
            <a:pPr algn="just"/>
            <a:endParaRPr lang="en-US" dirty="0">
              <a:solidFill>
                <a:schemeClr val="bg2">
                  <a:lumMod val="10000"/>
                </a:schemeClr>
              </a:solidFill>
            </a:endParaRPr>
          </a:p>
        </p:txBody>
      </p:sp>
    </p:spTree>
    <p:extLst>
      <p:ext uri="{BB962C8B-B14F-4D97-AF65-F5344CB8AC3E}">
        <p14:creationId xmlns:p14="http://schemas.microsoft.com/office/powerpoint/2010/main" val="11572883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five dimensions of service</a:t>
            </a:r>
            <a:endParaRPr lang="en-JM" dirty="0"/>
          </a:p>
        </p:txBody>
      </p:sp>
      <p:sp>
        <p:nvSpPr>
          <p:cNvPr id="3" name="Content Placeholder 2"/>
          <p:cNvSpPr>
            <a:spLocks noGrp="1"/>
          </p:cNvSpPr>
          <p:nvPr>
            <p:ph idx="1"/>
          </p:nvPr>
        </p:nvSpPr>
        <p:spPr>
          <a:xfrm>
            <a:off x="685800" y="2057401"/>
            <a:ext cx="10820400" cy="5040085"/>
          </a:xfrm>
        </p:spPr>
        <p:txBody>
          <a:bodyPr vert="horz" lIns="91440" tIns="45720" rIns="91440" bIns="45720" rtlCol="0" anchor="t">
            <a:noAutofit/>
          </a:bodyPr>
          <a:lstStyle/>
          <a:p>
            <a:pPr marL="0" indent="0" algn="just" fontAlgn="base">
              <a:buNone/>
            </a:pPr>
            <a:r>
              <a:rPr lang="en-US" dirty="0"/>
              <a:t>Under the SERVQUAL model, the five dimensions of service are:</a:t>
            </a:r>
          </a:p>
          <a:p>
            <a:pPr algn="just" fontAlgn="base">
              <a:spcBef>
                <a:spcPts val="500"/>
              </a:spcBef>
            </a:pPr>
            <a:r>
              <a:rPr lang="en-US" b="1" dirty="0"/>
              <a:t>Reliability:</a:t>
            </a:r>
            <a:r>
              <a:rPr lang="en-US" dirty="0"/>
              <a:t> where the quality and level of service is consistent</a:t>
            </a:r>
          </a:p>
          <a:p>
            <a:pPr algn="just" fontAlgn="base">
              <a:spcBef>
                <a:spcPts val="500"/>
              </a:spcBef>
            </a:pPr>
            <a:r>
              <a:rPr lang="en-US" b="1" dirty="0"/>
              <a:t>Assurance: </a:t>
            </a:r>
            <a:r>
              <a:rPr lang="en-US" dirty="0"/>
              <a:t>knowledge and courtesy of staff and their ability to convey trust and confidence</a:t>
            </a:r>
          </a:p>
          <a:p>
            <a:pPr algn="just" fontAlgn="base">
              <a:spcBef>
                <a:spcPts val="500"/>
              </a:spcBef>
            </a:pPr>
            <a:r>
              <a:rPr lang="en-US" b="1" dirty="0"/>
              <a:t>Tangibles: </a:t>
            </a:r>
            <a:r>
              <a:rPr lang="en-US" dirty="0"/>
              <a:t>the organization’s physical facilities, equipment, and appearance of staff</a:t>
            </a:r>
          </a:p>
          <a:p>
            <a:pPr algn="just" fontAlgn="base">
              <a:spcBef>
                <a:spcPts val="500"/>
              </a:spcBef>
            </a:pPr>
            <a:r>
              <a:rPr lang="en-US" b="1" dirty="0"/>
              <a:t>Empathy: </a:t>
            </a:r>
            <a:r>
              <a:rPr lang="en-US" dirty="0"/>
              <a:t>the degree of caring, individualized attention that the organization’s staff provide to its customers</a:t>
            </a:r>
          </a:p>
          <a:p>
            <a:pPr algn="just" fontAlgn="base">
              <a:spcBef>
                <a:spcPts val="500"/>
              </a:spcBef>
            </a:pPr>
            <a:r>
              <a:rPr lang="en-US" b="1" dirty="0"/>
              <a:t>Responsiveness: </a:t>
            </a:r>
            <a:r>
              <a:rPr lang="en-US" dirty="0"/>
              <a:t>the willingness of staff to help customers and provide prompt service</a:t>
            </a:r>
          </a:p>
          <a:p>
            <a:pPr algn="just" fontAlgn="base">
              <a:spcBef>
                <a:spcPts val="500"/>
              </a:spcBef>
            </a:pPr>
            <a:r>
              <a:rPr lang="en-US" dirty="0"/>
              <a:t>You can remember these five dimensions by using the acronym RATER. When these dimensions are consistently met, a company is well on its way to becoming customer oriented.</a:t>
            </a:r>
          </a:p>
          <a:p>
            <a:pPr marL="0" indent="0">
              <a:buNone/>
            </a:pPr>
            <a:endParaRPr lang="en-JM" sz="2100" dirty="0"/>
          </a:p>
        </p:txBody>
      </p:sp>
    </p:spTree>
    <p:extLst>
      <p:ext uri="{BB962C8B-B14F-4D97-AF65-F5344CB8AC3E}">
        <p14:creationId xmlns:p14="http://schemas.microsoft.com/office/powerpoint/2010/main" val="18484431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CULTURE</a:t>
            </a:r>
            <a:endParaRPr lang="en-JM" dirty="0"/>
          </a:p>
        </p:txBody>
      </p:sp>
      <p:sp>
        <p:nvSpPr>
          <p:cNvPr id="3" name="Content Placeholder 2"/>
          <p:cNvSpPr>
            <a:spLocks noGrp="1"/>
          </p:cNvSpPr>
          <p:nvPr>
            <p:ph idx="1"/>
          </p:nvPr>
        </p:nvSpPr>
        <p:spPr>
          <a:xfrm>
            <a:off x="685800" y="2194560"/>
            <a:ext cx="10820400" cy="4358640"/>
          </a:xfrm>
        </p:spPr>
        <p:txBody>
          <a:bodyPr/>
          <a:lstStyle/>
          <a:p>
            <a:pPr marL="0" indent="0" algn="just">
              <a:buNone/>
            </a:pPr>
            <a:r>
              <a:rPr lang="en-US" b="1" dirty="0"/>
              <a:t>What is Service Culture?</a:t>
            </a:r>
          </a:p>
          <a:p>
            <a:pPr algn="just"/>
            <a:r>
              <a:rPr lang="en-US" dirty="0"/>
              <a:t>Service culture indicates that, for everyone in the provider organization, customer satisfaction is the top priority and that service provider activities demonstrably contribute to the business objectives of the customer.</a:t>
            </a:r>
          </a:p>
          <a:p>
            <a:pPr algn="just"/>
            <a:r>
              <a:rPr lang="en-US" dirty="0"/>
              <a:t>A customer service culture is when a company's efforts are centered around the customer. This means that the entire company, even departments that do not normally interact with customers, are focused on the customer. </a:t>
            </a:r>
          </a:p>
          <a:p>
            <a:pPr algn="just"/>
            <a:r>
              <a:rPr lang="en-US" dirty="0"/>
              <a:t>This also means that the company places value on each other in order to make sure they are delivering the best service to their customers all the time. There are many similar products and services in the market, so differentiating with customer service can set companies apart.</a:t>
            </a:r>
            <a:endParaRPr lang="en-JM" dirty="0"/>
          </a:p>
        </p:txBody>
      </p:sp>
    </p:spTree>
    <p:extLst>
      <p:ext uri="{BB962C8B-B14F-4D97-AF65-F5344CB8AC3E}">
        <p14:creationId xmlns:p14="http://schemas.microsoft.com/office/powerpoint/2010/main" val="33657037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CULTURE COMPONENTS</a:t>
            </a:r>
            <a:endParaRPr lang="en-JM" dirty="0"/>
          </a:p>
        </p:txBody>
      </p:sp>
      <p:pic>
        <p:nvPicPr>
          <p:cNvPr id="4" name="Content Placeholder 3"/>
          <p:cNvPicPr>
            <a:picLocks noGrp="1" noChangeAspect="1"/>
          </p:cNvPicPr>
          <p:nvPr>
            <p:ph idx="1"/>
          </p:nvPr>
        </p:nvPicPr>
        <p:blipFill>
          <a:blip r:embed="rId2"/>
          <a:stretch>
            <a:fillRect/>
          </a:stretch>
        </p:blipFill>
        <p:spPr>
          <a:xfrm>
            <a:off x="2133600" y="1845726"/>
            <a:ext cx="7791618" cy="4546683"/>
          </a:xfrm>
          <a:prstGeom prst="rect">
            <a:avLst/>
          </a:prstGeom>
        </p:spPr>
      </p:pic>
    </p:spTree>
    <p:extLst>
      <p:ext uri="{BB962C8B-B14F-4D97-AF65-F5344CB8AC3E}">
        <p14:creationId xmlns:p14="http://schemas.microsoft.com/office/powerpoint/2010/main" val="40459655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CULTURE COMPONENTS</a:t>
            </a:r>
            <a:endParaRPr lang="en-JM" dirty="0"/>
          </a:p>
        </p:txBody>
      </p:sp>
      <p:sp>
        <p:nvSpPr>
          <p:cNvPr id="3" name="Content Placeholder 2"/>
          <p:cNvSpPr>
            <a:spLocks noGrp="1"/>
          </p:cNvSpPr>
          <p:nvPr>
            <p:ph idx="1"/>
          </p:nvPr>
        </p:nvSpPr>
        <p:spPr>
          <a:xfrm>
            <a:off x="685800" y="2057401"/>
            <a:ext cx="10820400" cy="4648199"/>
          </a:xfrm>
        </p:spPr>
        <p:txBody>
          <a:bodyPr>
            <a:normAutofit/>
          </a:bodyPr>
          <a:lstStyle/>
          <a:p>
            <a:pPr marL="0" indent="0" algn="just">
              <a:buNone/>
            </a:pPr>
            <a:r>
              <a:rPr lang="en-US" b="1" dirty="0">
                <a:solidFill>
                  <a:schemeClr val="bg2">
                    <a:lumMod val="10000"/>
                  </a:schemeClr>
                </a:solidFill>
              </a:rPr>
              <a:t>Service mission </a:t>
            </a:r>
          </a:p>
          <a:p>
            <a:pPr algn="just"/>
            <a:r>
              <a:rPr lang="en-US" dirty="0">
                <a:solidFill>
                  <a:schemeClr val="bg2">
                    <a:lumMod val="10000"/>
                  </a:schemeClr>
                </a:solidFill>
              </a:rPr>
              <a:t>The direction or vision of an organization that supports day-to-day interaction with the customer </a:t>
            </a:r>
          </a:p>
          <a:p>
            <a:pPr marL="0" indent="0" algn="just">
              <a:buNone/>
            </a:pPr>
            <a:r>
              <a:rPr lang="en-US" b="1" dirty="0">
                <a:solidFill>
                  <a:schemeClr val="bg2">
                    <a:lumMod val="10000"/>
                  </a:schemeClr>
                </a:solidFill>
              </a:rPr>
              <a:t>Products and services </a:t>
            </a:r>
          </a:p>
          <a:p>
            <a:pPr algn="just"/>
            <a:r>
              <a:rPr lang="en-US" dirty="0">
                <a:solidFill>
                  <a:schemeClr val="bg2">
                    <a:lumMod val="10000"/>
                  </a:schemeClr>
                </a:solidFill>
              </a:rPr>
              <a:t>The material, products, and services that are state of the art, competitively priced, and meet the needs of customers</a:t>
            </a:r>
          </a:p>
          <a:p>
            <a:pPr marL="0" indent="0" algn="just">
              <a:buNone/>
            </a:pPr>
            <a:r>
              <a:rPr lang="en-US" b="1" dirty="0">
                <a:solidFill>
                  <a:schemeClr val="bg2">
                    <a:lumMod val="10000"/>
                  </a:schemeClr>
                </a:solidFill>
              </a:rPr>
              <a:t>Delivery System </a:t>
            </a:r>
          </a:p>
          <a:p>
            <a:pPr algn="just"/>
            <a:r>
              <a:rPr lang="en-US" dirty="0">
                <a:solidFill>
                  <a:schemeClr val="bg2">
                    <a:lumMod val="10000"/>
                  </a:schemeClr>
                </a:solidFill>
              </a:rPr>
              <a:t>The way an organization deliver its products and services </a:t>
            </a:r>
          </a:p>
        </p:txBody>
      </p:sp>
    </p:spTree>
    <p:extLst>
      <p:ext uri="{BB962C8B-B14F-4D97-AF65-F5344CB8AC3E}">
        <p14:creationId xmlns:p14="http://schemas.microsoft.com/office/powerpoint/2010/main" val="3618005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CULTURE COMPONENTS</a:t>
            </a:r>
            <a:endParaRPr lang="en-JM" dirty="0"/>
          </a:p>
        </p:txBody>
      </p:sp>
      <p:sp>
        <p:nvSpPr>
          <p:cNvPr id="3" name="Content Placeholder 2"/>
          <p:cNvSpPr>
            <a:spLocks noGrp="1"/>
          </p:cNvSpPr>
          <p:nvPr>
            <p:ph idx="1"/>
          </p:nvPr>
        </p:nvSpPr>
        <p:spPr>
          <a:xfrm>
            <a:off x="685800" y="2057401"/>
            <a:ext cx="10820400" cy="4648199"/>
          </a:xfrm>
        </p:spPr>
        <p:txBody>
          <a:bodyPr>
            <a:normAutofit/>
          </a:bodyPr>
          <a:lstStyle/>
          <a:p>
            <a:pPr marL="0" indent="0" algn="just">
              <a:buNone/>
            </a:pPr>
            <a:r>
              <a:rPr lang="en-US" b="1" dirty="0">
                <a:solidFill>
                  <a:schemeClr val="bg2">
                    <a:lumMod val="10000"/>
                  </a:schemeClr>
                </a:solidFill>
              </a:rPr>
              <a:t>Training </a:t>
            </a:r>
          </a:p>
          <a:p>
            <a:pPr algn="just"/>
            <a:r>
              <a:rPr lang="en-US" dirty="0">
                <a:solidFill>
                  <a:schemeClr val="bg2">
                    <a:lumMod val="10000"/>
                  </a:schemeClr>
                </a:solidFill>
              </a:rPr>
              <a:t>Instruction or information provided through a variety of techniques that teach knowledge or skills, or attempt to influence employee attitude toward excellent service delivery</a:t>
            </a:r>
          </a:p>
          <a:p>
            <a:pPr marL="0" indent="0" algn="just">
              <a:buNone/>
            </a:pPr>
            <a:r>
              <a:rPr lang="en-US" b="1" dirty="0">
                <a:solidFill>
                  <a:schemeClr val="bg2">
                    <a:lumMod val="10000"/>
                  </a:schemeClr>
                </a:solidFill>
              </a:rPr>
              <a:t>Motivators and reward </a:t>
            </a:r>
          </a:p>
          <a:p>
            <a:pPr algn="just"/>
            <a:r>
              <a:rPr lang="en-US" dirty="0">
                <a:solidFill>
                  <a:schemeClr val="bg2">
                    <a:lumMod val="10000"/>
                  </a:schemeClr>
                </a:solidFill>
              </a:rPr>
              <a:t>Monetary rewards, material items, of feedback that prompts employees to continue to deliver service and perform at a high level of effectiveness and efficiency</a:t>
            </a:r>
          </a:p>
          <a:p>
            <a:pPr marL="0" indent="0" algn="just">
              <a:buNone/>
            </a:pPr>
            <a:r>
              <a:rPr lang="en-US" b="1" dirty="0"/>
              <a:t>Employee roles and expectations </a:t>
            </a:r>
          </a:p>
          <a:p>
            <a:pPr algn="just"/>
            <a:r>
              <a:rPr lang="en-US" dirty="0"/>
              <a:t>The specific measures that indicates what is expected of employees in customer interactions and that define how employee service performance will be evaluated </a:t>
            </a:r>
          </a:p>
          <a:p>
            <a:pPr marL="0" indent="0" algn="just">
              <a:buNone/>
            </a:pPr>
            <a:endParaRPr lang="en-JM" dirty="0">
              <a:solidFill>
                <a:schemeClr val="bg2">
                  <a:lumMod val="10000"/>
                </a:schemeClr>
              </a:solidFill>
            </a:endParaRPr>
          </a:p>
        </p:txBody>
      </p:sp>
    </p:spTree>
    <p:extLst>
      <p:ext uri="{BB962C8B-B14F-4D97-AF65-F5344CB8AC3E}">
        <p14:creationId xmlns:p14="http://schemas.microsoft.com/office/powerpoint/2010/main" val="17709560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CULTURE COMPONENTS</a:t>
            </a:r>
            <a:endParaRPr lang="en-JM" dirty="0"/>
          </a:p>
        </p:txBody>
      </p:sp>
      <p:sp>
        <p:nvSpPr>
          <p:cNvPr id="3" name="Content Placeholder 2"/>
          <p:cNvSpPr>
            <a:spLocks noGrp="1"/>
          </p:cNvSpPr>
          <p:nvPr>
            <p:ph idx="1"/>
          </p:nvPr>
        </p:nvSpPr>
        <p:spPr>
          <a:xfrm>
            <a:off x="685800" y="2057401"/>
            <a:ext cx="10820400" cy="4648199"/>
          </a:xfrm>
        </p:spPr>
        <p:txBody>
          <a:bodyPr>
            <a:normAutofit/>
          </a:bodyPr>
          <a:lstStyle/>
          <a:p>
            <a:pPr marL="0" indent="0">
              <a:buNone/>
            </a:pPr>
            <a:r>
              <a:rPr lang="en-US" b="1" dirty="0"/>
              <a:t>Policies and procedures </a:t>
            </a:r>
          </a:p>
          <a:p>
            <a:r>
              <a:rPr lang="en-US" dirty="0"/>
              <a:t>The guidelines that establish how various situations of transactions will be handled </a:t>
            </a:r>
          </a:p>
          <a:p>
            <a:pPr marL="0" indent="0">
              <a:buNone/>
            </a:pPr>
            <a:r>
              <a:rPr lang="en-US" b="1" dirty="0"/>
              <a:t>Management support</a:t>
            </a:r>
          </a:p>
          <a:p>
            <a:r>
              <a:rPr lang="en-US" dirty="0"/>
              <a:t>The availability of management to answer questions and assist frontline employees in customer interaction when necessary</a:t>
            </a:r>
            <a:endParaRPr lang="en-JM" dirty="0"/>
          </a:p>
        </p:txBody>
      </p:sp>
    </p:spTree>
    <p:extLst>
      <p:ext uri="{BB962C8B-B14F-4D97-AF65-F5344CB8AC3E}">
        <p14:creationId xmlns:p14="http://schemas.microsoft.com/office/powerpoint/2010/main" val="258755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SERVICE CULTURE</a:t>
            </a:r>
            <a:endParaRPr lang="en-JM" dirty="0"/>
          </a:p>
        </p:txBody>
      </p:sp>
      <p:sp>
        <p:nvSpPr>
          <p:cNvPr id="3" name="Content Placeholder 2"/>
          <p:cNvSpPr>
            <a:spLocks noGrp="1"/>
          </p:cNvSpPr>
          <p:nvPr>
            <p:ph idx="1"/>
          </p:nvPr>
        </p:nvSpPr>
        <p:spPr>
          <a:xfrm>
            <a:off x="685800" y="1872342"/>
            <a:ext cx="11212286" cy="5410201"/>
          </a:xfrm>
        </p:spPr>
        <p:txBody>
          <a:bodyPr>
            <a:normAutofit/>
          </a:bodyPr>
          <a:lstStyle/>
          <a:p>
            <a:pPr marL="0" indent="0" algn="just" fontAlgn="base">
              <a:buNone/>
            </a:pPr>
            <a:r>
              <a:rPr lang="en-US" dirty="0"/>
              <a:t>To build a service culture, </a:t>
            </a:r>
            <a:r>
              <a:rPr lang="en-US" dirty="0" err="1"/>
              <a:t>organisations</a:t>
            </a:r>
            <a:r>
              <a:rPr lang="en-US" dirty="0"/>
              <a:t> must sustain focus on ‘The 12 Building Blocks’ of service culture support:</a:t>
            </a:r>
          </a:p>
          <a:p>
            <a:pPr algn="just" fontAlgn="base"/>
            <a:r>
              <a:rPr lang="en-US" b="1" dirty="0"/>
              <a:t>Service role modeling </a:t>
            </a:r>
            <a:r>
              <a:rPr lang="en-US" dirty="0"/>
              <a:t>– Everyone is watching. Everyone is a service role model. Your leaders, managers and frontline staff consistently provide superior service to customers and to each other. </a:t>
            </a:r>
            <a:endParaRPr lang="en-US" b="1" dirty="0"/>
          </a:p>
          <a:p>
            <a:pPr algn="just" fontAlgn="base"/>
            <a:r>
              <a:rPr lang="en-US" b="1" dirty="0"/>
              <a:t>Common service language </a:t>
            </a:r>
            <a:r>
              <a:rPr lang="en-US" dirty="0"/>
              <a:t>– Understood and frequently used by service providers at all levels and in all parts of the </a:t>
            </a:r>
            <a:r>
              <a:rPr lang="en-US" dirty="0" err="1"/>
              <a:t>organisation</a:t>
            </a:r>
            <a:r>
              <a:rPr lang="en-US" dirty="0"/>
              <a:t>, a common service language enables clear communication and supports the delivery of superior internal and external service.</a:t>
            </a:r>
          </a:p>
          <a:p>
            <a:pPr algn="just" fontAlgn="base"/>
            <a:r>
              <a:rPr lang="en-US" b="1" dirty="0"/>
              <a:t>Engaging service vision </a:t>
            </a:r>
            <a:r>
              <a:rPr lang="en-US" dirty="0"/>
              <a:t>– Widely embraced and believed, an engaging service vision </a:t>
            </a:r>
            <a:r>
              <a:rPr lang="en-US" dirty="0" err="1"/>
              <a:t>energises</a:t>
            </a:r>
            <a:r>
              <a:rPr lang="en-US" dirty="0"/>
              <a:t> everyone in the </a:t>
            </a:r>
            <a:r>
              <a:rPr lang="en-US" dirty="0" err="1"/>
              <a:t>organisation</a:t>
            </a:r>
            <a:r>
              <a:rPr lang="en-US" dirty="0"/>
              <a:t>. Each person knows how the vision applies to their work and knows what action to take to make the vision real.</a:t>
            </a:r>
          </a:p>
        </p:txBody>
      </p:sp>
    </p:spTree>
    <p:extLst>
      <p:ext uri="{BB962C8B-B14F-4D97-AF65-F5344CB8AC3E}">
        <p14:creationId xmlns:p14="http://schemas.microsoft.com/office/powerpoint/2010/main" val="38144111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SERVICE CULTURE</a:t>
            </a:r>
            <a:endParaRPr lang="en-JM" dirty="0"/>
          </a:p>
        </p:txBody>
      </p:sp>
      <p:sp>
        <p:nvSpPr>
          <p:cNvPr id="3" name="Content Placeholder 2"/>
          <p:cNvSpPr>
            <a:spLocks noGrp="1"/>
          </p:cNvSpPr>
          <p:nvPr>
            <p:ph idx="1"/>
          </p:nvPr>
        </p:nvSpPr>
        <p:spPr>
          <a:xfrm>
            <a:off x="685800" y="1872342"/>
            <a:ext cx="11212286" cy="5410201"/>
          </a:xfrm>
        </p:spPr>
        <p:txBody>
          <a:bodyPr>
            <a:normAutofit/>
          </a:bodyPr>
          <a:lstStyle/>
          <a:p>
            <a:pPr algn="just" fontAlgn="base"/>
            <a:r>
              <a:rPr lang="en-US" b="1" dirty="0"/>
              <a:t>Service recruitment </a:t>
            </a:r>
            <a:r>
              <a:rPr lang="en-US" dirty="0"/>
              <a:t>– Effective recruitment strategies and tactics attract people who support your </a:t>
            </a:r>
            <a:r>
              <a:rPr lang="en-US" dirty="0" err="1"/>
              <a:t>organisation’s</a:t>
            </a:r>
            <a:r>
              <a:rPr lang="en-US" dirty="0"/>
              <a:t> vision, and keep out those who may be technically qualified but not aligned with the service spirit and purpose of the </a:t>
            </a:r>
            <a:r>
              <a:rPr lang="en-US" dirty="0" err="1"/>
              <a:t>organisation</a:t>
            </a:r>
            <a:r>
              <a:rPr lang="en-US" dirty="0"/>
              <a:t>.</a:t>
            </a:r>
          </a:p>
          <a:p>
            <a:pPr algn="just" fontAlgn="base"/>
            <a:r>
              <a:rPr lang="en-US" b="1" dirty="0"/>
              <a:t>Service orientation </a:t>
            </a:r>
            <a:r>
              <a:rPr lang="en-US" dirty="0"/>
              <a:t>– Your service orientation for new staff members is motivating, encouraging and effective. New team members feel welcome and inspired to contribute to your service culture.</a:t>
            </a:r>
          </a:p>
          <a:p>
            <a:pPr algn="just" fontAlgn="base"/>
            <a:r>
              <a:rPr lang="en-US" b="1" dirty="0"/>
              <a:t>Service communications </a:t>
            </a:r>
            <a:r>
              <a:rPr lang="en-US" dirty="0"/>
              <a:t>– Service communications inform, educate and motivate the entire </a:t>
            </a:r>
            <a:r>
              <a:rPr lang="en-US" dirty="0" err="1"/>
              <a:t>organisation</a:t>
            </a:r>
            <a:r>
              <a:rPr lang="en-US" dirty="0"/>
              <a:t>. Creative communication channels surround everyone with relevant service information, timely customer feedback, uplifting success stories, and current challenges and objectives.</a:t>
            </a:r>
          </a:p>
          <a:p>
            <a:pPr algn="just" fontAlgn="base"/>
            <a:endParaRPr lang="en-US" dirty="0"/>
          </a:p>
        </p:txBody>
      </p:sp>
    </p:spTree>
    <p:extLst>
      <p:ext uri="{BB962C8B-B14F-4D97-AF65-F5344CB8AC3E}">
        <p14:creationId xmlns:p14="http://schemas.microsoft.com/office/powerpoint/2010/main" val="22343465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SERVICE CULTURE</a:t>
            </a:r>
            <a:endParaRPr lang="en-JM" dirty="0"/>
          </a:p>
        </p:txBody>
      </p:sp>
      <p:sp>
        <p:nvSpPr>
          <p:cNvPr id="3" name="Content Placeholder 2"/>
          <p:cNvSpPr>
            <a:spLocks noGrp="1"/>
          </p:cNvSpPr>
          <p:nvPr>
            <p:ph idx="1"/>
          </p:nvPr>
        </p:nvSpPr>
        <p:spPr>
          <a:xfrm>
            <a:off x="685800" y="2057401"/>
            <a:ext cx="10820400" cy="4648199"/>
          </a:xfrm>
        </p:spPr>
        <p:txBody>
          <a:bodyPr>
            <a:normAutofit/>
          </a:bodyPr>
          <a:lstStyle/>
          <a:p>
            <a:pPr algn="just" fontAlgn="base"/>
            <a:r>
              <a:rPr lang="en-US" b="1" dirty="0"/>
              <a:t>Service recognition and rewards </a:t>
            </a:r>
            <a:r>
              <a:rPr lang="en-US" dirty="0"/>
              <a:t>– Recognition and reward motivate your team to celebrate service improvements. Incentives, acknowledgement, prizes, and praise all focus attention and encourage greater service results.</a:t>
            </a:r>
          </a:p>
          <a:p>
            <a:pPr algn="just" fontAlgn="base"/>
            <a:r>
              <a:rPr lang="en-US" b="1" dirty="0"/>
              <a:t>Voice of the customer </a:t>
            </a:r>
            <a:r>
              <a:rPr lang="en-US" dirty="0"/>
              <a:t>– Effective customer contact and feedback systems capture current comments, compliments and complaints. This vital voice of the customer is anticipated and appreciated by every service provider in your </a:t>
            </a:r>
            <a:r>
              <a:rPr lang="en-US" dirty="0" err="1"/>
              <a:t>organisation</a:t>
            </a:r>
            <a:r>
              <a:rPr lang="en-US" dirty="0"/>
              <a:t>.</a:t>
            </a:r>
          </a:p>
          <a:p>
            <a:pPr algn="just" fontAlgn="base"/>
            <a:r>
              <a:rPr lang="en-US" b="1" dirty="0"/>
              <a:t>Service measures and metrics </a:t>
            </a:r>
            <a:r>
              <a:rPr lang="en-US" dirty="0"/>
              <a:t>– Measuring what matters focuses attention and leads to positive results in many areas: market share, profitability, reputation, customer loyalty and satisfaction, employee engagement and performance improvement. </a:t>
            </a:r>
            <a:r>
              <a:rPr lang="en-US"/>
              <a:t>This will </a:t>
            </a:r>
            <a:r>
              <a:rPr lang="en-US" dirty="0"/>
              <a:t>help you understand the measurements to use and pitfalls to avoid.</a:t>
            </a:r>
          </a:p>
          <a:p>
            <a:pPr algn="just" fontAlgn="base"/>
            <a:endParaRPr lang="en-US" dirty="0"/>
          </a:p>
          <a:p>
            <a:pPr marL="0" indent="0" algn="just" fontAlgn="base">
              <a:buNone/>
            </a:pPr>
            <a:endParaRPr lang="en-US" dirty="0"/>
          </a:p>
        </p:txBody>
      </p:sp>
    </p:spTree>
    <p:extLst>
      <p:ext uri="{BB962C8B-B14F-4D97-AF65-F5344CB8AC3E}">
        <p14:creationId xmlns:p14="http://schemas.microsoft.com/office/powerpoint/2010/main" val="13857781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SERVICE CULTURE</a:t>
            </a:r>
            <a:endParaRPr lang="en-JM" dirty="0"/>
          </a:p>
        </p:txBody>
      </p:sp>
      <p:sp>
        <p:nvSpPr>
          <p:cNvPr id="3" name="Content Placeholder 2"/>
          <p:cNvSpPr>
            <a:spLocks noGrp="1"/>
          </p:cNvSpPr>
          <p:nvPr>
            <p:ph idx="1"/>
          </p:nvPr>
        </p:nvSpPr>
        <p:spPr>
          <a:xfrm>
            <a:off x="685800" y="1883229"/>
            <a:ext cx="10820400" cy="4974771"/>
          </a:xfrm>
        </p:spPr>
        <p:txBody>
          <a:bodyPr>
            <a:normAutofit/>
          </a:bodyPr>
          <a:lstStyle/>
          <a:p>
            <a:pPr algn="just" fontAlgn="base"/>
            <a:r>
              <a:rPr lang="en-US" b="1" dirty="0"/>
              <a:t>Service improvement process </a:t>
            </a:r>
            <a:r>
              <a:rPr lang="en-US" dirty="0"/>
              <a:t>– Continuous service improvement can be everyone’s ongoing project and passion. Engage your team members with workshops, initiatives, contests and suggestion programs that educate, motivate and empower.</a:t>
            </a:r>
          </a:p>
          <a:p>
            <a:pPr algn="just" fontAlgn="base"/>
            <a:r>
              <a:rPr lang="en-US" b="1" dirty="0"/>
              <a:t>Service recovery and guarantees </a:t>
            </a:r>
            <a:r>
              <a:rPr lang="en-US" dirty="0"/>
              <a:t>– When things go wrong, bounce back! Effective service recovery and guarantees will turn upset customers into loyal advocates and team members into true believers.</a:t>
            </a:r>
          </a:p>
          <a:p>
            <a:pPr algn="just" fontAlgn="base"/>
            <a:r>
              <a:rPr lang="en-US" b="1" dirty="0"/>
              <a:t>Service benchmarking </a:t>
            </a:r>
            <a:r>
              <a:rPr lang="en-US" dirty="0"/>
              <a:t>– Discover and apply best practices of leading </a:t>
            </a:r>
            <a:r>
              <a:rPr lang="en-US" dirty="0" err="1"/>
              <a:t>organisations</a:t>
            </a:r>
            <a:r>
              <a:rPr lang="en-US" dirty="0"/>
              <a:t> inside and outside your industry. Service benchmarking reveals what others do to improve their service, and points to new ways you can upgrade yours.</a:t>
            </a:r>
          </a:p>
        </p:txBody>
      </p:sp>
    </p:spTree>
    <p:extLst>
      <p:ext uri="{BB962C8B-B14F-4D97-AF65-F5344CB8AC3E}">
        <p14:creationId xmlns:p14="http://schemas.microsoft.com/office/powerpoint/2010/main" val="40143090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QUESTION #1</a:t>
            </a:r>
            <a:endParaRPr lang="en-JM" dirty="0"/>
          </a:p>
        </p:txBody>
      </p:sp>
      <p:sp>
        <p:nvSpPr>
          <p:cNvPr id="3" name="Content Placeholder 2"/>
          <p:cNvSpPr>
            <a:spLocks noGrp="1"/>
          </p:cNvSpPr>
          <p:nvPr>
            <p:ph idx="1"/>
          </p:nvPr>
        </p:nvSpPr>
        <p:spPr>
          <a:xfrm>
            <a:off x="685800" y="2057401"/>
            <a:ext cx="10820400" cy="4024125"/>
          </a:xfrm>
        </p:spPr>
        <p:txBody>
          <a:bodyPr>
            <a:noAutofit/>
          </a:bodyPr>
          <a:lstStyle/>
          <a:p>
            <a:pPr marL="0" indent="0" algn="just">
              <a:lnSpc>
                <a:spcPct val="100000"/>
              </a:lnSpc>
              <a:spcAft>
                <a:spcPts val="1000"/>
              </a:spcAft>
              <a:buNone/>
            </a:pPr>
            <a:r>
              <a:rPr lang="en-US" sz="2400" dirty="0"/>
              <a:t>Loyal customers are capable of generating more funds for any business organization because according to researchers there is a positive relationship between satisfied, loyal customers and </a:t>
            </a:r>
            <a:r>
              <a:rPr lang="en-JM" sz="2400" dirty="0"/>
              <a:t>profitability.</a:t>
            </a:r>
          </a:p>
          <a:p>
            <a:pPr marL="0" indent="0" algn="just">
              <a:lnSpc>
                <a:spcPct val="100000"/>
              </a:lnSpc>
              <a:spcAft>
                <a:spcPts val="1000"/>
              </a:spcAft>
              <a:buNone/>
            </a:pPr>
            <a:r>
              <a:rPr lang="en-US" sz="2400" dirty="0"/>
              <a:t>a. Give a suitable definition for customer loyalty. </a:t>
            </a:r>
            <a:r>
              <a:rPr lang="en-US" sz="2400" b="1" i="1" dirty="0"/>
              <a:t>(3 mark)</a:t>
            </a:r>
          </a:p>
          <a:p>
            <a:pPr marL="0" indent="0" algn="just">
              <a:lnSpc>
                <a:spcPct val="100000"/>
              </a:lnSpc>
              <a:spcAft>
                <a:spcPts val="1000"/>
              </a:spcAft>
              <a:buNone/>
            </a:pPr>
            <a:r>
              <a:rPr lang="en-US" sz="2400" dirty="0"/>
              <a:t>b. Discuss any </a:t>
            </a:r>
            <a:r>
              <a:rPr lang="en-US" sz="2400" b="1" dirty="0"/>
              <a:t>three (3) </a:t>
            </a:r>
            <a:r>
              <a:rPr lang="en-US" sz="2400" dirty="0"/>
              <a:t>strategies that can be used to develop or maintain customer loyalty within an organization. </a:t>
            </a:r>
            <a:r>
              <a:rPr lang="en-US" sz="2400" b="1" i="1" dirty="0"/>
              <a:t>(15 marks)</a:t>
            </a:r>
          </a:p>
          <a:p>
            <a:pPr marL="0" indent="0" algn="just">
              <a:lnSpc>
                <a:spcPct val="100000"/>
              </a:lnSpc>
              <a:spcAft>
                <a:spcPts val="1000"/>
              </a:spcAft>
              <a:buNone/>
            </a:pPr>
            <a:r>
              <a:rPr lang="en-US" sz="2400" dirty="0"/>
              <a:t>c. Clearly explain </a:t>
            </a:r>
            <a:r>
              <a:rPr lang="en-US" sz="2400" b="1" dirty="0"/>
              <a:t>three (3) </a:t>
            </a:r>
            <a:r>
              <a:rPr lang="en-US" sz="2400" dirty="0"/>
              <a:t>reasons for the poor delivery of customer service in some organizations and advise management on </a:t>
            </a:r>
            <a:r>
              <a:rPr lang="en-US" sz="2400" b="1" dirty="0"/>
              <a:t>three (3) </a:t>
            </a:r>
            <a:r>
              <a:rPr lang="en-US" sz="2400" dirty="0"/>
              <a:t>ways to correct these situations. </a:t>
            </a:r>
            <a:r>
              <a:rPr lang="en-JM" sz="2400" b="1" i="1" dirty="0"/>
              <a:t>(12 marks)</a:t>
            </a:r>
          </a:p>
          <a:p>
            <a:pPr marL="0" indent="0" algn="r">
              <a:lnSpc>
                <a:spcPct val="100000"/>
              </a:lnSpc>
              <a:spcAft>
                <a:spcPts val="1000"/>
              </a:spcAft>
              <a:buNone/>
            </a:pPr>
            <a:r>
              <a:rPr lang="en-JM" sz="2400" b="1" i="1" dirty="0"/>
              <a:t>(Total 30 marks)</a:t>
            </a:r>
            <a:endParaRPr lang="en-US" sz="2400" dirty="0"/>
          </a:p>
        </p:txBody>
      </p:sp>
    </p:spTree>
    <p:extLst>
      <p:ext uri="{BB962C8B-B14F-4D97-AF65-F5344CB8AC3E}">
        <p14:creationId xmlns:p14="http://schemas.microsoft.com/office/powerpoint/2010/main" val="6720239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Practice QUESTION #2</a:t>
            </a:r>
            <a:endParaRPr lang="en-JM" dirty="0"/>
          </a:p>
        </p:txBody>
      </p:sp>
      <p:sp>
        <p:nvSpPr>
          <p:cNvPr id="3" name="Content Placeholder 2"/>
          <p:cNvSpPr>
            <a:spLocks noGrp="1"/>
          </p:cNvSpPr>
          <p:nvPr>
            <p:ph idx="1"/>
          </p:nvPr>
        </p:nvSpPr>
        <p:spPr/>
        <p:txBody>
          <a:bodyPr>
            <a:normAutofit lnSpcReduction="10000"/>
          </a:bodyPr>
          <a:lstStyle/>
          <a:p>
            <a:pPr marL="457200" lvl="0" indent="-457200">
              <a:buFont typeface="+mj-lt"/>
              <a:buAutoNum type="alphaLcPeriod"/>
            </a:pPr>
            <a:r>
              <a:rPr lang="en-JM" dirty="0"/>
              <a:t>Define ‘Customer Turnoff’.</a:t>
            </a:r>
          </a:p>
          <a:p>
            <a:pPr marL="0" indent="0" algn="r">
              <a:buNone/>
            </a:pPr>
            <a:r>
              <a:rPr lang="en-JM" dirty="0"/>
              <a:t>(3 mark)</a:t>
            </a:r>
          </a:p>
          <a:p>
            <a:pPr marL="457200" lvl="0" indent="-457200">
              <a:buFont typeface="+mj-lt"/>
              <a:buAutoNum type="alphaLcPeriod" startAt="2"/>
            </a:pPr>
            <a:r>
              <a:rPr lang="en-JM" dirty="0"/>
              <a:t>Identify the three (3) types of customer turnoffs.</a:t>
            </a:r>
          </a:p>
          <a:p>
            <a:pPr marL="0" indent="0" algn="r">
              <a:buNone/>
            </a:pPr>
            <a:r>
              <a:rPr lang="en-JM" dirty="0"/>
              <a:t>(3 marks)</a:t>
            </a:r>
          </a:p>
          <a:p>
            <a:pPr marL="457200" lvl="0" indent="-457200">
              <a:buFont typeface="+mj-lt"/>
              <a:buAutoNum type="alphaLcPeriod" startAt="3"/>
            </a:pPr>
            <a:r>
              <a:rPr lang="en-JM" dirty="0"/>
              <a:t>Give two (2) examples of the turnoffs identified in (b) above.</a:t>
            </a:r>
          </a:p>
          <a:p>
            <a:pPr marL="0" indent="0" algn="r">
              <a:buNone/>
            </a:pPr>
            <a:r>
              <a:rPr lang="en-JM" dirty="0"/>
              <a:t>(6 marks)</a:t>
            </a:r>
          </a:p>
          <a:p>
            <a:pPr marL="457200" lvl="0" indent="-457200">
              <a:buFont typeface="+mj-lt"/>
              <a:buAutoNum type="alphaLcPeriod" startAt="4"/>
            </a:pPr>
            <a:r>
              <a:rPr lang="en-JM" dirty="0"/>
              <a:t>Explain three (3) ways in which businesses can increase customer loyalty.</a:t>
            </a:r>
          </a:p>
          <a:p>
            <a:pPr marL="0" indent="0" algn="r">
              <a:buNone/>
            </a:pPr>
            <a:r>
              <a:rPr lang="en-JM" dirty="0"/>
              <a:t>(18 marks)</a:t>
            </a:r>
          </a:p>
          <a:p>
            <a:pPr marL="0" indent="0">
              <a:buNone/>
            </a:pPr>
            <a:r>
              <a:rPr lang="en-JM" dirty="0"/>
              <a:t> </a:t>
            </a:r>
          </a:p>
          <a:p>
            <a:pPr marL="0" indent="0" algn="r">
              <a:buNone/>
            </a:pPr>
            <a:r>
              <a:rPr lang="en-JM" b="1" dirty="0"/>
              <a:t>(Total 30 Marks)</a:t>
            </a:r>
            <a:endParaRPr lang="en-JM" dirty="0"/>
          </a:p>
        </p:txBody>
      </p:sp>
    </p:spTree>
    <p:extLst>
      <p:ext uri="{BB962C8B-B14F-4D97-AF65-F5344CB8AC3E}">
        <p14:creationId xmlns:p14="http://schemas.microsoft.com/office/powerpoint/2010/main" val="38495427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Reading</a:t>
            </a:r>
          </a:p>
        </p:txBody>
      </p:sp>
      <p:sp>
        <p:nvSpPr>
          <p:cNvPr id="3" name="Content Placeholder 2"/>
          <p:cNvSpPr>
            <a:spLocks noGrp="1"/>
          </p:cNvSpPr>
          <p:nvPr>
            <p:ph idx="1"/>
          </p:nvPr>
        </p:nvSpPr>
        <p:spPr/>
        <p:txBody>
          <a:bodyPr>
            <a:normAutofit/>
          </a:bodyPr>
          <a:lstStyle/>
          <a:p>
            <a:pPr marL="0" indent="0">
              <a:buNone/>
            </a:pPr>
            <a:r>
              <a:rPr lang="en-US" sz="2400" b="1" dirty="0"/>
              <a:t>Unit 3 – The Psychology of Customer Flow</a:t>
            </a:r>
          </a:p>
          <a:p>
            <a:r>
              <a:rPr lang="en-US" sz="2400" dirty="0"/>
              <a:t>Customer Flow Management</a:t>
            </a:r>
          </a:p>
          <a:p>
            <a:r>
              <a:rPr lang="en-US" sz="2400" dirty="0"/>
              <a:t>Waiting Lines</a:t>
            </a:r>
          </a:p>
          <a:p>
            <a:r>
              <a:rPr lang="en-US" sz="2400" dirty="0"/>
              <a:t>Virtual Waiting</a:t>
            </a:r>
          </a:p>
          <a:p>
            <a:r>
              <a:rPr lang="en-US" sz="2400" dirty="0"/>
              <a:t>Technology</a:t>
            </a:r>
          </a:p>
        </p:txBody>
      </p:sp>
    </p:spTree>
    <p:extLst>
      <p:ext uri="{BB962C8B-B14F-4D97-AF65-F5344CB8AC3E}">
        <p14:creationId xmlns:p14="http://schemas.microsoft.com/office/powerpoint/2010/main" val="383436063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685800" y="2194560"/>
            <a:ext cx="10820400" cy="4358640"/>
          </a:xfrm>
        </p:spPr>
        <p:txBody>
          <a:bodyPr>
            <a:normAutofit lnSpcReduction="10000"/>
          </a:bodyPr>
          <a:lstStyle/>
          <a:p>
            <a:r>
              <a:rPr lang="en-US" dirty="0"/>
              <a:t>Customer Turnoffs from </a:t>
            </a:r>
            <a:r>
              <a:rPr lang="en-US" dirty="0">
                <a:hlinkClick r:id="rId2"/>
              </a:rPr>
              <a:t>http://slidegur.com/doc/312901/customer-turnoffs#sample1</a:t>
            </a:r>
            <a:endParaRPr lang="en-US" dirty="0"/>
          </a:p>
          <a:p>
            <a:r>
              <a:rPr lang="en-US" dirty="0"/>
              <a:t>Moments of Truth from </a:t>
            </a:r>
            <a:r>
              <a:rPr lang="en-US" dirty="0">
                <a:hlinkClick r:id="rId3"/>
              </a:rPr>
              <a:t>http://www.managementstudyguide.com/moment-of-truth-services-marketing.htm#</a:t>
            </a:r>
            <a:endParaRPr lang="en-US" dirty="0"/>
          </a:p>
          <a:p>
            <a:r>
              <a:rPr lang="en-US" dirty="0"/>
              <a:t>Customer Zones from </a:t>
            </a:r>
            <a:r>
              <a:rPr lang="en-US" dirty="0">
                <a:hlinkClick r:id="rId4"/>
              </a:rPr>
              <a:t>http://www.managerwise.com/article.phtml?id=349</a:t>
            </a:r>
            <a:endParaRPr lang="en-US" dirty="0"/>
          </a:p>
          <a:p>
            <a:r>
              <a:rPr lang="en-US" dirty="0"/>
              <a:t>Customer loyalty definition from </a:t>
            </a:r>
            <a:r>
              <a:rPr lang="en-US" dirty="0">
                <a:hlinkClick r:id="rId5"/>
              </a:rPr>
              <a:t>http://www.businessdictionary.com/definition/customer-loyalty.html</a:t>
            </a:r>
            <a:r>
              <a:rPr lang="en-US" dirty="0"/>
              <a:t> and </a:t>
            </a:r>
            <a:r>
              <a:rPr lang="en-US" dirty="0">
                <a:hlinkClick r:id="rId6"/>
              </a:rPr>
              <a:t>http://blog.accessdevelopment.com/what-is-the-definition-of-customer-loyalty</a:t>
            </a:r>
            <a:endParaRPr lang="en-US" dirty="0"/>
          </a:p>
          <a:p>
            <a:r>
              <a:rPr lang="en-US" dirty="0"/>
              <a:t>Service culture definition from </a:t>
            </a:r>
            <a:r>
              <a:rPr lang="en-US" dirty="0">
                <a:hlinkClick r:id="rId7"/>
              </a:rPr>
              <a:t>http://www.knowledgetransfer.net/dictionary/ITIL/en/Service_Culture.htm</a:t>
            </a:r>
            <a:endParaRPr lang="en-US" dirty="0"/>
          </a:p>
          <a:p>
            <a:r>
              <a:rPr lang="en-US" dirty="0"/>
              <a:t>Building a service culture from </a:t>
            </a:r>
            <a:r>
              <a:rPr lang="en-US" dirty="0">
                <a:hlinkClick r:id="rId8"/>
              </a:rPr>
              <a:t>http://ronkaufman.com/media_post/how-to-build-a-better-customer-service-culture-in-your-business/</a:t>
            </a:r>
            <a:endParaRPr lang="en-US" dirty="0"/>
          </a:p>
          <a:p>
            <a:endParaRPr lang="en-US" dirty="0"/>
          </a:p>
          <a:p>
            <a:endParaRPr lang="en-US" dirty="0"/>
          </a:p>
          <a:p>
            <a:endParaRPr lang="en-US" dirty="0"/>
          </a:p>
          <a:p>
            <a:endParaRPr lang="en-JM" dirty="0"/>
          </a:p>
          <a:p>
            <a:endParaRPr lang="en-US" dirty="0"/>
          </a:p>
          <a:p>
            <a:endParaRPr lang="en-US" dirty="0"/>
          </a:p>
          <a:p>
            <a:endParaRPr lang="en-US" dirty="0"/>
          </a:p>
          <a:p>
            <a:endParaRPr lang="en-US" sz="2000" dirty="0"/>
          </a:p>
        </p:txBody>
      </p:sp>
    </p:spTree>
    <p:extLst>
      <p:ext uri="{BB962C8B-B14F-4D97-AF65-F5344CB8AC3E}">
        <p14:creationId xmlns:p14="http://schemas.microsoft.com/office/powerpoint/2010/main" val="583205254"/>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1CB06E496EC6F409B817EB2DFAF0878" ma:contentTypeVersion="4" ma:contentTypeDescription="Create a new document." ma:contentTypeScope="" ma:versionID="c3097ffc42010a56911ea95ff16ae928">
  <xsd:schema xmlns:xsd="http://www.w3.org/2001/XMLSchema" xmlns:xs="http://www.w3.org/2001/XMLSchema" xmlns:p="http://schemas.microsoft.com/office/2006/metadata/properties" xmlns:ns2="0fbedaf7-2e64-4840-ba08-169e9e2dea45" targetNamespace="http://schemas.microsoft.com/office/2006/metadata/properties" ma:root="true" ma:fieldsID="5607dce1aa48f45a8edf6f6f8b52f5cd" ns2:_="">
    <xsd:import namespace="0fbedaf7-2e64-4840-ba08-169e9e2dea4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bedaf7-2e64-4840-ba08-169e9e2dea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E5AF04-3E64-4EA6-8C0B-8C83187E536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84A06D16-33EB-4760-AAA7-AFF76843D77A}">
  <ds:schemaRefs>
    <ds:schemaRef ds:uri="http://schemas.microsoft.com/sharepoint/v3/contenttype/forms"/>
  </ds:schemaRefs>
</ds:datastoreItem>
</file>

<file path=customXml/itemProps3.xml><?xml version="1.0" encoding="utf-8"?>
<ds:datastoreItem xmlns:ds="http://schemas.openxmlformats.org/officeDocument/2006/customXml" ds:itemID="{F8C2FE91-353A-4385-9E0F-B13662ED73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bedaf7-2e64-4840-ba08-169e9e2dea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Vapor Trail</Template>
  <TotalTime>3291</TotalTime>
  <Words>4963</Words>
  <Application>Microsoft Office PowerPoint</Application>
  <PresentationFormat>Widescreen</PresentationFormat>
  <Paragraphs>355</Paragraphs>
  <Slides>55</Slides>
  <Notes>0</Notes>
  <HiddenSlides>0</HiddenSlides>
  <MMClips>0</MMClips>
  <ScaleCrop>false</ScaleCrop>
  <HeadingPairs>
    <vt:vector size="4" baseType="variant">
      <vt:variant>
        <vt:lpstr>Theme</vt:lpstr>
      </vt:variant>
      <vt:variant>
        <vt:i4>1</vt:i4>
      </vt:variant>
      <vt:variant>
        <vt:lpstr>Slide Titles</vt:lpstr>
      </vt:variant>
      <vt:variant>
        <vt:i4>55</vt:i4>
      </vt:variant>
    </vt:vector>
  </HeadingPairs>
  <TitlesOfParts>
    <vt:vector size="56" baseType="lpstr">
      <vt:lpstr>Vapor Trail</vt:lpstr>
      <vt:lpstr>CUSTOMER SERVICE: Unit 2</vt:lpstr>
      <vt:lpstr>UNIT OBJECTIVES</vt:lpstr>
      <vt:lpstr>FIRST LAW OF SERVICE</vt:lpstr>
      <vt:lpstr>FIRST LAW OF SERVICE</vt:lpstr>
      <vt:lpstr>FIRST LAW OF SERVICE</vt:lpstr>
      <vt:lpstr>FIRST LAW OF SERVICE</vt:lpstr>
      <vt:lpstr>FIRST LAW OF SERVICE</vt:lpstr>
      <vt:lpstr>FIRST LAW OF SERVICE</vt:lpstr>
      <vt:lpstr>SECOND LAW OF SERVICE</vt:lpstr>
      <vt:lpstr>THIRD LAW OF SERVICE</vt:lpstr>
      <vt:lpstr>THIRD LAW OF SERVICE</vt:lpstr>
      <vt:lpstr>MOMENTS OF TRUTH</vt:lpstr>
      <vt:lpstr>MOMENTS OF TRUTH</vt:lpstr>
      <vt:lpstr>MOMEMTS OF MAGIC</vt:lpstr>
      <vt:lpstr>Moments of misery</vt:lpstr>
      <vt:lpstr>Service touchpoints</vt:lpstr>
      <vt:lpstr>Customer Turnoffs</vt:lpstr>
      <vt:lpstr>Getting to know your customer</vt:lpstr>
      <vt:lpstr>Categorizing Customer Turnoffs</vt:lpstr>
      <vt:lpstr>Value Turnoffs</vt:lpstr>
      <vt:lpstr>Where do value decisions originate from?</vt:lpstr>
      <vt:lpstr>System Turnoffs</vt:lpstr>
      <vt:lpstr>System Turnoffs</vt:lpstr>
      <vt:lpstr>Where do system decisions originate from?</vt:lpstr>
      <vt:lpstr>system turnoffs</vt:lpstr>
      <vt:lpstr>System Turnoffs in a HOTEL RECEPTION</vt:lpstr>
      <vt:lpstr>People Turnoffs</vt:lpstr>
      <vt:lpstr>Examples of People Turnoffs</vt:lpstr>
      <vt:lpstr>SUMMARY OF TURNOFFS</vt:lpstr>
      <vt:lpstr>The customer zones</vt:lpstr>
      <vt:lpstr>The customer zones</vt:lpstr>
      <vt:lpstr>The customer zones</vt:lpstr>
      <vt:lpstr>The customer zones</vt:lpstr>
      <vt:lpstr>The zone of indifference</vt:lpstr>
      <vt:lpstr>Value Service Recovery</vt:lpstr>
      <vt:lpstr>REASONS WHY CUSTOMERS COMPLAIN</vt:lpstr>
      <vt:lpstr>RECOVERY STRATEGIES</vt:lpstr>
      <vt:lpstr>CUSTOMER LOYALTY</vt:lpstr>
      <vt:lpstr>Creating Loyal Customers</vt:lpstr>
      <vt:lpstr>How to Create Loyal Customers</vt:lpstr>
      <vt:lpstr>BENEFITS OF CUSTOMER LOYALTY</vt:lpstr>
      <vt:lpstr>the five dimensions of service</vt:lpstr>
      <vt:lpstr>SERVICE CULTURE</vt:lpstr>
      <vt:lpstr>SERVICE CULTURE COMPONENTS</vt:lpstr>
      <vt:lpstr>SERVICE CULTURE COMPONENTS</vt:lpstr>
      <vt:lpstr>SERVICE CULTURE COMPONENTS</vt:lpstr>
      <vt:lpstr>SERVICE CULTURE COMPONENTS</vt:lpstr>
      <vt:lpstr>Building a SERVICE CULTURE</vt:lpstr>
      <vt:lpstr>Building a SERVICE CULTURE</vt:lpstr>
      <vt:lpstr>Building a SERVICE CULTURE</vt:lpstr>
      <vt:lpstr>Building a SERVICE CULTURE</vt:lpstr>
      <vt:lpstr>Practice QUESTION #1</vt:lpstr>
      <vt:lpstr>Practice QUESTION #2</vt:lpstr>
      <vt:lpstr>Advanced Reading</vt:lpstr>
      <vt:lpstr>References</vt:lpstr>
    </vt:vector>
  </TitlesOfParts>
  <Company>HOME/OFFICE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SERVICE: Unit1</dc:title>
  <dc:creator>VAIO123</dc:creator>
  <cp:lastModifiedBy>Paulette Foster-Christie</cp:lastModifiedBy>
  <cp:revision>177</cp:revision>
  <cp:lastPrinted>2018-02-02T16:53:27Z</cp:lastPrinted>
  <dcterms:created xsi:type="dcterms:W3CDTF">2017-01-16T20:24:43Z</dcterms:created>
  <dcterms:modified xsi:type="dcterms:W3CDTF">2025-04-24T06:01:47Z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0x01010061CB06E496EC6F409B817EB2DFAF0878</vt:lpwstr>
  </property>
</Properties>
</file>